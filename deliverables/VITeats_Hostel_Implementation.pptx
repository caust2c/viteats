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0866d3dcb5c460a" /><Relationship Type="http://schemas.openxmlformats.org/officeDocument/2006/relationships/extended-properties" Target="/docProps/app.xml" Id="R4ce590594e0d4640" /><Relationship Type="http://schemas.openxmlformats.org/officeDocument/2006/relationships/officeDocument" Target="/ppt/presentation.xml" Id="R0b8fb1bf9e8646c4" /></Relationships>
</file>

<file path=ppt/presentation.xml><?xml version="1.0" encoding="utf-8"?>
<p:presentation xmlns:p="http://schemas.openxmlformats.org/presentationml/2006/main">
  <p:sldMasterIdLst>
    <p:sldMasterId xmlns:r="http://schemas.openxmlformats.org/officeDocument/2006/relationships" id="2147483648" r:id="Rfbc208240f384716"/>
  </p:sldMasterIdLst>
  <p:notesMasterIdLst>
    <p:notesMasterId xmlns:r="http://schemas.openxmlformats.org/officeDocument/2006/relationships" r:id="Rcc80f0d98e6041ef"/>
  </p:notesMasterIdLst>
  <p:sldIdLst>
    <p:sldId xmlns:r="http://schemas.openxmlformats.org/officeDocument/2006/relationships" id="256" r:id="R6bbfacf221ff49be"/>
    <p:sldId xmlns:r="http://schemas.openxmlformats.org/officeDocument/2006/relationships" id="257" r:id="R5163be94954b4029"/>
    <p:sldId xmlns:r="http://schemas.openxmlformats.org/officeDocument/2006/relationships" id="258" r:id="R566182c85a6d4fe8"/>
    <p:sldId xmlns:r="http://schemas.openxmlformats.org/officeDocument/2006/relationships" id="259" r:id="R55dcc5a03dda4c01"/>
    <p:sldId xmlns:r="http://schemas.openxmlformats.org/officeDocument/2006/relationships" id="260" r:id="R66fafb47e11146b8"/>
    <p:sldId xmlns:r="http://schemas.openxmlformats.org/officeDocument/2006/relationships" id="261" r:id="Rb71ae80602764ce1"/>
    <p:sldId xmlns:r="http://schemas.openxmlformats.org/officeDocument/2006/relationships" id="262" r:id="R9fcbf2c0a781430b"/>
    <p:sldId xmlns:r="http://schemas.openxmlformats.org/officeDocument/2006/relationships" id="263" r:id="Rd9bd356d179440a4"/>
    <p:sldId xmlns:r="http://schemas.openxmlformats.org/officeDocument/2006/relationships" id="264" r:id="R408fdb14b7c44836"/>
    <p:sldId xmlns:r="http://schemas.openxmlformats.org/officeDocument/2006/relationships" id="265" r:id="R1a3310ca05304e72"/>
    <p:sldId xmlns:r="http://schemas.openxmlformats.org/officeDocument/2006/relationships" id="266" r:id="R8ce4c1f7ab14476c"/>
    <p:sldId xmlns:r="http://schemas.openxmlformats.org/officeDocument/2006/relationships" id="267" r:id="Rde8c65589f8f48bd"/>
    <p:sldId xmlns:r="http://schemas.openxmlformats.org/officeDocument/2006/relationships" id="268" r:id="R8e2946131920474e"/>
    <p:sldId xmlns:r="http://schemas.openxmlformats.org/officeDocument/2006/relationships" id="269" r:id="R1541a4179ba04f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bb62eff441408d" /><Relationship Type="http://schemas.openxmlformats.org/officeDocument/2006/relationships/slideMaster" Target="/ppt/slideMasters/slideMaster1.xml" Id="Rfbc208240f384716" /><Relationship Type="http://schemas.openxmlformats.org/officeDocument/2006/relationships/notesMaster" Target="/ppt/notesMasters/notesMaster1.xml" Id="Rcc80f0d98e6041ef" /><Relationship Type="http://schemas.openxmlformats.org/officeDocument/2006/relationships/presProps" Target="/ppt/presProps.xml" Id="Rd4a3224623e94fae" /><Relationship Type="http://schemas.openxmlformats.org/officeDocument/2006/relationships/tableStyles" Target="/ppt/tableStyles.xml" Id="R68325aea8e9a4abe" /><Relationship Type="http://schemas.openxmlformats.org/officeDocument/2006/relationships/slide" Target="/ppt/slides/slide1.xml" Id="R6bbfacf221ff49be" /><Relationship Type="http://schemas.openxmlformats.org/officeDocument/2006/relationships/slide" Target="/ppt/slides/slide2.xml" Id="R5163be94954b4029" /><Relationship Type="http://schemas.openxmlformats.org/officeDocument/2006/relationships/slide" Target="/ppt/slides/slide3.xml" Id="R566182c85a6d4fe8" /><Relationship Type="http://schemas.openxmlformats.org/officeDocument/2006/relationships/slide" Target="/ppt/slides/slide4.xml" Id="R55dcc5a03dda4c01" /><Relationship Type="http://schemas.openxmlformats.org/officeDocument/2006/relationships/slide" Target="/ppt/slides/slide5.xml" Id="R66fafb47e11146b8" /><Relationship Type="http://schemas.openxmlformats.org/officeDocument/2006/relationships/slide" Target="/ppt/slides/slide6.xml" Id="Rb71ae80602764ce1" /><Relationship Type="http://schemas.openxmlformats.org/officeDocument/2006/relationships/slide" Target="/ppt/slides/slide7.xml" Id="R9fcbf2c0a781430b" /><Relationship Type="http://schemas.openxmlformats.org/officeDocument/2006/relationships/slide" Target="/ppt/slides/slide8.xml" Id="Rd9bd356d179440a4" /><Relationship Type="http://schemas.openxmlformats.org/officeDocument/2006/relationships/slide" Target="/ppt/slides/slide9.xml" Id="R408fdb14b7c44836" /><Relationship Type="http://schemas.openxmlformats.org/officeDocument/2006/relationships/slide" Target="/ppt/slides/slide10.xml" Id="R1a3310ca05304e72" /><Relationship Type="http://schemas.openxmlformats.org/officeDocument/2006/relationships/slide" Target="/ppt/slides/slide11.xml" Id="R8ce4c1f7ab14476c" /><Relationship Type="http://schemas.openxmlformats.org/officeDocument/2006/relationships/slide" Target="/ppt/slides/slide12.xml" Id="Rde8c65589f8f48bd" /><Relationship Type="http://schemas.openxmlformats.org/officeDocument/2006/relationships/slide" Target="/ppt/slides/slide13.xml" Id="R8e2946131920474e" /><Relationship Type="http://schemas.openxmlformats.org/officeDocument/2006/relationships/slide" Target="/ppt/slides/slide14.xml" Id="R1541a4179ba04f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692c57010240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89d26d4bec4ab5" /><Relationship Type="http://schemas.openxmlformats.org/officeDocument/2006/relationships/notesMaster" Target="/ppt/notesMasters/notesMaster1.xml" Id="R2252e31b1c9042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67f20bf3ad4b4e" /><Relationship Type="http://schemas.openxmlformats.org/officeDocument/2006/relationships/notesMaster" Target="/ppt/notesMasters/notesMaster1.xml" Id="Re347cdb2727446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f8d439278c4c0a" /><Relationship Type="http://schemas.openxmlformats.org/officeDocument/2006/relationships/notesMaster" Target="/ppt/notesMasters/notesMaster1.xml" Id="R492bfd2e06ff4c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f5abc7c58a4d91" /><Relationship Type="http://schemas.openxmlformats.org/officeDocument/2006/relationships/notesMaster" Target="/ppt/notesMasters/notesMaster1.xml" Id="R9be4f652465848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e0060a7d3f4237" /><Relationship Type="http://schemas.openxmlformats.org/officeDocument/2006/relationships/notesMaster" Target="/ppt/notesMasters/notesMaster1.xml" Id="Rd009c56dfebd4a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d4e674c5b94fb0" /><Relationship Type="http://schemas.openxmlformats.org/officeDocument/2006/relationships/notesMaster" Target="/ppt/notesMasters/notesMaster1.xml" Id="Rc28d4110a31149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cfcfcc2ccf4a97" /><Relationship Type="http://schemas.openxmlformats.org/officeDocument/2006/relationships/notesMaster" Target="/ppt/notesMasters/notesMaster1.xml" Id="R0517b046ea2049ca" /></Relationships>
</file>

<file path=ppt/notesSlides/_rels/notesSlide8.xml.rels>&#65279;<?xml version="1.0" encoding="utf-8"?><Relationships xmlns="http://schemas.openxmlformats.org/package/2006/relationships"><Relationship Type="http://schemas.openxmlformats.org/officeDocument/2006/relationships/slide" Target="/ppt/slides/slide8.xml" Id="R1cfd8b0ee35b47f5" /><Relationship Type="http://schemas.openxmlformats.org/officeDocument/2006/relationships/notesMaster" Target="/ppt/notesMasters/notesMaster1.xml" Id="R7ff87fb292974910"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340839a5994a99" /><Relationship Type="http://schemas.openxmlformats.org/officeDocument/2006/relationships/notesMaster" Target="/ppt/notesMasters/notesMaster1.xml" Id="R512546cc72c44b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c1fe38fd14a4eaf" /><Relationship Type="http://schemas.openxmlformats.org/officeDocument/2006/relationships/notesMaster" Target="/ppt/notesMasters/notesMaster1.xml" Id="R8cf1e615a62a48c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37cad69b38a48d2" /><Relationship Type="http://schemas.openxmlformats.org/officeDocument/2006/relationships/notesMaster" Target="/ppt/notesMasters/notesMaster1.xml" Id="Rebb15281bea349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d3fff680bdf4c06" /><Relationship Type="http://schemas.openxmlformats.org/officeDocument/2006/relationships/notesMaster" Target="/ppt/notesMasters/notesMaster1.xml" Id="R77c777dd9c01477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a6efaa4f9ad453e" /><Relationship Type="http://schemas.openxmlformats.org/officeDocument/2006/relationships/notesMaster" Target="/ppt/notesMasters/notesMaster1.xml" Id="R061073f7307045c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41def2fd247467b" /><Relationship Type="http://schemas.openxmlformats.org/officeDocument/2006/relationships/notesMaster" Target="/ppt/notesMasters/notesMaster1.xml" Id="Rfe1eabef184f42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VITeats as an Android client for the existing Proodle meal service. Ask for an institution-sponsored pilot after readiness checks. This proposal makes no claim of existing institutional approval or measured savings. Source: app/build.gradle.kts, data/remote/NetworkModule.kt.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figures are proposed pilot parameters, not current adoption. Timing begins only after technical and operational approval. Wider rollout requires a separate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capabilities exist in the source code. Live backend behaviour and production readiness require validation. Sources: ui/auth/AuthScreen.kt, ui/menu/MenuScreen.kt, ui/cart/CartScreen.kt, ui/orders/OrderDetailsScreen.kt, ui/student/StudentScreen.kt, ui/settings/SettingsScreen.kt.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with an approved test account only. Checkout creates an order, submits items and requests payment. The app expects a 1|reference payment response. QR availability differs between the immediate order details and order history, so validate all collection states. Sources: data/repository/OrderRepository.kt, ui/cart/CartScreen.kt, ui/orders/OrdersScreen.kt, ui/orders/OrderDetailsScreen.kt.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Benefits are hypotheses. No baseline data or validated reduction in queues, waste, costs or complaints was supplied. Compare equivalent meal periods with the established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repository and navigation files. No admin dashboard, staff scanner, refund or cancellation workflow is implemented in this Android project. Proodle backend and institutional operating systems retain those responsibilities. Operational recommendations here require administration and vendor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data/remote/NetworkModule.kt, ProodleApi.kt, repository files and apidocs.md. The current client calls Proodle directly over HTTPS. The API documentation records reverse-engineered observations rather than a formal supported contract. Do not assume new hosting is already necessary or capacity is adequate.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Specific findings: OrderRepository.kt uses a fixed session value 2 and first cart outlet in checkout. CartRepository.kt allows mixed items. OrdersViewModel.kt can construct a fallback item for reordering. OrdersScreen.kt suppresses QR for Success and Delivered, while OrderDetailsScreen retrieves QR directly. Stock/tax endpoints exist but checkout does not call them. Backend validation, idempotency and status semantics remain to be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scope and schedule details are recommendations. One outlet and a verified session reduce exposure to current mapping uncertainties. Use vendor test accounts for readiness checks. Pause enrolment after serious payment or fulfilment discrepancies.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sequence is conditional on the pilot outcome. Capacity and operational coverage must be checked at every expansion stage. Retain the established ordering route for people outside the pilot and during interruptions.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roles. Assign named owners before enrolment. Support should collect minimal relevant details and never request PINs, session cookies or live QR images.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verified deployment quote, hosting requirement, backend capacity or staffing estimate is available. This slide is a resource planning framework, not a cost estimate. No platform fee in the current UI proves nothing about institutional operating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metrics, not measured results. Administration should approve thresholds before enrolment. Record unresolved payment and collection discrepancies as counts. Time observations should compare equivalent meal windows. Avoid gathering unnecessary personal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for approval to prepare a pilot. Real-money enrolment starts only after readiness checks, vendor confirmation and administration approval. No request for immediate full-scale deployment. The companion usage and implementation guide contains proposed operating procedures and acceptance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854c7d7bf1495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2e6cc2c3ba0412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dc487268488412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ec85a07f893477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02aa3ed502d4bd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7095c2f2e574d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D84886-243C-44ED-8610-4BDA858366F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31BC48C-5152-4508-9E20-21B9230E6F8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08035D8-39DF-4A6E-BDD6-C51227393EB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A7A324-7547-48DE-930A-581CD974D81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3E6CA45-C8B0-4114-BAFC-12023EC680C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9BBCB9-A77D-442A-A8CA-D9825EDFBA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7D9272-9228-48A5-A015-ACEABDAE761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4E7D5CD-304F-4CEE-B920-7F9FB3F0504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85BC9A-1417-43B9-85FB-4CB07D6470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4DC68D-88CF-440F-81CF-12A77FD879A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4bbc3bf0b4457d" /><Relationship Type="http://schemas.openxmlformats.org/officeDocument/2006/relationships/slideLayout" Target="/ppt/slideLayouts/slideLayout1.xml" Id="Rb1087935448e4fb4" /><Relationship Type="http://schemas.openxmlformats.org/officeDocument/2006/relationships/slideLayout" Target="/ppt/slideLayouts/slideLayout2.xml" Id="R7914d633f4cd417c" /><Relationship Type="http://schemas.openxmlformats.org/officeDocument/2006/relationships/slideLayout" Target="/ppt/slideLayouts/slideLayout3.xml" Id="R3f19a80a74cc434d" /><Relationship Type="http://schemas.openxmlformats.org/officeDocument/2006/relationships/slideLayout" Target="/ppt/slideLayouts/slideLayout4.xml" Id="Rad3aff3d452e498f" /><Relationship Type="http://schemas.openxmlformats.org/officeDocument/2006/relationships/slideLayout" Target="/ppt/slideLayouts/slideLayout5.xml" Id="Rd0e1dd7dbb924af6" /><Relationship Type="http://schemas.openxmlformats.org/officeDocument/2006/relationships/slideLayout" Target="/ppt/slideLayouts/slideLayout6.xml" Id="R82f36d9a1bea41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087935448e4fb4"/>
    <p:sldLayoutId xmlns:r="http://schemas.openxmlformats.org/officeDocument/2006/relationships" id="2147483650" r:id="R7914d633f4cd417c"/>
    <p:sldLayoutId xmlns:r="http://schemas.openxmlformats.org/officeDocument/2006/relationships" id="2147483651" r:id="R3f19a80a74cc434d"/>
    <p:sldLayoutId xmlns:r="http://schemas.openxmlformats.org/officeDocument/2006/relationships" id="2147483652" r:id="Rad3aff3d452e498f"/>
    <p:sldLayoutId xmlns:r="http://schemas.openxmlformats.org/officeDocument/2006/relationships" id="2147483653" r:id="Rd0e1dd7dbb924af6"/>
    <p:sldLayoutId xmlns:r="http://schemas.openxmlformats.org/officeDocument/2006/relationships" id="2147483654" r:id="R82f36d9a1bea41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9db7b1bb7cf4a69" /><Relationship Type="http://schemas.openxmlformats.org/officeDocument/2006/relationships/image" Target="/ppt/media/image.png" Id="Rad2fc96da33e47e1" /><Relationship Type="http://schemas.openxmlformats.org/officeDocument/2006/relationships/notesSlide" Target="/ppt/notesSlides/notesSlide1.xml" Id="Rc7f8cbc3e18048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442a646c09b453e" /><Relationship Type="http://schemas.openxmlformats.org/officeDocument/2006/relationships/notesSlide" Target="/ppt/notesSlides/notesSlide2.xml" Id="Rbbf3a85ff72849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b861a42c2704760" /><Relationship Type="http://schemas.openxmlformats.org/officeDocument/2006/relationships/notesSlide" Target="/ppt/notesSlides/notesSlide3.xml" Id="Re1e70e52b58142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93dc54e63584c0a" /><Relationship Type="http://schemas.openxmlformats.org/officeDocument/2006/relationships/notesSlide" Target="/ppt/notesSlides/notesSlide4.xml" Id="R6361b550553343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fbb47371dee4af7" /><Relationship Type="http://schemas.openxmlformats.org/officeDocument/2006/relationships/notesSlide" Target="/ppt/notesSlides/notesSlide5.xml" Id="R2c0caa8eff874c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25e9285a903478f" /><Relationship Type="http://schemas.openxmlformats.org/officeDocument/2006/relationships/notesSlide" Target="/ppt/notesSlides/notesSlide6.xml" Id="R25208739369641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0ca116581db4986" /><Relationship Type="http://schemas.openxmlformats.org/officeDocument/2006/relationships/notesSlide" Target="/ppt/notesSlides/notesSlide7.xml" Id="Rcf9ba4d4881b42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8703973cbcd4ac9" /><Relationship Type="http://schemas.openxmlformats.org/officeDocument/2006/relationships/notesSlide" Target="/ppt/notesSlides/notesSlide8.xml" Id="R9952f48f3faa4a1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9622b8038584c8d" /><Relationship Type="http://schemas.openxmlformats.org/officeDocument/2006/relationships/notesSlide" Target="/ppt/notesSlides/notesSlide9.xml" Id="R62b106ac2f6546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8b7254cbc8b4c4a" /><Relationship Type="http://schemas.openxmlformats.org/officeDocument/2006/relationships/notesSlide" Target="/ppt/notesSlides/notesSlide10.xml" Id="R418ed1c07b48459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d6804e87060447f" /><Relationship Type="http://schemas.openxmlformats.org/officeDocument/2006/relationships/notesSlide" Target="/ppt/notesSlides/notesSlide11.xml" Id="R1296482f8ffe4ab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e272085b07c455b" /><Relationship Type="http://schemas.openxmlformats.org/officeDocument/2006/relationships/notesSlide" Target="/ppt/notesSlides/notesSlide12.xml" Id="R8f67ee7fc0d04a5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4df3ed2072b493c" /><Relationship Type="http://schemas.openxmlformats.org/officeDocument/2006/relationships/notesSlide" Target="/ppt/notesSlides/notesSlide13.xml" Id="Rd52d03732b7c4df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1a4da39e3b443a0" /><Relationship Type="http://schemas.openxmlformats.org/officeDocument/2006/relationships/notesSlide" Target="/ppt/notesSlides/notesSlide14.xml" Id="R6dfe8481aaaa46bb" /></Relationships>
</file>

<file path=ppt/slides/slide1.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4170F1-E638-41DA-A980-454E9EEE7AC6}"/>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5700" b="1">
                <a:solidFill>
                  <a:srgbClr val="FFFFFF"/>
                </a:solidFill>
                <a:latin typeface="Arial"/>
                <a:ea typeface="Arial"/>
                <a:cs typeface="Arial"/>
              </a:defRPr>
            </a:defPPr>
          </a:lstStyle>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VITeats</a:t>
            </a:r>
          </a:p>
        </p:txBody>
      </p:sp>
      <p:sp>
        <p:nvSpPr>
          <p:cNvPr id="2" name="">
            <a:extLst xmlns:a="http://schemas.openxmlformats.org/drawingml/2006/main">
              <a:ext uri="{FF2B5EF4-FFF2-40B4-BE49-F238E27FC236}">
                <a16:creationId xmlns:a16="http://schemas.microsoft.com/office/drawing/2014/main" id="{A0CB052C-7E2D-4D6E-AFA6-015B087F89C7}"/>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AAAAAA"/>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AAAAAA"/>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60BB22BB-0359-4022-835A-6C97BA6B8F24}"/>
              </a:ext>
            </a:extLst>
          </p:cNvPr>
          <p:cNvSpPr>
            <a:spLocks xmlns:a="http://schemas.openxmlformats.org/drawingml/2006/main" noGrp="1"/>
          </p:cNvSpPr>
          <p:nvPr/>
        </p:nvSpPr>
        <p:spPr>
          <a:xfrm xmlns:a="http://schemas.openxmlformats.org/drawingml/2006/main">
            <a:off x="685800" y="2095500"/>
            <a:ext cx="638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FEF08A"/>
                </a:solidFill>
                <a:latin typeface="Arial"/>
                <a:ea typeface="Arial"/>
                <a:cs typeface="Arial"/>
              </a:defRPr>
            </a:defPPr>
          </a:lstStyle>
          <a:p xmlns:a="http://schemas.openxmlformats.org/drawingml/2006/main">
            <a:pPr>
              <a:defRPr sz="3450" b="1">
                <a:solidFill>
                  <a:srgbClr val="FEF08A"/>
                </a:solidFill>
                <a:latin typeface="Arial"/>
                <a:ea typeface="Arial"/>
                <a:cs typeface="Arial"/>
              </a:defRPr>
            </a:pPr>
            <a:r>
              <a:rPr sz="3450" b="1">
                <a:solidFill>
                  <a:srgbClr val="FEF08A"/>
                </a:solidFill>
                <a:latin typeface="Arial"/>
                <a:ea typeface="Arial"/>
                <a:cs typeface="Arial"/>
              </a:rPr>
              <a:t>Hostel dining on Android</a:t>
            </a:r>
          </a:p>
        </p:txBody>
      </p:sp>
      <p:sp>
        <p:nvSpPr>
          <p:cNvPr id="4" name="">
            <a:extLst xmlns:a="http://schemas.openxmlformats.org/drawingml/2006/main">
              <a:ext uri="{FF2B5EF4-FFF2-40B4-BE49-F238E27FC236}">
                <a16:creationId xmlns:a16="http://schemas.microsoft.com/office/drawing/2014/main" id="{1416A913-0170-4C2B-BE1D-9F44774634E2}"/>
              </a:ext>
            </a:extLst>
          </p:cNvPr>
          <p:cNvSpPr>
            <a:spLocks xmlns:a="http://schemas.openxmlformats.org/drawingml/2006/main" noGrp="1"/>
          </p:cNvSpPr>
          <p:nvPr/>
        </p:nvSpPr>
        <p:spPr>
          <a:xfrm xmlns:a="http://schemas.openxmlformats.org/drawingml/2006/main">
            <a:off x="685800" y="3448050"/>
            <a:ext cx="652462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FFFFFF"/>
                </a:solidFill>
                <a:latin typeface="Arial"/>
                <a:ea typeface="Arial"/>
                <a:cs typeface="Arial"/>
              </a:defRPr>
            </a:def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Proposal for a controlled pilot and</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phased hostel-wide implementation</a:t>
            </a:r>
          </a:p>
        </p:txBody>
      </p:sp>
      <p:sp>
        <p:nvSpPr>
          <p:cNvPr id="5" name="">
            <a:extLst xmlns:a="http://schemas.openxmlformats.org/drawingml/2006/main">
              <a:ext uri="{FF2B5EF4-FFF2-40B4-BE49-F238E27FC236}">
                <a16:creationId xmlns:a16="http://schemas.microsoft.com/office/drawing/2014/main" id="{E337668C-8910-4635-B487-339DB01314D9}"/>
              </a:ext>
            </a:extLst>
          </p:cNvPr>
          <p:cNvSpPr>
            <a:spLocks xmlns:a="http://schemas.openxmlformats.org/drawingml/2006/main" noGrp="1"/>
          </p:cNvSpPr>
          <p:nvPr/>
        </p:nvSpPr>
        <p:spPr>
          <a:xfrm xmlns:a="http://schemas.openxmlformats.org/drawingml/2006/main">
            <a:off x="685800" y="5438775"/>
            <a:ext cx="638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725" b="0">
                <a:solidFill>
                  <a:srgbClr val="C9C9C9"/>
                </a:solidFill>
                <a:latin typeface="Arial"/>
                <a:ea typeface="Arial"/>
                <a:cs typeface="Arial"/>
              </a:defRPr>
            </a:defPPr>
          </a:lstStyle>
          <a:p xmlns:a="http://schemas.openxmlformats.org/drawingml/2006/main">
            <a:pPr>
              <a:defRPr sz="1725" b="0">
                <a:solidFill>
                  <a:srgbClr val="C9C9C9"/>
                </a:solidFill>
                <a:latin typeface="Arial"/>
                <a:ea typeface="Arial"/>
                <a:cs typeface="Arial"/>
              </a:defRPr>
            </a:pPr>
            <a:r>
              <a:rPr sz="1725" b="0">
                <a:solidFill>
                  <a:srgbClr val="C9C9C9"/>
                </a:solidFill>
                <a:latin typeface="Arial"/>
                <a:ea typeface="Arial"/>
                <a:cs typeface="Arial"/>
              </a:rPr>
              <a:t>Hostel Administration</a:t>
            </a:r>
          </a:p>
          <a:p xmlns:a="http://schemas.openxmlformats.org/drawingml/2006/main">
            <a:pPr>
              <a:defRPr sz="1725" b="0">
                <a:solidFill>
                  <a:srgbClr val="C9C9C9"/>
                </a:solidFill>
                <a:latin typeface="Arial"/>
                <a:ea typeface="Arial"/>
                <a:cs typeface="Arial"/>
              </a:defRPr>
            </a:pPr>
            <a:r>
              <a:rPr sz="1725" b="0">
                <a:solidFill>
                  <a:srgbClr val="C9C9C9"/>
                </a:solidFill>
                <a:latin typeface="Arial"/>
                <a:ea typeface="Arial"/>
                <a:cs typeface="Arial"/>
              </a:rPr>
              <a:t>8 October 2026</a:t>
            </a:r>
          </a:p>
        </p:txBody>
      </p:sp>
      <p:pic>
        <p:nvPicPr>
          <p:cNvPr id="6" name="">
            <a:extLst xmlns:a="http://schemas.openxmlformats.org/drawingml/2006/main">
              <a:ext uri="{FF2B5EF4-FFF2-40B4-BE49-F238E27FC236}">
                <a16:creationId xmlns:a16="http://schemas.microsoft.com/office/drawing/2014/main" id="{9178E5BE-8234-47AE-9412-586D04BA20C2}"/>
              </a:ext>
            </a:extLst>
          </p:cNvPr>
          <p:cNvPicPr>
            <a:picLocks xmlns:a="http://schemas.openxmlformats.org/drawingml/2006/main" noChangeAspect="1"/>
          </p:cNvPicPr>
          <p:nvPr/>
        </p:nvPicPr>
        <p:blipFill>
          <a:blip xmlns:r="http://schemas.openxmlformats.org/officeDocument/2006/relationships" xmlns:a="http://schemas.openxmlformats.org/drawingml/2006/main" r:embed="Rad2fc96da33e47e1"/>
          <a:stretch xmlns:a="http://schemas.openxmlformats.org/drawingml/2006/main"/>
        </p:blipFill>
        <p:spPr>
          <a:xfrm xmlns:a="http://schemas.openxmlformats.org/drawingml/2006/main">
            <a:off x="8039100" y="1476375"/>
            <a:ext cx="3333750" cy="3333750"/>
          </a:xfrm>
          <a:prstGeom xmlns:a="http://schemas.openxmlformats.org/drawingml/2006/main" prst="rect">
            <a:avLst/>
          </a:prstGeom>
        </p:spPr>
      </p:pic>
    </p:spTree>
    <p:extLst>
      <p:ext uri="{BB962C8B-B14F-4D97-AF65-F5344CB8AC3E}">
        <p14:creationId xmlns:p14="http://schemas.microsoft.com/office/powerpoint/2010/main" val="648086031"/>
      </p:ext>
    </p:extLst>
  </p:cSld>
</p:sld>
</file>

<file path=ppt/slides/slide2.xml><?xml version="1.0" encoding="utf-8"?>
<p:sld xmlns:p="http://schemas.openxmlformats.org/presentationml/2006/main">
  <p:cSld>
    <p:bg>
      <p:bgPr>
        <a:solidFill xmlns:a="http://schemas.openxmlformats.org/drawingml/2006/main">
          <a:srgbClr val="F8F6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A8E540F-098F-4E33-804C-AC2BC2CE1F3F}"/>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The proposal</a:t>
            </a:r>
          </a:p>
        </p:txBody>
      </p:sp>
      <p:sp>
        <p:nvSpPr>
          <p:cNvPr id="2" name="">
            <a:extLst xmlns:a="http://schemas.openxmlformats.org/drawingml/2006/main">
              <a:ext uri="{FF2B5EF4-FFF2-40B4-BE49-F238E27FC236}">
                <a16:creationId xmlns:a16="http://schemas.microsoft.com/office/drawing/2014/main" id="{B204CF2B-7D00-477F-9E58-76788F0ACB31}"/>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FCFF032F-542D-4A9E-B932-0DDA40F4D6D9}"/>
              </a:ext>
            </a:extLst>
          </p:cNvPr>
          <p:cNvSpPr>
            <a:spLocks xmlns:a="http://schemas.openxmlformats.org/drawingml/2006/main" noGrp="1"/>
          </p:cNvSpPr>
          <p:nvPr/>
        </p:nvSpPr>
        <p:spPr>
          <a:xfrm xmlns:a="http://schemas.openxmlformats.org/drawingml/2006/main">
            <a:off x="685800" y="1847850"/>
            <a:ext cx="9525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6740B3"/>
                </a:solidFill>
                <a:latin typeface="Arial"/>
                <a:ea typeface="Arial"/>
                <a:cs typeface="Arial"/>
              </a:defRPr>
            </a:defPPr>
          </a:lstStyle>
          <a:p xmlns:a="http://schemas.openxmlformats.org/drawingml/2006/main">
            <a:pPr>
              <a:defRPr sz="3450" b="1">
                <a:solidFill>
                  <a:srgbClr val="6740B3"/>
                </a:solidFill>
                <a:latin typeface="Arial"/>
                <a:ea typeface="Arial"/>
                <a:cs typeface="Arial"/>
              </a:defRPr>
            </a:pPr>
            <a:r>
              <a:rPr sz="3450" b="1">
                <a:solidFill>
                  <a:srgbClr val="6740B3"/>
                </a:solidFill>
                <a:latin typeface="Arial"/>
                <a:ea typeface="Arial"/>
                <a:cs typeface="Arial"/>
              </a:rPr>
              <a:t>A supervised pilot in one hostel</a:t>
            </a:r>
          </a:p>
        </p:txBody>
      </p:sp>
      <p:sp>
        <p:nvSpPr>
          <p:cNvPr id="4" name="">
            <a:extLst xmlns:a="http://schemas.openxmlformats.org/drawingml/2006/main">
              <a:ext uri="{FF2B5EF4-FFF2-40B4-BE49-F238E27FC236}">
                <a16:creationId xmlns:a16="http://schemas.microsoft.com/office/drawing/2014/main" id="{BF04AC9E-3AAD-4929-9E22-3DE97770231B}"/>
              </a:ext>
            </a:extLst>
          </p:cNvPr>
          <p:cNvSpPr>
            <a:spLocks xmlns:a="http://schemas.openxmlformats.org/drawingml/2006/main" noGrp="1"/>
          </p:cNvSpPr>
          <p:nvPr/>
        </p:nvSpPr>
        <p:spPr>
          <a:xfrm xmlns:a="http://schemas.openxmlformats.org/drawingml/2006/main">
            <a:off x="685800" y="287655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Scope</a:t>
            </a:r>
          </a:p>
        </p:txBody>
      </p:sp>
      <p:sp>
        <p:nvSpPr>
          <p:cNvPr id="5" name="">
            <a:extLst xmlns:a="http://schemas.openxmlformats.org/drawingml/2006/main">
              <a:ext uri="{FF2B5EF4-FFF2-40B4-BE49-F238E27FC236}">
                <a16:creationId xmlns:a16="http://schemas.microsoft.com/office/drawing/2014/main" id="{2A4F9F3B-D2B9-4167-A251-F8A8F2559AE5}"/>
              </a:ext>
            </a:extLst>
          </p:cNvPr>
          <p:cNvSpPr>
            <a:spLocks xmlns:a="http://schemas.openxmlformats.org/drawingml/2006/main" noGrp="1"/>
          </p:cNvSpPr>
          <p:nvPr/>
        </p:nvSpPr>
        <p:spPr>
          <a:xfrm xmlns:a="http://schemas.openxmlformats.org/drawingml/2006/main">
            <a:off x="4076700" y="28765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About 100 Android users, one selected outlet, one verified meal session.</a:t>
            </a:r>
          </a:p>
        </p:txBody>
      </p:sp>
      <p:sp>
        <p:nvSpPr>
          <p:cNvPr id="6" name="">
            <a:extLst xmlns:a="http://schemas.openxmlformats.org/drawingml/2006/main">
              <a:ext uri="{FF2B5EF4-FFF2-40B4-BE49-F238E27FC236}">
                <a16:creationId xmlns:a16="http://schemas.microsoft.com/office/drawing/2014/main" id="{56DEBF4D-3B3A-429C-8254-302535A9C6D0}"/>
              </a:ext>
            </a:extLst>
          </p:cNvPr>
          <p:cNvSpPr>
            <a:spLocks xmlns:a="http://schemas.openxmlformats.org/drawingml/2006/main" noGrp="1"/>
          </p:cNvSpPr>
          <p:nvPr/>
        </p:nvSpPr>
        <p:spPr>
          <a:xfrm xmlns:a="http://schemas.openxmlformats.org/drawingml/2006/main">
            <a:off x="685800" y="3857625"/>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Duration</a:t>
            </a:r>
          </a:p>
        </p:txBody>
      </p:sp>
      <p:sp>
        <p:nvSpPr>
          <p:cNvPr id="7" name="">
            <a:extLst xmlns:a="http://schemas.openxmlformats.org/drawingml/2006/main">
              <a:ext uri="{FF2B5EF4-FFF2-40B4-BE49-F238E27FC236}">
                <a16:creationId xmlns:a16="http://schemas.microsoft.com/office/drawing/2014/main" id="{AF8340C2-B114-4855-AD15-842C91FF665A}"/>
              </a:ext>
            </a:extLst>
          </p:cNvPr>
          <p:cNvSpPr>
            <a:spLocks xmlns:a="http://schemas.openxmlformats.org/drawingml/2006/main" noGrp="1"/>
          </p:cNvSpPr>
          <p:nvPr/>
        </p:nvSpPr>
        <p:spPr>
          <a:xfrm xmlns:a="http://schemas.openxmlformats.org/drawingml/2006/main">
            <a:off x="4076700" y="3857625"/>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Four weeks after the readiness checks pass.</a:t>
            </a:r>
          </a:p>
        </p:txBody>
      </p:sp>
      <p:sp>
        <p:nvSpPr>
          <p:cNvPr id="8" name="">
            <a:extLst xmlns:a="http://schemas.openxmlformats.org/drawingml/2006/main">
              <a:ext uri="{FF2B5EF4-FFF2-40B4-BE49-F238E27FC236}">
                <a16:creationId xmlns:a16="http://schemas.microsoft.com/office/drawing/2014/main" id="{B6778747-C96B-4E65-A71B-D6580B34FC0B}"/>
              </a:ext>
            </a:extLst>
          </p:cNvPr>
          <p:cNvSpPr>
            <a:spLocks xmlns:a="http://schemas.openxmlformats.org/drawingml/2006/main" noGrp="1"/>
          </p:cNvSpPr>
          <p:nvPr/>
        </p:nvSpPr>
        <p:spPr>
          <a:xfrm xmlns:a="http://schemas.openxmlformats.org/drawingml/2006/main">
            <a:off x="685800" y="483870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Decision</a:t>
            </a:r>
          </a:p>
        </p:txBody>
      </p:sp>
      <p:sp>
        <p:nvSpPr>
          <p:cNvPr id="9" name="">
            <a:extLst xmlns:a="http://schemas.openxmlformats.org/drawingml/2006/main">
              <a:ext uri="{FF2B5EF4-FFF2-40B4-BE49-F238E27FC236}">
                <a16:creationId xmlns:a16="http://schemas.microsoft.com/office/drawing/2014/main" id="{BB13B62E-F0C4-4A34-AA19-62AFCA4E48C1}"/>
              </a:ext>
            </a:extLst>
          </p:cNvPr>
          <p:cNvSpPr>
            <a:spLocks xmlns:a="http://schemas.openxmlformats.org/drawingml/2006/main" noGrp="1"/>
          </p:cNvSpPr>
          <p:nvPr/>
        </p:nvSpPr>
        <p:spPr>
          <a:xfrm xmlns:a="http://schemas.openxmlformats.org/drawingml/2006/main">
            <a:off x="4076700" y="483870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Review payment accuracy, collection reliability, support demand and student feedback.</a:t>
            </a:r>
          </a:p>
        </p:txBody>
      </p:sp>
    </p:spTree>
    <p:extLst>
      <p:ext uri="{BB962C8B-B14F-4D97-AF65-F5344CB8AC3E}">
        <p14:creationId xmlns:p14="http://schemas.microsoft.com/office/powerpoint/2010/main" val="76435532"/>
      </p:ext>
    </p:extLst>
  </p:cSld>
</p:sld>
</file>

<file path=ppt/slides/slide3.xml><?xml version="1.0" encoding="utf-8"?>
<p:sld xmlns:p="http://schemas.openxmlformats.org/presentationml/2006/main">
  <p:cSld>
    <p:bg>
      <p:bgPr>
        <a:solidFill xmlns:a="http://schemas.openxmlformats.org/drawingml/2006/main">
          <a:srgbClr val="F8F6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EAC751B-C536-4A3B-9509-6C2186A28018}"/>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What students can do today</a:t>
            </a:r>
          </a:p>
        </p:txBody>
      </p:sp>
      <p:sp>
        <p:nvSpPr>
          <p:cNvPr id="2" name="">
            <a:extLst xmlns:a="http://schemas.openxmlformats.org/drawingml/2006/main">
              <a:ext uri="{FF2B5EF4-FFF2-40B4-BE49-F238E27FC236}">
                <a16:creationId xmlns:a16="http://schemas.microsoft.com/office/drawing/2014/main" id="{DAB67C93-460C-4681-8135-7AA0D573441D}"/>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6A52D90D-102E-4F88-816B-DE1D4E12B8C8}"/>
              </a:ext>
            </a:extLst>
          </p:cNvPr>
          <p:cNvSpPr>
            <a:spLocks xmlns:a="http://schemas.openxmlformats.org/drawingml/2006/main" noGrp="1"/>
          </p:cNvSpPr>
          <p:nvPr/>
        </p:nvSpPr>
        <p:spPr>
          <a:xfrm xmlns:a="http://schemas.openxmlformats.org/drawingml/2006/main">
            <a:off x="685800" y="192405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Access</a:t>
            </a:r>
          </a:p>
        </p:txBody>
      </p:sp>
      <p:sp>
        <p:nvSpPr>
          <p:cNvPr id="4" name="">
            <a:extLst xmlns:a="http://schemas.openxmlformats.org/drawingml/2006/main">
              <a:ext uri="{FF2B5EF4-FFF2-40B4-BE49-F238E27FC236}">
                <a16:creationId xmlns:a16="http://schemas.microsoft.com/office/drawing/2014/main" id="{80EF4F52-6826-45C5-AA89-0ADACB226A01}"/>
              </a:ext>
            </a:extLst>
          </p:cNvPr>
          <p:cNvSpPr>
            <a:spLocks xmlns:a="http://schemas.openxmlformats.org/drawingml/2006/main" noGrp="1"/>
          </p:cNvSpPr>
          <p:nvPr/>
        </p:nvSpPr>
        <p:spPr>
          <a:xfrm xmlns:a="http://schemas.openxmlformats.org/drawingml/2006/main">
            <a:off x="4076700" y="19240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Sign in with an application number and Proodle PIN.</a:t>
            </a:r>
          </a:p>
        </p:txBody>
      </p:sp>
      <p:sp>
        <p:nvSpPr>
          <p:cNvPr id="5" name="">
            <a:extLst xmlns:a="http://schemas.openxmlformats.org/drawingml/2006/main">
              <a:ext uri="{FF2B5EF4-FFF2-40B4-BE49-F238E27FC236}">
                <a16:creationId xmlns:a16="http://schemas.microsoft.com/office/drawing/2014/main" id="{189BC406-8601-480A-8AE4-8F87D178F744}"/>
              </a:ext>
            </a:extLst>
          </p:cNvPr>
          <p:cNvSpPr>
            <a:spLocks xmlns:a="http://schemas.openxmlformats.org/drawingml/2006/main" noGrp="1"/>
          </p:cNvSpPr>
          <p:nvPr/>
        </p:nvSpPr>
        <p:spPr>
          <a:xfrm xmlns:a="http://schemas.openxmlformats.org/drawingml/2006/main">
            <a:off x="685800" y="2905125"/>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Choose meals</a:t>
            </a:r>
          </a:p>
        </p:txBody>
      </p:sp>
      <p:sp>
        <p:nvSpPr>
          <p:cNvPr id="6" name="">
            <a:extLst xmlns:a="http://schemas.openxmlformats.org/drawingml/2006/main">
              <a:ext uri="{FF2B5EF4-FFF2-40B4-BE49-F238E27FC236}">
                <a16:creationId xmlns:a16="http://schemas.microsoft.com/office/drawing/2014/main" id="{C9F72123-94B3-41EE-8A02-4BF50EF6BB02}"/>
              </a:ext>
            </a:extLst>
          </p:cNvPr>
          <p:cNvSpPr>
            <a:spLocks xmlns:a="http://schemas.openxmlformats.org/drawingml/2006/main" noGrp="1"/>
          </p:cNvSpPr>
          <p:nvPr/>
        </p:nvSpPr>
        <p:spPr>
          <a:xfrm xmlns:a="http://schemas.openxmlformats.org/drawingml/2006/main">
            <a:off x="4076700" y="2905125"/>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Search dishes and outlets, save favourites and adjust a cart.</a:t>
            </a:r>
          </a:p>
        </p:txBody>
      </p:sp>
      <p:sp>
        <p:nvSpPr>
          <p:cNvPr id="7" name="">
            <a:extLst xmlns:a="http://schemas.openxmlformats.org/drawingml/2006/main">
              <a:ext uri="{FF2B5EF4-FFF2-40B4-BE49-F238E27FC236}">
                <a16:creationId xmlns:a16="http://schemas.microsoft.com/office/drawing/2014/main" id="{63E4DE39-025C-49CD-8E05-7E514C610F7C}"/>
              </a:ext>
            </a:extLst>
          </p:cNvPr>
          <p:cNvSpPr>
            <a:spLocks xmlns:a="http://schemas.openxmlformats.org/drawingml/2006/main" noGrp="1"/>
          </p:cNvSpPr>
          <p:nvPr/>
        </p:nvSpPr>
        <p:spPr>
          <a:xfrm xmlns:a="http://schemas.openxmlformats.org/drawingml/2006/main">
            <a:off x="685800" y="388620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Order and collect</a:t>
            </a:r>
          </a:p>
        </p:txBody>
      </p:sp>
      <p:sp>
        <p:nvSpPr>
          <p:cNvPr id="8" name="">
            <a:extLst xmlns:a="http://schemas.openxmlformats.org/drawingml/2006/main">
              <a:ext uri="{FF2B5EF4-FFF2-40B4-BE49-F238E27FC236}">
                <a16:creationId xmlns:a16="http://schemas.microsoft.com/office/drawing/2014/main" id="{1CAB8B4D-FDE2-4E98-8E2A-3CE95E39E8A3}"/>
              </a:ext>
            </a:extLst>
          </p:cNvPr>
          <p:cNvSpPr>
            <a:spLocks xmlns:a="http://schemas.openxmlformats.org/drawingml/2006/main" noGrp="1"/>
          </p:cNvSpPr>
          <p:nvPr/>
        </p:nvSpPr>
        <p:spPr>
          <a:xfrm xmlns:a="http://schemas.openxmlformats.org/drawingml/2006/main">
            <a:off x="4076700" y="388620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Authorize wallet payment, open order details and retrieve QR data.</a:t>
            </a:r>
          </a:p>
        </p:txBody>
      </p:sp>
      <p:sp>
        <p:nvSpPr>
          <p:cNvPr id="9" name="">
            <a:extLst xmlns:a="http://schemas.openxmlformats.org/drawingml/2006/main">
              <a:ext uri="{FF2B5EF4-FFF2-40B4-BE49-F238E27FC236}">
                <a16:creationId xmlns:a16="http://schemas.microsoft.com/office/drawing/2014/main" id="{82FC2F4B-0B32-4CBB-A398-3829A0391153}"/>
              </a:ext>
            </a:extLst>
          </p:cNvPr>
          <p:cNvSpPr>
            <a:spLocks xmlns:a="http://schemas.openxmlformats.org/drawingml/2006/main" noGrp="1"/>
          </p:cNvSpPr>
          <p:nvPr/>
        </p:nvSpPr>
        <p:spPr>
          <a:xfrm xmlns:a="http://schemas.openxmlformats.org/drawingml/2006/main">
            <a:off x="685800" y="4867275"/>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Track spending</a:t>
            </a:r>
          </a:p>
        </p:txBody>
      </p:sp>
      <p:sp>
        <p:nvSpPr>
          <p:cNvPr id="10" name="">
            <a:extLst xmlns:a="http://schemas.openxmlformats.org/drawingml/2006/main">
              <a:ext uri="{FF2B5EF4-FFF2-40B4-BE49-F238E27FC236}">
                <a16:creationId xmlns:a16="http://schemas.microsoft.com/office/drawing/2014/main" id="{D1CB826F-DE24-4B93-A026-5ECBF420376A}"/>
              </a:ext>
            </a:extLst>
          </p:cNvPr>
          <p:cNvSpPr>
            <a:spLocks xmlns:a="http://schemas.openxmlformats.org/drawingml/2006/main" noGrp="1"/>
          </p:cNvSpPr>
          <p:nvPr/>
        </p:nvSpPr>
        <p:spPr>
          <a:xfrm xmlns:a="http://schemas.openxmlformats.org/drawingml/2006/main">
            <a:off x="4076700" y="4867275"/>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View wallet balance, monthly expenses and a personal budget.</a:t>
            </a:r>
          </a:p>
        </p:txBody>
      </p:sp>
    </p:spTree>
    <p:extLst>
      <p:ext uri="{BB962C8B-B14F-4D97-AF65-F5344CB8AC3E}">
        <p14:creationId xmlns:p14="http://schemas.microsoft.com/office/powerpoint/2010/main" val="1169747150"/>
      </p:ext>
    </p:extLst>
  </p:cSld>
</p:sld>
</file>

<file path=ppt/slides/slide4.xml><?xml version="1.0" encoding="utf-8"?>
<p:sld xmlns:p="http://schemas.openxmlformats.org/presentationml/2006/main">
  <p:cSld>
    <p:bg>
      <p:bgPr>
        <a:solidFill xmlns:a="http://schemas.openxmlformats.org/drawingml/2006/main">
          <a:srgbClr val="F8F6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F293373-0BE8-4DE4-A88C-534E278C1F4B}"/>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The student journey</a:t>
            </a:r>
          </a:p>
        </p:txBody>
      </p:sp>
      <p:sp>
        <p:nvSpPr>
          <p:cNvPr id="2" name="">
            <a:extLst xmlns:a="http://schemas.openxmlformats.org/drawingml/2006/main">
              <a:ext uri="{FF2B5EF4-FFF2-40B4-BE49-F238E27FC236}">
                <a16:creationId xmlns:a16="http://schemas.microsoft.com/office/drawing/2014/main" id="{85F9D744-6AAE-49E1-97A9-CDF55D496593}"/>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6B0C41D2-D018-4D35-A035-564DE7F3532C}"/>
              </a:ext>
            </a:extLst>
          </p:cNvPr>
          <p:cNvSpPr>
            <a:spLocks xmlns:a="http://schemas.openxmlformats.org/drawingml/2006/main" noGrp="1"/>
          </p:cNvSpPr>
          <p:nvPr/>
        </p:nvSpPr>
        <p:spPr>
          <a:xfrm xmlns:a="http://schemas.openxmlformats.org/drawingml/2006/main">
            <a:off x="685800" y="2105025"/>
            <a:ext cx="2190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5550" b="1">
                <a:solidFill>
                  <a:srgbClr val="6740B3"/>
                </a:solidFill>
                <a:latin typeface="Arial"/>
                <a:ea typeface="Arial"/>
                <a:cs typeface="Arial"/>
              </a:defRPr>
            </a:defPPr>
          </a:lstStyle>
          <a:p xmlns:a="http://schemas.openxmlformats.org/drawingml/2006/main">
            <a:pPr>
              <a:defRPr sz="5550" b="1">
                <a:solidFill>
                  <a:srgbClr val="6740B3"/>
                </a:solidFill>
                <a:latin typeface="Arial"/>
                <a:ea typeface="Arial"/>
                <a:cs typeface="Arial"/>
              </a:defRPr>
            </a:pPr>
            <a:r>
              <a:rPr sz="5550" b="1">
                <a:solidFill>
                  <a:srgbClr val="6740B3"/>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3AC5ECF4-7F55-4FC5-A593-C2898B5E2867}"/>
              </a:ext>
            </a:extLst>
          </p:cNvPr>
          <p:cNvSpPr>
            <a:spLocks xmlns:a="http://schemas.openxmlformats.org/drawingml/2006/main" noGrp="1"/>
          </p:cNvSpPr>
          <p:nvPr/>
        </p:nvSpPr>
        <p:spPr>
          <a:xfrm xmlns:a="http://schemas.openxmlformats.org/drawingml/2006/main">
            <a:off x="685800" y="3333750"/>
            <a:ext cx="224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1">
                <a:solidFill>
                  <a:srgbClr val="121212"/>
                </a:solidFill>
                <a:latin typeface="Arial"/>
                <a:ea typeface="Arial"/>
                <a:cs typeface="Arial"/>
              </a:defRPr>
            </a:defPPr>
          </a:lstStyle>
          <a:p xmlns:a="http://schemas.openxmlformats.org/drawingml/2006/main">
            <a:pPr>
              <a:defRPr sz="2400" b="1">
                <a:solidFill>
                  <a:srgbClr val="121212"/>
                </a:solidFill>
                <a:latin typeface="Arial"/>
                <a:ea typeface="Arial"/>
                <a:cs typeface="Arial"/>
              </a:defRPr>
            </a:pPr>
            <a:r>
              <a:rPr sz="2400" b="1">
                <a:solidFill>
                  <a:srgbClr val="121212"/>
                </a:solidFill>
                <a:latin typeface="Arial"/>
                <a:ea typeface="Arial"/>
                <a:cs typeface="Arial"/>
              </a:rPr>
              <a:t>Sign in</a:t>
            </a:r>
          </a:p>
        </p:txBody>
      </p:sp>
      <p:sp>
        <p:nvSpPr>
          <p:cNvPr id="5" name="">
            <a:extLst xmlns:a="http://schemas.openxmlformats.org/drawingml/2006/main">
              <a:ext uri="{FF2B5EF4-FFF2-40B4-BE49-F238E27FC236}">
                <a16:creationId xmlns:a16="http://schemas.microsoft.com/office/drawing/2014/main" id="{C1D92A0C-FFF5-403A-B371-0DABF2DE48BD}"/>
              </a:ext>
            </a:extLst>
          </p:cNvPr>
          <p:cNvSpPr>
            <a:spLocks xmlns:a="http://schemas.openxmlformats.org/drawingml/2006/main" noGrp="1"/>
          </p:cNvSpPr>
          <p:nvPr/>
        </p:nvSpPr>
        <p:spPr>
          <a:xfrm xmlns:a="http://schemas.openxmlformats.org/drawingml/2006/main">
            <a:off x="685800" y="4105275"/>
            <a:ext cx="23050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121212"/>
                </a:solidFill>
                <a:latin typeface="Arial"/>
                <a:ea typeface="Arial"/>
                <a:cs typeface="Arial"/>
              </a:defRPr>
            </a:defPPr>
          </a:lstStyle>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Application number</a:t>
            </a:r>
          </a:p>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and PIN</a:t>
            </a:r>
          </a:p>
        </p:txBody>
      </p:sp>
      <p:sp>
        <p:nvSpPr>
          <p:cNvPr id="6" name="">
            <a:extLst xmlns:a="http://schemas.openxmlformats.org/drawingml/2006/main">
              <a:ext uri="{FF2B5EF4-FFF2-40B4-BE49-F238E27FC236}">
                <a16:creationId xmlns:a16="http://schemas.microsoft.com/office/drawing/2014/main" id="{285F8B25-2B65-4173-A3EA-19D72F1C3997}"/>
              </a:ext>
            </a:extLst>
          </p:cNvPr>
          <p:cNvSpPr>
            <a:spLocks xmlns:a="http://schemas.openxmlformats.org/drawingml/2006/main" noGrp="1"/>
          </p:cNvSpPr>
          <p:nvPr/>
        </p:nvSpPr>
        <p:spPr>
          <a:xfrm xmlns:a="http://schemas.openxmlformats.org/drawingml/2006/main">
            <a:off x="3467100" y="2105025"/>
            <a:ext cx="2190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5550" b="1">
                <a:solidFill>
                  <a:srgbClr val="6740B3"/>
                </a:solidFill>
                <a:latin typeface="Arial"/>
                <a:ea typeface="Arial"/>
                <a:cs typeface="Arial"/>
              </a:defRPr>
            </a:defPPr>
          </a:lstStyle>
          <a:p xmlns:a="http://schemas.openxmlformats.org/drawingml/2006/main">
            <a:pPr>
              <a:defRPr sz="5550" b="1">
                <a:solidFill>
                  <a:srgbClr val="6740B3"/>
                </a:solidFill>
                <a:latin typeface="Arial"/>
                <a:ea typeface="Arial"/>
                <a:cs typeface="Arial"/>
              </a:defRPr>
            </a:pPr>
            <a:r>
              <a:rPr sz="5550" b="1">
                <a:solidFill>
                  <a:srgbClr val="6740B3"/>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81BD6B63-D27E-4AB0-B093-915F261307A9}"/>
              </a:ext>
            </a:extLst>
          </p:cNvPr>
          <p:cNvSpPr>
            <a:spLocks xmlns:a="http://schemas.openxmlformats.org/drawingml/2006/main" noGrp="1"/>
          </p:cNvSpPr>
          <p:nvPr/>
        </p:nvSpPr>
        <p:spPr>
          <a:xfrm xmlns:a="http://schemas.openxmlformats.org/drawingml/2006/main">
            <a:off x="3467100" y="3333750"/>
            <a:ext cx="224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1">
                <a:solidFill>
                  <a:srgbClr val="121212"/>
                </a:solidFill>
                <a:latin typeface="Arial"/>
                <a:ea typeface="Arial"/>
                <a:cs typeface="Arial"/>
              </a:defRPr>
            </a:defPPr>
          </a:lstStyle>
          <a:p xmlns:a="http://schemas.openxmlformats.org/drawingml/2006/main">
            <a:pPr>
              <a:defRPr sz="2400" b="1">
                <a:solidFill>
                  <a:srgbClr val="121212"/>
                </a:solidFill>
                <a:latin typeface="Arial"/>
                <a:ea typeface="Arial"/>
                <a:cs typeface="Arial"/>
              </a:defRPr>
            </a:pPr>
            <a:r>
              <a:rPr sz="2400" b="1">
                <a:solidFill>
                  <a:srgbClr val="121212"/>
                </a:solidFill>
                <a:latin typeface="Arial"/>
                <a:ea typeface="Arial"/>
                <a:cs typeface="Arial"/>
              </a:rPr>
              <a:t>Choose</a:t>
            </a:r>
          </a:p>
        </p:txBody>
      </p:sp>
      <p:sp>
        <p:nvSpPr>
          <p:cNvPr id="8" name="">
            <a:extLst xmlns:a="http://schemas.openxmlformats.org/drawingml/2006/main">
              <a:ext uri="{FF2B5EF4-FFF2-40B4-BE49-F238E27FC236}">
                <a16:creationId xmlns:a16="http://schemas.microsoft.com/office/drawing/2014/main" id="{E462E39D-AB92-475A-8CEA-5A6CAA5A1332}"/>
              </a:ext>
            </a:extLst>
          </p:cNvPr>
          <p:cNvSpPr>
            <a:spLocks xmlns:a="http://schemas.openxmlformats.org/drawingml/2006/main" noGrp="1"/>
          </p:cNvSpPr>
          <p:nvPr/>
        </p:nvSpPr>
        <p:spPr>
          <a:xfrm xmlns:a="http://schemas.openxmlformats.org/drawingml/2006/main">
            <a:off x="3467100" y="4105275"/>
            <a:ext cx="23050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121212"/>
                </a:solidFill>
                <a:latin typeface="Arial"/>
                <a:ea typeface="Arial"/>
                <a:cs typeface="Arial"/>
              </a:defRPr>
            </a:defPPr>
          </a:lstStyle>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Menu, outlet</a:t>
            </a:r>
          </a:p>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and quantity</a:t>
            </a:r>
          </a:p>
        </p:txBody>
      </p:sp>
      <p:sp>
        <p:nvSpPr>
          <p:cNvPr id="9" name="">
            <a:extLst xmlns:a="http://schemas.openxmlformats.org/drawingml/2006/main">
              <a:ext uri="{FF2B5EF4-FFF2-40B4-BE49-F238E27FC236}">
                <a16:creationId xmlns:a16="http://schemas.microsoft.com/office/drawing/2014/main" id="{ADD21F38-9710-4480-B5D9-CEA53672FF09}"/>
              </a:ext>
            </a:extLst>
          </p:cNvPr>
          <p:cNvSpPr>
            <a:spLocks xmlns:a="http://schemas.openxmlformats.org/drawingml/2006/main" noGrp="1"/>
          </p:cNvSpPr>
          <p:nvPr/>
        </p:nvSpPr>
        <p:spPr>
          <a:xfrm xmlns:a="http://schemas.openxmlformats.org/drawingml/2006/main">
            <a:off x="6248400" y="2105025"/>
            <a:ext cx="2190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5550" b="1">
                <a:solidFill>
                  <a:srgbClr val="6740B3"/>
                </a:solidFill>
                <a:latin typeface="Arial"/>
                <a:ea typeface="Arial"/>
                <a:cs typeface="Arial"/>
              </a:defRPr>
            </a:defPPr>
          </a:lstStyle>
          <a:p xmlns:a="http://schemas.openxmlformats.org/drawingml/2006/main">
            <a:pPr>
              <a:defRPr sz="5550" b="1">
                <a:solidFill>
                  <a:srgbClr val="6740B3"/>
                </a:solidFill>
                <a:latin typeface="Arial"/>
                <a:ea typeface="Arial"/>
                <a:cs typeface="Arial"/>
              </a:defRPr>
            </a:pPr>
            <a:r>
              <a:rPr sz="5550" b="1">
                <a:solidFill>
                  <a:srgbClr val="6740B3"/>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272F4823-2F7D-4720-A289-52DD5A8440C7}"/>
              </a:ext>
            </a:extLst>
          </p:cNvPr>
          <p:cNvSpPr>
            <a:spLocks xmlns:a="http://schemas.openxmlformats.org/drawingml/2006/main" noGrp="1"/>
          </p:cNvSpPr>
          <p:nvPr/>
        </p:nvSpPr>
        <p:spPr>
          <a:xfrm xmlns:a="http://schemas.openxmlformats.org/drawingml/2006/main">
            <a:off x="6248400" y="3333750"/>
            <a:ext cx="224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1">
                <a:solidFill>
                  <a:srgbClr val="121212"/>
                </a:solidFill>
                <a:latin typeface="Arial"/>
                <a:ea typeface="Arial"/>
                <a:cs typeface="Arial"/>
              </a:defRPr>
            </a:defPPr>
          </a:lstStyle>
          <a:p xmlns:a="http://schemas.openxmlformats.org/drawingml/2006/main">
            <a:pPr>
              <a:defRPr sz="2400" b="1">
                <a:solidFill>
                  <a:srgbClr val="121212"/>
                </a:solidFill>
                <a:latin typeface="Arial"/>
                <a:ea typeface="Arial"/>
                <a:cs typeface="Arial"/>
              </a:defRPr>
            </a:pPr>
            <a:r>
              <a:rPr sz="2400" b="1">
                <a:solidFill>
                  <a:srgbClr val="121212"/>
                </a:solidFill>
                <a:latin typeface="Arial"/>
                <a:ea typeface="Arial"/>
                <a:cs typeface="Arial"/>
              </a:rPr>
              <a:t>Authorize</a:t>
            </a:r>
          </a:p>
        </p:txBody>
      </p:sp>
      <p:sp>
        <p:nvSpPr>
          <p:cNvPr id="11" name="">
            <a:extLst xmlns:a="http://schemas.openxmlformats.org/drawingml/2006/main">
              <a:ext uri="{FF2B5EF4-FFF2-40B4-BE49-F238E27FC236}">
                <a16:creationId xmlns:a16="http://schemas.microsoft.com/office/drawing/2014/main" id="{542E2C1B-65E3-401A-8695-A50D80CEA764}"/>
              </a:ext>
            </a:extLst>
          </p:cNvPr>
          <p:cNvSpPr>
            <a:spLocks xmlns:a="http://schemas.openxmlformats.org/drawingml/2006/main" noGrp="1"/>
          </p:cNvSpPr>
          <p:nvPr/>
        </p:nvSpPr>
        <p:spPr>
          <a:xfrm xmlns:a="http://schemas.openxmlformats.org/drawingml/2006/main">
            <a:off x="6248400" y="4105275"/>
            <a:ext cx="23050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121212"/>
                </a:solidFill>
                <a:latin typeface="Arial"/>
                <a:ea typeface="Arial"/>
                <a:cs typeface="Arial"/>
              </a:defRPr>
            </a:defPPr>
          </a:lstStyle>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Review total</a:t>
            </a:r>
          </a:p>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and confirm PIN</a:t>
            </a:r>
          </a:p>
        </p:txBody>
      </p:sp>
      <p:sp>
        <p:nvSpPr>
          <p:cNvPr id="12" name="">
            <a:extLst xmlns:a="http://schemas.openxmlformats.org/drawingml/2006/main">
              <a:ext uri="{FF2B5EF4-FFF2-40B4-BE49-F238E27FC236}">
                <a16:creationId xmlns:a16="http://schemas.microsoft.com/office/drawing/2014/main" id="{F8DA2343-D74E-409C-89F7-A1926256F9F5}"/>
              </a:ext>
            </a:extLst>
          </p:cNvPr>
          <p:cNvSpPr>
            <a:spLocks xmlns:a="http://schemas.openxmlformats.org/drawingml/2006/main" noGrp="1"/>
          </p:cNvSpPr>
          <p:nvPr/>
        </p:nvSpPr>
        <p:spPr>
          <a:xfrm xmlns:a="http://schemas.openxmlformats.org/drawingml/2006/main">
            <a:off x="9029700" y="2105025"/>
            <a:ext cx="2190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5550" b="1">
                <a:solidFill>
                  <a:srgbClr val="6740B3"/>
                </a:solidFill>
                <a:latin typeface="Arial"/>
                <a:ea typeface="Arial"/>
                <a:cs typeface="Arial"/>
              </a:defRPr>
            </a:defPPr>
          </a:lstStyle>
          <a:p xmlns:a="http://schemas.openxmlformats.org/drawingml/2006/main">
            <a:pPr>
              <a:defRPr sz="5550" b="1">
                <a:solidFill>
                  <a:srgbClr val="6740B3"/>
                </a:solidFill>
                <a:latin typeface="Arial"/>
                <a:ea typeface="Arial"/>
                <a:cs typeface="Arial"/>
              </a:defRPr>
            </a:pPr>
            <a:r>
              <a:rPr sz="5550" b="1">
                <a:solidFill>
                  <a:srgbClr val="6740B3"/>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BD43E3CB-714D-4542-BC82-1F71685CAE8A}"/>
              </a:ext>
            </a:extLst>
          </p:cNvPr>
          <p:cNvSpPr>
            <a:spLocks xmlns:a="http://schemas.openxmlformats.org/drawingml/2006/main" noGrp="1"/>
          </p:cNvSpPr>
          <p:nvPr/>
        </p:nvSpPr>
        <p:spPr>
          <a:xfrm xmlns:a="http://schemas.openxmlformats.org/drawingml/2006/main">
            <a:off x="9029700" y="3333750"/>
            <a:ext cx="2247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1">
                <a:solidFill>
                  <a:srgbClr val="121212"/>
                </a:solidFill>
                <a:latin typeface="Arial"/>
                <a:ea typeface="Arial"/>
                <a:cs typeface="Arial"/>
              </a:defRPr>
            </a:defPPr>
          </a:lstStyle>
          <a:p xmlns:a="http://schemas.openxmlformats.org/drawingml/2006/main">
            <a:pPr>
              <a:defRPr sz="2400" b="1">
                <a:solidFill>
                  <a:srgbClr val="121212"/>
                </a:solidFill>
                <a:latin typeface="Arial"/>
                <a:ea typeface="Arial"/>
                <a:cs typeface="Arial"/>
              </a:defRPr>
            </a:pPr>
            <a:r>
              <a:rPr sz="2400" b="1">
                <a:solidFill>
                  <a:srgbClr val="121212"/>
                </a:solidFill>
                <a:latin typeface="Arial"/>
                <a:ea typeface="Arial"/>
                <a:cs typeface="Arial"/>
              </a:rPr>
              <a:t>Collect</a:t>
            </a:r>
          </a:p>
        </p:txBody>
      </p:sp>
      <p:sp>
        <p:nvSpPr>
          <p:cNvPr id="14" name="">
            <a:extLst xmlns:a="http://schemas.openxmlformats.org/drawingml/2006/main">
              <a:ext uri="{FF2B5EF4-FFF2-40B4-BE49-F238E27FC236}">
                <a16:creationId xmlns:a16="http://schemas.microsoft.com/office/drawing/2014/main" id="{89DC6619-73A9-41C2-AD2A-FB3DB883E216}"/>
              </a:ext>
            </a:extLst>
          </p:cNvPr>
          <p:cNvSpPr>
            <a:spLocks xmlns:a="http://schemas.openxmlformats.org/drawingml/2006/main" noGrp="1"/>
          </p:cNvSpPr>
          <p:nvPr/>
        </p:nvSpPr>
        <p:spPr>
          <a:xfrm xmlns:a="http://schemas.openxmlformats.org/drawingml/2006/main">
            <a:off x="9029700" y="4105275"/>
            <a:ext cx="23050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121212"/>
                </a:solidFill>
                <a:latin typeface="Arial"/>
                <a:ea typeface="Arial"/>
                <a:cs typeface="Arial"/>
              </a:defRPr>
            </a:defPPr>
          </a:lstStyle>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Show the order QR</a:t>
            </a:r>
          </a:p>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at the counter</a:t>
            </a:r>
          </a:p>
        </p:txBody>
      </p:sp>
      <p:sp>
        <p:nvSpPr>
          <p:cNvPr id="15" name="">
            <a:extLst xmlns:a="http://schemas.openxmlformats.org/drawingml/2006/main">
              <a:ext uri="{FF2B5EF4-FFF2-40B4-BE49-F238E27FC236}">
                <a16:creationId xmlns:a16="http://schemas.microsoft.com/office/drawing/2014/main" id="{C195351D-24E3-48FB-8078-95488F7601B8}"/>
              </a:ext>
            </a:extLst>
          </p:cNvPr>
          <p:cNvSpPr>
            <a:spLocks xmlns:a="http://schemas.openxmlformats.org/drawingml/2006/main" noGrp="1"/>
          </p:cNvSpPr>
          <p:nvPr/>
        </p:nvSpPr>
        <p:spPr>
          <a:xfrm xmlns:a="http://schemas.openxmlformats.org/drawingml/2006/main">
            <a:off x="685800" y="55816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1">
                <a:solidFill>
                  <a:srgbClr val="121212"/>
                </a:solidFill>
                <a:latin typeface="Arial"/>
                <a:ea typeface="Arial"/>
                <a:cs typeface="Arial"/>
              </a:defRPr>
            </a:defPPr>
          </a:lstStyle>
          <a:p xmlns:a="http://schemas.openxmlformats.org/drawingml/2006/main">
            <a:pPr>
              <a:defRPr sz="1875" b="1">
                <a:solidFill>
                  <a:srgbClr val="121212"/>
                </a:solidFill>
                <a:latin typeface="Arial"/>
                <a:ea typeface="Arial"/>
                <a:cs typeface="Arial"/>
              </a:defRPr>
            </a:pPr>
            <a:r>
              <a:rPr sz="1875" b="1">
                <a:solidFill>
                  <a:srgbClr val="121212"/>
                </a:solidFill>
                <a:latin typeface="Arial"/>
                <a:ea typeface="Arial"/>
                <a:cs typeface="Arial"/>
              </a:rPr>
              <a:t>If payment is uncertain, check Orders and the wallet before retrying.</a:t>
            </a:r>
          </a:p>
        </p:txBody>
      </p:sp>
    </p:spTree>
    <p:extLst>
      <p:ext uri="{BB962C8B-B14F-4D97-AF65-F5344CB8AC3E}">
        <p14:creationId xmlns:p14="http://schemas.microsoft.com/office/powerpoint/2010/main" val="793035484"/>
      </p:ext>
    </p:extLst>
  </p:cSld>
</p:sld>
</file>

<file path=ppt/slides/slide5.xml><?xml version="1.0" encoding="utf-8"?>
<p:sld xmlns:p="http://schemas.openxmlformats.org/presentationml/2006/main">
  <p:cSld>
    <p:bg>
      <p:bgPr>
        <a:solidFill xmlns:a="http://schemas.openxmlformats.org/drawingml/2006/main">
          <a:srgbClr val="F8F6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1B50388-E0D5-4639-9D41-9E015534E98E}"/>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Value to test during the pilot</a:t>
            </a:r>
          </a:p>
        </p:txBody>
      </p:sp>
      <p:sp>
        <p:nvSpPr>
          <p:cNvPr id="2" name="">
            <a:extLst xmlns:a="http://schemas.openxmlformats.org/drawingml/2006/main">
              <a:ext uri="{FF2B5EF4-FFF2-40B4-BE49-F238E27FC236}">
                <a16:creationId xmlns:a16="http://schemas.microsoft.com/office/drawing/2014/main" id="{A89712F0-96C9-47BD-83DC-7D48F4D87A03}"/>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65FE4B58-4D91-4A03-9A0C-8ECA8CF25DEA}"/>
              </a:ext>
            </a:extLst>
          </p:cNvPr>
          <p:cNvSpPr>
            <a:spLocks xmlns:a="http://schemas.openxmlformats.org/drawingml/2006/main" noGrp="1"/>
          </p:cNvSpPr>
          <p:nvPr/>
        </p:nvSpPr>
        <p:spPr>
          <a:xfrm xmlns:a="http://schemas.openxmlformats.org/drawingml/2006/main">
            <a:off x="685800" y="1943100"/>
            <a:ext cx="4857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1">
                <a:solidFill>
                  <a:srgbClr val="6740B3"/>
                </a:solidFill>
                <a:latin typeface="Arial"/>
                <a:ea typeface="Arial"/>
                <a:cs typeface="Arial"/>
              </a:defRPr>
            </a:defPPr>
          </a:lstStyle>
          <a:p xmlns:a="http://schemas.openxmlformats.org/drawingml/2006/main">
            <a:pPr>
              <a:defRPr sz="2250" b="1">
                <a:solidFill>
                  <a:srgbClr val="6740B3"/>
                </a:solidFill>
                <a:latin typeface="Arial"/>
                <a:ea typeface="Arial"/>
                <a:cs typeface="Arial"/>
              </a:defRPr>
            </a:pPr>
            <a:r>
              <a:rPr sz="2250" b="1">
                <a:solidFill>
                  <a:srgbClr val="6740B3"/>
                </a:solidFill>
                <a:latin typeface="Arial"/>
                <a:ea typeface="Arial"/>
                <a:cs typeface="Arial"/>
              </a:rPr>
              <a:t>For students</a:t>
            </a:r>
          </a:p>
        </p:txBody>
      </p:sp>
      <p:sp>
        <p:nvSpPr>
          <p:cNvPr id="4" name="">
            <a:extLst xmlns:a="http://schemas.openxmlformats.org/drawingml/2006/main">
              <a:ext uri="{FF2B5EF4-FFF2-40B4-BE49-F238E27FC236}">
                <a16:creationId xmlns:a16="http://schemas.microsoft.com/office/drawing/2014/main" id="{F7117306-0B72-43E7-B18C-60949A6205D5}"/>
              </a:ext>
            </a:extLst>
          </p:cNvPr>
          <p:cNvSpPr>
            <a:spLocks xmlns:a="http://schemas.openxmlformats.org/drawingml/2006/main" noGrp="1"/>
          </p:cNvSpPr>
          <p:nvPr/>
        </p:nvSpPr>
        <p:spPr>
          <a:xfrm xmlns:a="http://schemas.openxmlformats.org/drawingml/2006/main">
            <a:off x="685800" y="2600325"/>
            <a:ext cx="485775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121212"/>
                </a:solidFill>
                <a:latin typeface="Arial"/>
                <a:ea typeface="Arial"/>
                <a:cs typeface="Arial"/>
              </a:defRPr>
            </a:defPPr>
          </a:lstStyle>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Meal options in one place</a:t>
            </a:r>
          </a:p>
          <a:p xmlns:a="http://schemas.openxmlformats.org/drawingml/2006/main">
            <a:r>
              <a:t/>
            </a:r>
          </a:p>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Clear cart totals before payment</a:t>
            </a:r>
          </a:p>
          <a:p xmlns:a="http://schemas.openxmlformats.org/drawingml/2006/main">
            <a:r>
              <a:t/>
            </a:r>
          </a:p>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Wallet and monthly spending visibility</a:t>
            </a:r>
          </a:p>
        </p:txBody>
      </p:sp>
      <p:sp>
        <p:nvSpPr>
          <p:cNvPr id="5" name="">
            <a:extLst xmlns:a="http://schemas.openxmlformats.org/drawingml/2006/main">
              <a:ext uri="{FF2B5EF4-FFF2-40B4-BE49-F238E27FC236}">
                <a16:creationId xmlns:a16="http://schemas.microsoft.com/office/drawing/2014/main" id="{ADAFFAFA-8267-4374-8E7A-644E15C840FD}"/>
              </a:ext>
            </a:extLst>
          </p:cNvPr>
          <p:cNvSpPr>
            <a:spLocks xmlns:a="http://schemas.openxmlformats.org/drawingml/2006/main" noGrp="1"/>
          </p:cNvSpPr>
          <p:nvPr/>
        </p:nvSpPr>
        <p:spPr>
          <a:xfrm xmlns:a="http://schemas.openxmlformats.org/drawingml/2006/main">
            <a:off x="6496050" y="1943100"/>
            <a:ext cx="5010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1">
                <a:solidFill>
                  <a:srgbClr val="6740B3"/>
                </a:solidFill>
                <a:latin typeface="Arial"/>
                <a:ea typeface="Arial"/>
                <a:cs typeface="Arial"/>
              </a:defRPr>
            </a:defPPr>
          </a:lstStyle>
          <a:p xmlns:a="http://schemas.openxmlformats.org/drawingml/2006/main">
            <a:pPr>
              <a:defRPr sz="2250" b="1">
                <a:solidFill>
                  <a:srgbClr val="6740B3"/>
                </a:solidFill>
                <a:latin typeface="Arial"/>
                <a:ea typeface="Arial"/>
                <a:cs typeface="Arial"/>
              </a:defRPr>
            </a:pPr>
            <a:r>
              <a:rPr sz="2250" b="1">
                <a:solidFill>
                  <a:srgbClr val="6740B3"/>
                </a:solidFill>
                <a:latin typeface="Arial"/>
                <a:ea typeface="Arial"/>
                <a:cs typeface="Arial"/>
              </a:rPr>
              <a:t>For hostel operations</a:t>
            </a:r>
          </a:p>
        </p:txBody>
      </p:sp>
      <p:sp>
        <p:nvSpPr>
          <p:cNvPr id="6" name="">
            <a:extLst xmlns:a="http://schemas.openxmlformats.org/drawingml/2006/main">
              <a:ext uri="{FF2B5EF4-FFF2-40B4-BE49-F238E27FC236}">
                <a16:creationId xmlns:a16="http://schemas.microsoft.com/office/drawing/2014/main" id="{7F016383-D6BB-46C5-A6AE-2A8F2E026940}"/>
              </a:ext>
            </a:extLst>
          </p:cNvPr>
          <p:cNvSpPr>
            <a:spLocks xmlns:a="http://schemas.openxmlformats.org/drawingml/2006/main" noGrp="1"/>
          </p:cNvSpPr>
          <p:nvPr/>
        </p:nvSpPr>
        <p:spPr>
          <a:xfrm xmlns:a="http://schemas.openxmlformats.org/drawingml/2006/main">
            <a:off x="6496050" y="2600325"/>
            <a:ext cx="501015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121212"/>
                </a:solidFill>
                <a:latin typeface="Arial"/>
                <a:ea typeface="Arial"/>
                <a:cs typeface="Arial"/>
              </a:defRPr>
            </a:defPPr>
          </a:lstStyle>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Fewer questions about menu availability</a:t>
            </a:r>
          </a:p>
          <a:p xmlns:a="http://schemas.openxmlformats.org/drawingml/2006/main">
            <a:r>
              <a:t/>
            </a:r>
          </a:p>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A consistent order reference for support</a:t>
            </a:r>
          </a:p>
          <a:p xmlns:a="http://schemas.openxmlformats.org/drawingml/2006/main">
            <a:r>
              <a:t/>
            </a:r>
          </a:p>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A clearer collection process</a:t>
            </a:r>
          </a:p>
        </p:txBody>
      </p:sp>
      <p:sp>
        <p:nvSpPr>
          <p:cNvPr id="7" name="">
            <a:extLst xmlns:a="http://schemas.openxmlformats.org/drawingml/2006/main">
              <a:ext uri="{FF2B5EF4-FFF2-40B4-BE49-F238E27FC236}">
                <a16:creationId xmlns:a16="http://schemas.microsoft.com/office/drawing/2014/main" id="{CF9D423F-F727-492C-9FDF-15D43678EEEC}"/>
              </a:ext>
            </a:extLst>
          </p:cNvPr>
          <p:cNvSpPr>
            <a:spLocks xmlns:a="http://schemas.openxmlformats.org/drawingml/2006/main" noGrp="1"/>
          </p:cNvSpPr>
          <p:nvPr/>
        </p:nvSpPr>
        <p:spPr>
          <a:xfrm xmlns:a="http://schemas.openxmlformats.org/drawingml/2006/main">
            <a:off x="685800" y="560070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1">
                <a:solidFill>
                  <a:srgbClr val="121212"/>
                </a:solidFill>
                <a:latin typeface="Arial"/>
                <a:ea typeface="Arial"/>
                <a:cs typeface="Arial"/>
              </a:defRPr>
            </a:defPPr>
          </a:lstStyle>
          <a:p xmlns:a="http://schemas.openxmlformats.org/drawingml/2006/main">
            <a:pPr>
              <a:defRPr sz="1875" b="1">
                <a:solidFill>
                  <a:srgbClr val="121212"/>
                </a:solidFill>
                <a:latin typeface="Arial"/>
                <a:ea typeface="Arial"/>
                <a:cs typeface="Arial"/>
              </a:defRPr>
            </a:pPr>
            <a:r>
              <a:rPr sz="1875" b="1">
                <a:solidFill>
                  <a:srgbClr val="121212"/>
                </a:solidFill>
                <a:latin typeface="Arial"/>
                <a:ea typeface="Arial"/>
                <a:cs typeface="Arial"/>
              </a:rPr>
              <a:t>Measure the effect before making an institution-wide commitment.</a:t>
            </a:r>
          </a:p>
        </p:txBody>
      </p:sp>
    </p:spTree>
    <p:extLst>
      <p:ext uri="{BB962C8B-B14F-4D97-AF65-F5344CB8AC3E}">
        <p14:creationId xmlns:p14="http://schemas.microsoft.com/office/powerpoint/2010/main" val="519842791"/>
      </p:ext>
    </p:extLst>
  </p:cSld>
</p:sld>
</file>

<file path=ppt/slides/slide6.xml><?xml version="1.0" encoding="utf-8"?>
<p:sld xmlns:p="http://schemas.openxmlformats.org/presentationml/2006/main">
  <p:cSld>
    <p:bg>
      <p:bgPr>
        <a:solidFill xmlns:a="http://schemas.openxmlformats.org/drawingml/2006/main">
          <a:srgbClr val="F8F6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FA7D2C3-85A0-4A43-829A-1462773FF2F2}"/>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Operational boundaries</a:t>
            </a:r>
          </a:p>
        </p:txBody>
      </p:sp>
      <p:sp>
        <p:nvSpPr>
          <p:cNvPr id="2" name="">
            <a:extLst xmlns:a="http://schemas.openxmlformats.org/drawingml/2006/main">
              <a:ext uri="{FF2B5EF4-FFF2-40B4-BE49-F238E27FC236}">
                <a16:creationId xmlns:a16="http://schemas.microsoft.com/office/drawing/2014/main" id="{9BC46A16-03B1-470C-87F2-E679A553F33D}"/>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C7045E37-21B6-4E7B-83F5-1076B07B2859}"/>
              </a:ext>
            </a:extLst>
          </p:cNvPr>
          <p:cNvSpPr>
            <a:spLocks xmlns:a="http://schemas.openxmlformats.org/drawingml/2006/main" noGrp="1"/>
          </p:cNvSpPr>
          <p:nvPr/>
        </p:nvSpPr>
        <p:spPr>
          <a:xfrm xmlns:a="http://schemas.openxmlformats.org/drawingml/2006/main">
            <a:off x="685800" y="1943100"/>
            <a:ext cx="4857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1">
                <a:solidFill>
                  <a:srgbClr val="6740B3"/>
                </a:solidFill>
                <a:latin typeface="Arial"/>
                <a:ea typeface="Arial"/>
                <a:cs typeface="Arial"/>
              </a:defRPr>
            </a:defPPr>
          </a:lstStyle>
          <a:p xmlns:a="http://schemas.openxmlformats.org/drawingml/2006/main">
            <a:pPr>
              <a:defRPr sz="2250" b="1">
                <a:solidFill>
                  <a:srgbClr val="6740B3"/>
                </a:solidFill>
                <a:latin typeface="Arial"/>
                <a:ea typeface="Arial"/>
                <a:cs typeface="Arial"/>
              </a:defRPr>
            </a:pPr>
            <a:r>
              <a:rPr sz="2250" b="1">
                <a:solidFill>
                  <a:srgbClr val="6740B3"/>
                </a:solidFill>
                <a:latin typeface="Arial"/>
                <a:ea typeface="Arial"/>
                <a:cs typeface="Arial"/>
              </a:rPr>
              <a:t>VITeats student app</a:t>
            </a:r>
          </a:p>
        </p:txBody>
      </p:sp>
      <p:sp>
        <p:nvSpPr>
          <p:cNvPr id="4" name="">
            <a:extLst xmlns:a="http://schemas.openxmlformats.org/drawingml/2006/main">
              <a:ext uri="{FF2B5EF4-FFF2-40B4-BE49-F238E27FC236}">
                <a16:creationId xmlns:a16="http://schemas.microsoft.com/office/drawing/2014/main" id="{7B21F58B-589F-4CDB-B894-E41A1B8CE56F}"/>
              </a:ext>
            </a:extLst>
          </p:cNvPr>
          <p:cNvSpPr>
            <a:spLocks xmlns:a="http://schemas.openxmlformats.org/drawingml/2006/main" noGrp="1"/>
          </p:cNvSpPr>
          <p:nvPr/>
        </p:nvSpPr>
        <p:spPr>
          <a:xfrm xmlns:a="http://schemas.openxmlformats.org/drawingml/2006/main">
            <a:off x="685800" y="2600325"/>
            <a:ext cx="485775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121212"/>
                </a:solidFill>
                <a:latin typeface="Arial"/>
                <a:ea typeface="Arial"/>
                <a:cs typeface="Arial"/>
              </a:defRPr>
            </a:defPPr>
          </a:lstStyle>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Menu access and ordering</a:t>
            </a:r>
          </a:p>
          <a:p xmlns:a="http://schemas.openxmlformats.org/drawingml/2006/main">
            <a:r>
              <a:t/>
            </a:r>
          </a:p>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Order history and QR display</a:t>
            </a:r>
          </a:p>
          <a:p xmlns:a="http://schemas.openxmlformats.org/drawingml/2006/main">
            <a:r>
              <a:t/>
            </a:r>
          </a:p>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Personal wallet and budget views</a:t>
            </a:r>
          </a:p>
        </p:txBody>
      </p:sp>
      <p:sp>
        <p:nvSpPr>
          <p:cNvPr id="5" name="">
            <a:extLst xmlns:a="http://schemas.openxmlformats.org/drawingml/2006/main">
              <a:ext uri="{FF2B5EF4-FFF2-40B4-BE49-F238E27FC236}">
                <a16:creationId xmlns:a16="http://schemas.microsoft.com/office/drawing/2014/main" id="{58D47139-6CA6-4DF3-AB0B-83FC91D376F3}"/>
              </a:ext>
            </a:extLst>
          </p:cNvPr>
          <p:cNvSpPr>
            <a:spLocks xmlns:a="http://schemas.openxmlformats.org/drawingml/2006/main" noGrp="1"/>
          </p:cNvSpPr>
          <p:nvPr/>
        </p:nvSpPr>
        <p:spPr>
          <a:xfrm xmlns:a="http://schemas.openxmlformats.org/drawingml/2006/main">
            <a:off x="6496050" y="1943100"/>
            <a:ext cx="5010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1">
                <a:solidFill>
                  <a:srgbClr val="6740B3"/>
                </a:solidFill>
                <a:latin typeface="Arial"/>
                <a:ea typeface="Arial"/>
                <a:cs typeface="Arial"/>
              </a:defRPr>
            </a:defPPr>
          </a:lstStyle>
          <a:p xmlns:a="http://schemas.openxmlformats.org/drawingml/2006/main">
            <a:pPr>
              <a:defRPr sz="2250" b="1">
                <a:solidFill>
                  <a:srgbClr val="6740B3"/>
                </a:solidFill>
                <a:latin typeface="Arial"/>
                <a:ea typeface="Arial"/>
                <a:cs typeface="Arial"/>
              </a:defRPr>
            </a:pPr>
            <a:r>
              <a:rPr sz="2250" b="1">
                <a:solidFill>
                  <a:srgbClr val="6740B3"/>
                </a:solidFill>
                <a:latin typeface="Arial"/>
                <a:ea typeface="Arial"/>
                <a:cs typeface="Arial"/>
              </a:rPr>
              <a:t>Existing authorised systems</a:t>
            </a:r>
          </a:p>
        </p:txBody>
      </p:sp>
      <p:sp>
        <p:nvSpPr>
          <p:cNvPr id="6" name="">
            <a:extLst xmlns:a="http://schemas.openxmlformats.org/drawingml/2006/main">
              <a:ext uri="{FF2B5EF4-FFF2-40B4-BE49-F238E27FC236}">
                <a16:creationId xmlns:a16="http://schemas.microsoft.com/office/drawing/2014/main" id="{1C93D8FE-0DC3-4858-A005-59759650D4FC}"/>
              </a:ext>
            </a:extLst>
          </p:cNvPr>
          <p:cNvSpPr>
            <a:spLocks xmlns:a="http://schemas.openxmlformats.org/drawingml/2006/main" noGrp="1"/>
          </p:cNvSpPr>
          <p:nvPr/>
        </p:nvSpPr>
        <p:spPr>
          <a:xfrm xmlns:a="http://schemas.openxmlformats.org/drawingml/2006/main">
            <a:off x="6496050" y="2600325"/>
            <a:ext cx="501015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121212"/>
                </a:solidFill>
                <a:latin typeface="Arial"/>
                <a:ea typeface="Arial"/>
                <a:cs typeface="Arial"/>
              </a:defRPr>
            </a:defPPr>
          </a:lstStyle>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Menu and stock administration</a:t>
            </a:r>
          </a:p>
          <a:p xmlns:a="http://schemas.openxmlformats.org/drawingml/2006/main">
            <a:r>
              <a:t/>
            </a:r>
          </a:p>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Counter verification and fulfilment</a:t>
            </a:r>
          </a:p>
          <a:p xmlns:a="http://schemas.openxmlformats.org/drawingml/2006/main">
            <a:r>
              <a:t/>
            </a:r>
          </a:p>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Payment reconciliation and refunds</a:t>
            </a:r>
          </a:p>
        </p:txBody>
      </p:sp>
      <p:sp>
        <p:nvSpPr>
          <p:cNvPr id="7" name="">
            <a:extLst xmlns:a="http://schemas.openxmlformats.org/drawingml/2006/main">
              <a:ext uri="{FF2B5EF4-FFF2-40B4-BE49-F238E27FC236}">
                <a16:creationId xmlns:a16="http://schemas.microsoft.com/office/drawing/2014/main" id="{F06C9574-1776-43E3-8434-6740C18C0D76}"/>
              </a:ext>
            </a:extLst>
          </p:cNvPr>
          <p:cNvSpPr>
            <a:spLocks xmlns:a="http://schemas.openxmlformats.org/drawingml/2006/main" noGrp="1"/>
          </p:cNvSpPr>
          <p:nvPr/>
        </p:nvSpPr>
        <p:spPr>
          <a:xfrm xmlns:a="http://schemas.openxmlformats.org/drawingml/2006/main">
            <a:off x="685800" y="560070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1">
                <a:solidFill>
                  <a:srgbClr val="121212"/>
                </a:solidFill>
                <a:latin typeface="Arial"/>
                <a:ea typeface="Arial"/>
                <a:cs typeface="Arial"/>
              </a:defRPr>
            </a:defPPr>
          </a:lstStyle>
          <a:p xmlns:a="http://schemas.openxmlformats.org/drawingml/2006/main">
            <a:pPr>
              <a:defRPr sz="1875" b="1">
                <a:solidFill>
                  <a:srgbClr val="121212"/>
                </a:solidFill>
                <a:latin typeface="Arial"/>
                <a:ea typeface="Arial"/>
                <a:cs typeface="Arial"/>
              </a:defRPr>
            </a:pPr>
            <a:r>
              <a:rPr sz="1875" b="1">
                <a:solidFill>
                  <a:srgbClr val="121212"/>
                </a:solidFill>
                <a:latin typeface="Arial"/>
                <a:ea typeface="Arial"/>
                <a:cs typeface="Arial"/>
              </a:rPr>
              <a:t>Staff continue to use the authorised counter and administration tools.</a:t>
            </a:r>
          </a:p>
        </p:txBody>
      </p:sp>
    </p:spTree>
    <p:extLst>
      <p:ext uri="{BB962C8B-B14F-4D97-AF65-F5344CB8AC3E}">
        <p14:creationId xmlns:p14="http://schemas.microsoft.com/office/powerpoint/2010/main" val="822264065"/>
      </p:ext>
    </p:extLst>
  </p:cSld>
</p:sld>
</file>

<file path=ppt/slides/slide7.xml><?xml version="1.0" encoding="utf-8"?>
<p:sld xmlns:p="http://schemas.openxmlformats.org/presentationml/2006/main">
  <p:cSld>
    <p:bg>
      <p:bgPr>
        <a:solidFill xmlns:a="http://schemas.openxmlformats.org/drawingml/2006/main">
          <a:srgbClr val="F8F6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5781405-AF8A-481F-BE90-EED447B6D2C5}"/>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Integration with the existing service</a:t>
            </a:r>
          </a:p>
        </p:txBody>
      </p:sp>
      <p:sp>
        <p:nvSpPr>
          <p:cNvPr id="2" name="">
            <a:extLst xmlns:a="http://schemas.openxmlformats.org/drawingml/2006/main">
              <a:ext uri="{FF2B5EF4-FFF2-40B4-BE49-F238E27FC236}">
                <a16:creationId xmlns:a16="http://schemas.microsoft.com/office/drawing/2014/main" id="{F88E81D0-24C1-47FE-8AFA-4CBB19601B2F}"/>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671F57FA-8B85-4569-A178-42D5D9AA139B}"/>
              </a:ext>
            </a:extLst>
          </p:cNvPr>
          <p:cNvSpPr>
            <a:spLocks xmlns:a="http://schemas.openxmlformats.org/drawingml/2006/main" noGrp="1"/>
          </p:cNvSpPr>
          <p:nvPr/>
        </p:nvSpPr>
        <p:spPr>
          <a:xfrm xmlns:a="http://schemas.openxmlformats.org/drawingml/2006/main">
            <a:off x="685800" y="2047875"/>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Student device</a:t>
            </a:r>
          </a:p>
        </p:txBody>
      </p:sp>
      <p:sp>
        <p:nvSpPr>
          <p:cNvPr id="4" name="">
            <a:extLst xmlns:a="http://schemas.openxmlformats.org/drawingml/2006/main">
              <a:ext uri="{FF2B5EF4-FFF2-40B4-BE49-F238E27FC236}">
                <a16:creationId xmlns:a16="http://schemas.microsoft.com/office/drawing/2014/main" id="{7240AC83-CF70-4494-A051-1E9A40560C16}"/>
              </a:ext>
            </a:extLst>
          </p:cNvPr>
          <p:cNvSpPr>
            <a:spLocks xmlns:a="http://schemas.openxmlformats.org/drawingml/2006/main" noGrp="1"/>
          </p:cNvSpPr>
          <p:nvPr/>
        </p:nvSpPr>
        <p:spPr>
          <a:xfrm xmlns:a="http://schemas.openxmlformats.org/drawingml/2006/main">
            <a:off x="4076700" y="2047875"/>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Android app with local preferences and encrypted session values.</a:t>
            </a:r>
          </a:p>
        </p:txBody>
      </p:sp>
      <p:sp>
        <p:nvSpPr>
          <p:cNvPr id="5" name="">
            <a:extLst xmlns:a="http://schemas.openxmlformats.org/drawingml/2006/main">
              <a:ext uri="{FF2B5EF4-FFF2-40B4-BE49-F238E27FC236}">
                <a16:creationId xmlns:a16="http://schemas.microsoft.com/office/drawing/2014/main" id="{8039BA5E-DF5F-4B5D-81E8-F58EBB8F119E}"/>
              </a:ext>
            </a:extLst>
          </p:cNvPr>
          <p:cNvSpPr>
            <a:spLocks xmlns:a="http://schemas.openxmlformats.org/drawingml/2006/main" noGrp="1"/>
          </p:cNvSpPr>
          <p:nvPr/>
        </p:nvSpPr>
        <p:spPr>
          <a:xfrm xmlns:a="http://schemas.openxmlformats.org/drawingml/2006/main">
            <a:off x="685800" y="302895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Proodle service</a:t>
            </a:r>
          </a:p>
        </p:txBody>
      </p:sp>
      <p:sp>
        <p:nvSpPr>
          <p:cNvPr id="6" name="">
            <a:extLst xmlns:a="http://schemas.openxmlformats.org/drawingml/2006/main">
              <a:ext uri="{FF2B5EF4-FFF2-40B4-BE49-F238E27FC236}">
                <a16:creationId xmlns:a16="http://schemas.microsoft.com/office/drawing/2014/main" id="{D90CB4A3-0BFC-4A79-9E76-5F623E23CB58}"/>
              </a:ext>
            </a:extLst>
          </p:cNvPr>
          <p:cNvSpPr>
            <a:spLocks xmlns:a="http://schemas.openxmlformats.org/drawingml/2006/main" noGrp="1"/>
          </p:cNvSpPr>
          <p:nvPr/>
        </p:nvSpPr>
        <p:spPr>
          <a:xfrm xmlns:a="http://schemas.openxmlformats.org/drawingml/2006/main">
            <a:off x="4076700" y="30289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Existing HTTPS APIs for account, menu, orders, wallet payment and QR data.</a:t>
            </a:r>
          </a:p>
        </p:txBody>
      </p:sp>
      <p:sp>
        <p:nvSpPr>
          <p:cNvPr id="7" name="">
            <a:extLst xmlns:a="http://schemas.openxmlformats.org/drawingml/2006/main">
              <a:ext uri="{FF2B5EF4-FFF2-40B4-BE49-F238E27FC236}">
                <a16:creationId xmlns:a16="http://schemas.microsoft.com/office/drawing/2014/main" id="{C3796B9E-4AE6-4B99-B31D-099F24EF9737}"/>
              </a:ext>
            </a:extLst>
          </p:cNvPr>
          <p:cNvSpPr>
            <a:spLocks xmlns:a="http://schemas.openxmlformats.org/drawingml/2006/main" noGrp="1"/>
          </p:cNvSpPr>
          <p:nvPr/>
        </p:nvSpPr>
        <p:spPr>
          <a:xfrm xmlns:a="http://schemas.openxmlformats.org/drawingml/2006/main">
            <a:off x="685800" y="4010025"/>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Counter operations</a:t>
            </a:r>
          </a:p>
        </p:txBody>
      </p:sp>
      <p:sp>
        <p:nvSpPr>
          <p:cNvPr id="8" name="">
            <a:extLst xmlns:a="http://schemas.openxmlformats.org/drawingml/2006/main">
              <a:ext uri="{FF2B5EF4-FFF2-40B4-BE49-F238E27FC236}">
                <a16:creationId xmlns:a16="http://schemas.microsoft.com/office/drawing/2014/main" id="{BF78B5D7-1A3F-4886-A55F-B4A1EA98C576}"/>
              </a:ext>
            </a:extLst>
          </p:cNvPr>
          <p:cNvSpPr>
            <a:spLocks xmlns:a="http://schemas.openxmlformats.org/drawingml/2006/main" noGrp="1"/>
          </p:cNvSpPr>
          <p:nvPr/>
        </p:nvSpPr>
        <p:spPr>
          <a:xfrm xmlns:a="http://schemas.openxmlformats.org/drawingml/2006/main">
            <a:off x="4076700" y="4010025"/>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Existing verification and fulfilment process, subject to vendor confirmation.</a:t>
            </a:r>
          </a:p>
        </p:txBody>
      </p:sp>
      <p:sp>
        <p:nvSpPr>
          <p:cNvPr id="9" name="">
            <a:extLst xmlns:a="http://schemas.openxmlformats.org/drawingml/2006/main">
              <a:ext uri="{FF2B5EF4-FFF2-40B4-BE49-F238E27FC236}">
                <a16:creationId xmlns:a16="http://schemas.microsoft.com/office/drawing/2014/main" id="{0215526D-82FA-4F98-9781-3AE48A4E257D}"/>
              </a:ext>
            </a:extLst>
          </p:cNvPr>
          <p:cNvSpPr>
            <a:spLocks xmlns:a="http://schemas.openxmlformats.org/drawingml/2006/main" noGrp="1"/>
          </p:cNvSpPr>
          <p:nvPr/>
        </p:nvSpPr>
        <p:spPr>
          <a:xfrm xmlns:a="http://schemas.openxmlformats.org/drawingml/2006/main">
            <a:off x="685800" y="544830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1">
                <a:solidFill>
                  <a:srgbClr val="6740B3"/>
                </a:solidFill>
                <a:latin typeface="Arial"/>
                <a:ea typeface="Arial"/>
                <a:cs typeface="Arial"/>
              </a:defRPr>
            </a:defPPr>
          </a:lstStyle>
          <a:p xmlns:a="http://schemas.openxmlformats.org/drawingml/2006/main">
            <a:pPr>
              <a:defRPr sz="2025" b="1">
                <a:solidFill>
                  <a:srgbClr val="6740B3"/>
                </a:solidFill>
                <a:latin typeface="Arial"/>
                <a:ea typeface="Arial"/>
                <a:cs typeface="Arial"/>
              </a:defRPr>
            </a:pPr>
            <a:r>
              <a:rPr sz="2025" b="1">
                <a:solidFill>
                  <a:srgbClr val="6740B3"/>
                </a:solidFill>
                <a:latin typeface="Arial"/>
                <a:ea typeface="Arial"/>
                <a:cs typeface="Arial"/>
              </a:rPr>
              <a:t>Formal integration approval and an agreed API contract are launch prerequisites.</a:t>
            </a:r>
          </a:p>
        </p:txBody>
      </p:sp>
    </p:spTree>
    <p:extLst>
      <p:ext uri="{BB962C8B-B14F-4D97-AF65-F5344CB8AC3E}">
        <p14:creationId xmlns:p14="http://schemas.microsoft.com/office/powerpoint/2010/main" val="1269507016"/>
      </p:ext>
    </p:extLst>
  </p:cSld>
</p:sld>
</file>

<file path=ppt/slides/slide8.xml><?xml version="1.0" encoding="utf-8"?>
<p:sld xmlns:p="http://schemas.openxmlformats.org/presentationml/2006/main">
  <p:cSld>
    <p:bg>
      <p:bgPr>
        <a:solidFill xmlns:a="http://schemas.openxmlformats.org/drawingml/2006/main">
          <a:srgbClr val="F8F6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A870DE2-F0FC-4106-843A-2359F7A7F9C2}"/>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Readiness before wider use</a:t>
            </a:r>
          </a:p>
        </p:txBody>
      </p:sp>
      <p:sp>
        <p:nvSpPr>
          <p:cNvPr id="2" name="">
            <a:extLst xmlns:a="http://schemas.openxmlformats.org/drawingml/2006/main">
              <a:ext uri="{FF2B5EF4-FFF2-40B4-BE49-F238E27FC236}">
                <a16:creationId xmlns:a16="http://schemas.microsoft.com/office/drawing/2014/main" id="{B47FDBCA-512C-4FF7-A7EF-B68AE4E63CE4}"/>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F107E983-E39C-4805-AA55-98A0B8798AA0}"/>
              </a:ext>
            </a:extLst>
          </p:cNvPr>
          <p:cNvSpPr>
            <a:spLocks xmlns:a="http://schemas.openxmlformats.org/drawingml/2006/main" noGrp="1"/>
          </p:cNvSpPr>
          <p:nvPr/>
        </p:nvSpPr>
        <p:spPr>
          <a:xfrm xmlns:a="http://schemas.openxmlformats.org/drawingml/2006/main">
            <a:off x="685800" y="192405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Payment correctness</a:t>
            </a:r>
          </a:p>
        </p:txBody>
      </p:sp>
      <p:sp>
        <p:nvSpPr>
          <p:cNvPr id="4" name="">
            <a:extLst xmlns:a="http://schemas.openxmlformats.org/drawingml/2006/main">
              <a:ext uri="{FF2B5EF4-FFF2-40B4-BE49-F238E27FC236}">
                <a16:creationId xmlns:a16="http://schemas.microsoft.com/office/drawing/2014/main" id="{62A96331-B684-484A-A528-2776EC06C049}"/>
              </a:ext>
            </a:extLst>
          </p:cNvPr>
          <p:cNvSpPr>
            <a:spLocks xmlns:a="http://schemas.openxmlformats.org/drawingml/2006/main" noGrp="1"/>
          </p:cNvSpPr>
          <p:nvPr/>
        </p:nvSpPr>
        <p:spPr>
          <a:xfrm xmlns:a="http://schemas.openxmlformats.org/drawingml/2006/main">
            <a:off x="4076700" y="19240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Confirm server totals, stock checks and safe handling of uncertain or repeated payment.</a:t>
            </a:r>
          </a:p>
        </p:txBody>
      </p:sp>
      <p:sp>
        <p:nvSpPr>
          <p:cNvPr id="5" name="">
            <a:extLst xmlns:a="http://schemas.openxmlformats.org/drawingml/2006/main">
              <a:ext uri="{FF2B5EF4-FFF2-40B4-BE49-F238E27FC236}">
                <a16:creationId xmlns:a16="http://schemas.microsoft.com/office/drawing/2014/main" id="{86A1EA4C-CADE-4893-ACF3-C7DB46E69EFF}"/>
              </a:ext>
            </a:extLst>
          </p:cNvPr>
          <p:cNvSpPr>
            <a:spLocks xmlns:a="http://schemas.openxmlformats.org/drawingml/2006/main" noGrp="1"/>
          </p:cNvSpPr>
          <p:nvPr/>
        </p:nvSpPr>
        <p:spPr>
          <a:xfrm xmlns:a="http://schemas.openxmlformats.org/drawingml/2006/main">
            <a:off x="685800" y="2905125"/>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Order mapping</a:t>
            </a:r>
          </a:p>
        </p:txBody>
      </p:sp>
      <p:sp>
        <p:nvSpPr>
          <p:cNvPr id="6" name="">
            <a:extLst xmlns:a="http://schemas.openxmlformats.org/drawingml/2006/main">
              <a:ext uri="{FF2B5EF4-FFF2-40B4-BE49-F238E27FC236}">
                <a16:creationId xmlns:a16="http://schemas.microsoft.com/office/drawing/2014/main" id="{D023870C-9AF8-4818-98DB-21E1399FC79D}"/>
              </a:ext>
            </a:extLst>
          </p:cNvPr>
          <p:cNvSpPr>
            <a:spLocks xmlns:a="http://schemas.openxmlformats.org/drawingml/2006/main" noGrp="1"/>
          </p:cNvSpPr>
          <p:nvPr/>
        </p:nvSpPr>
        <p:spPr>
          <a:xfrm xmlns:a="http://schemas.openxmlformats.org/drawingml/2006/main">
            <a:off x="4076700" y="2905125"/>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Verify meal-session IDs and outlet rules. Restrict the initial scope accordingly.</a:t>
            </a:r>
          </a:p>
        </p:txBody>
      </p:sp>
      <p:sp>
        <p:nvSpPr>
          <p:cNvPr id="7" name="">
            <a:extLst xmlns:a="http://schemas.openxmlformats.org/drawingml/2006/main">
              <a:ext uri="{FF2B5EF4-FFF2-40B4-BE49-F238E27FC236}">
                <a16:creationId xmlns:a16="http://schemas.microsoft.com/office/drawing/2014/main" id="{CA95FC67-FD53-4EC5-AE31-F622C3106BF0}"/>
              </a:ext>
            </a:extLst>
          </p:cNvPr>
          <p:cNvSpPr>
            <a:spLocks xmlns:a="http://schemas.openxmlformats.org/drawingml/2006/main" noGrp="1"/>
          </p:cNvSpPr>
          <p:nvPr/>
        </p:nvSpPr>
        <p:spPr>
          <a:xfrm xmlns:a="http://schemas.openxmlformats.org/drawingml/2006/main">
            <a:off x="685800" y="388620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Collection rules</a:t>
            </a:r>
          </a:p>
        </p:txBody>
      </p:sp>
      <p:sp>
        <p:nvSpPr>
          <p:cNvPr id="8" name="">
            <a:extLst xmlns:a="http://schemas.openxmlformats.org/drawingml/2006/main">
              <a:ext uri="{FF2B5EF4-FFF2-40B4-BE49-F238E27FC236}">
                <a16:creationId xmlns:a16="http://schemas.microsoft.com/office/drawing/2014/main" id="{4AFDD400-C849-49CD-A6DE-61CE85E33B5F}"/>
              </a:ext>
            </a:extLst>
          </p:cNvPr>
          <p:cNvSpPr>
            <a:spLocks xmlns:a="http://schemas.openxmlformats.org/drawingml/2006/main" noGrp="1"/>
          </p:cNvSpPr>
          <p:nvPr/>
        </p:nvSpPr>
        <p:spPr>
          <a:xfrm xmlns:a="http://schemas.openxmlformats.org/drawingml/2006/main">
            <a:off x="4076700" y="388620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Agree QR eligibility, expiry and single collection behaviour with the vendor.</a:t>
            </a:r>
          </a:p>
        </p:txBody>
      </p:sp>
      <p:sp>
        <p:nvSpPr>
          <p:cNvPr id="9" name="">
            <a:extLst xmlns:a="http://schemas.openxmlformats.org/drawingml/2006/main">
              <a:ext uri="{FF2B5EF4-FFF2-40B4-BE49-F238E27FC236}">
                <a16:creationId xmlns:a16="http://schemas.microsoft.com/office/drawing/2014/main" id="{AC43DA8F-A037-4CEB-866B-E6DB8ABF8295}"/>
              </a:ext>
            </a:extLst>
          </p:cNvPr>
          <p:cNvSpPr>
            <a:spLocks xmlns:a="http://schemas.openxmlformats.org/drawingml/2006/main" noGrp="1"/>
          </p:cNvSpPr>
          <p:nvPr/>
        </p:nvSpPr>
        <p:spPr>
          <a:xfrm xmlns:a="http://schemas.openxmlformats.org/drawingml/2006/main">
            <a:off x="685800" y="4867275"/>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Reordering</a:t>
            </a:r>
          </a:p>
        </p:txBody>
      </p:sp>
      <p:sp>
        <p:nvSpPr>
          <p:cNvPr id="10" name="">
            <a:extLst xmlns:a="http://schemas.openxmlformats.org/drawingml/2006/main">
              <a:ext uri="{FF2B5EF4-FFF2-40B4-BE49-F238E27FC236}">
                <a16:creationId xmlns:a16="http://schemas.microsoft.com/office/drawing/2014/main" id="{06899934-F050-4C10-9F58-B01CDB7D48E3}"/>
              </a:ext>
            </a:extLst>
          </p:cNvPr>
          <p:cNvSpPr>
            <a:spLocks xmlns:a="http://schemas.openxmlformats.org/drawingml/2006/main" noGrp="1"/>
          </p:cNvSpPr>
          <p:nvPr/>
        </p:nvSpPr>
        <p:spPr>
          <a:xfrm xmlns:a="http://schemas.openxmlformats.org/drawingml/2006/main">
            <a:off x="4076700" y="4867275"/>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Replace fallback item creation with verified current-menu matching.</a:t>
            </a:r>
          </a:p>
        </p:txBody>
      </p:sp>
    </p:spTree>
    <p:extLst>
      <p:ext uri="{BB962C8B-B14F-4D97-AF65-F5344CB8AC3E}">
        <p14:creationId xmlns:p14="http://schemas.microsoft.com/office/powerpoint/2010/main" val="1691293244"/>
      </p:ext>
    </p:extLst>
  </p:cSld>
</p:sld>
</file>

<file path=ppt/slides/slide9.xml><?xml version="1.0" encoding="utf-8"?>
<p:sld xmlns:p="http://schemas.openxmlformats.org/presentationml/2006/main">
  <p:cSld>
    <p:bg>
      <p:bgPr>
        <a:solidFill xmlns:a="http://schemas.openxmlformats.org/drawingml/2006/main">
          <a:srgbClr val="F8F6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5600D12-589F-4CEE-8B50-DCEF3AAADE21}"/>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A controlled pilot</a:t>
            </a:r>
          </a:p>
        </p:txBody>
      </p:sp>
      <p:sp>
        <p:nvSpPr>
          <p:cNvPr id="2" name="">
            <a:extLst xmlns:a="http://schemas.openxmlformats.org/drawingml/2006/main">
              <a:ext uri="{FF2B5EF4-FFF2-40B4-BE49-F238E27FC236}">
                <a16:creationId xmlns:a16="http://schemas.microsoft.com/office/drawing/2014/main" id="{5C1C7E62-11C4-47F6-AEA8-6FA938914D63}"/>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6A5B0F4C-D470-4116-8970-24E45868A9E4}"/>
              </a:ext>
            </a:extLst>
          </p:cNvPr>
          <p:cNvSpPr>
            <a:spLocks xmlns:a="http://schemas.openxmlformats.org/drawingml/2006/main" noGrp="1"/>
          </p:cNvSpPr>
          <p:nvPr/>
        </p:nvSpPr>
        <p:spPr>
          <a:xfrm xmlns:a="http://schemas.openxmlformats.org/drawingml/2006/main">
            <a:off x="685800" y="192405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Week 1</a:t>
            </a:r>
          </a:p>
        </p:txBody>
      </p:sp>
      <p:sp>
        <p:nvSpPr>
          <p:cNvPr id="4" name="">
            <a:extLst xmlns:a="http://schemas.openxmlformats.org/drawingml/2006/main">
              <a:ext uri="{FF2B5EF4-FFF2-40B4-BE49-F238E27FC236}">
                <a16:creationId xmlns:a16="http://schemas.microsoft.com/office/drawing/2014/main" id="{BBCF85C2-5B85-4105-BF4F-8D5A5069CB1E}"/>
              </a:ext>
            </a:extLst>
          </p:cNvPr>
          <p:cNvSpPr>
            <a:spLocks xmlns:a="http://schemas.openxmlformats.org/drawingml/2006/main" noGrp="1"/>
          </p:cNvSpPr>
          <p:nvPr/>
        </p:nvSpPr>
        <p:spPr>
          <a:xfrm xmlns:a="http://schemas.openxmlformats.org/drawingml/2006/main">
            <a:off x="4076700" y="19240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Train staff, onboard volunteers and verify each order through collection.</a:t>
            </a:r>
          </a:p>
        </p:txBody>
      </p:sp>
      <p:sp>
        <p:nvSpPr>
          <p:cNvPr id="5" name="">
            <a:extLst xmlns:a="http://schemas.openxmlformats.org/drawingml/2006/main">
              <a:ext uri="{FF2B5EF4-FFF2-40B4-BE49-F238E27FC236}">
                <a16:creationId xmlns:a16="http://schemas.microsoft.com/office/drawing/2014/main" id="{9B91E2A0-873A-41DB-81DB-B9FBC1371AE5}"/>
              </a:ext>
            </a:extLst>
          </p:cNvPr>
          <p:cNvSpPr>
            <a:spLocks xmlns:a="http://schemas.openxmlformats.org/drawingml/2006/main" noGrp="1"/>
          </p:cNvSpPr>
          <p:nvPr/>
        </p:nvSpPr>
        <p:spPr>
          <a:xfrm xmlns:a="http://schemas.openxmlformats.org/drawingml/2006/main">
            <a:off x="685800" y="2905125"/>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Week 2</a:t>
            </a:r>
          </a:p>
        </p:txBody>
      </p:sp>
      <p:sp>
        <p:nvSpPr>
          <p:cNvPr id="6" name="">
            <a:extLst xmlns:a="http://schemas.openxmlformats.org/drawingml/2006/main">
              <a:ext uri="{FF2B5EF4-FFF2-40B4-BE49-F238E27FC236}">
                <a16:creationId xmlns:a16="http://schemas.microsoft.com/office/drawing/2014/main" id="{DBE2A658-C7B1-4AD0-A896-110C17F5935E}"/>
              </a:ext>
            </a:extLst>
          </p:cNvPr>
          <p:cNvSpPr>
            <a:spLocks xmlns:a="http://schemas.openxmlformats.org/drawingml/2006/main" noGrp="1"/>
          </p:cNvSpPr>
          <p:nvPr/>
        </p:nvSpPr>
        <p:spPr>
          <a:xfrm xmlns:a="http://schemas.openxmlformats.org/drawingml/2006/main">
            <a:off x="4076700" y="2905125"/>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Observe ordinary meal periods and record support issues.</a:t>
            </a:r>
          </a:p>
        </p:txBody>
      </p:sp>
      <p:sp>
        <p:nvSpPr>
          <p:cNvPr id="7" name="">
            <a:extLst xmlns:a="http://schemas.openxmlformats.org/drawingml/2006/main">
              <a:ext uri="{FF2B5EF4-FFF2-40B4-BE49-F238E27FC236}">
                <a16:creationId xmlns:a16="http://schemas.microsoft.com/office/drawing/2014/main" id="{19CEEF95-2F1B-4F1D-B1B6-6A4756C83598}"/>
              </a:ext>
            </a:extLst>
          </p:cNvPr>
          <p:cNvSpPr>
            <a:spLocks xmlns:a="http://schemas.openxmlformats.org/drawingml/2006/main" noGrp="1"/>
          </p:cNvSpPr>
          <p:nvPr/>
        </p:nvSpPr>
        <p:spPr>
          <a:xfrm xmlns:a="http://schemas.openxmlformats.org/drawingml/2006/main">
            <a:off x="685800" y="388620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Week 3</a:t>
            </a:r>
          </a:p>
        </p:txBody>
      </p:sp>
      <p:sp>
        <p:nvSpPr>
          <p:cNvPr id="8" name="">
            <a:extLst xmlns:a="http://schemas.openxmlformats.org/drawingml/2006/main">
              <a:ext uri="{FF2B5EF4-FFF2-40B4-BE49-F238E27FC236}">
                <a16:creationId xmlns:a16="http://schemas.microsoft.com/office/drawing/2014/main" id="{48C67FDF-ADD0-4F7B-9D85-27CA487D941F}"/>
              </a:ext>
            </a:extLst>
          </p:cNvPr>
          <p:cNvSpPr>
            <a:spLocks xmlns:a="http://schemas.openxmlformats.org/drawingml/2006/main" noGrp="1"/>
          </p:cNvSpPr>
          <p:nvPr/>
        </p:nvSpPr>
        <p:spPr>
          <a:xfrm xmlns:a="http://schemas.openxmlformats.org/drawingml/2006/main">
            <a:off x="4076700" y="388620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Run supervised peak-time checks within vendor-approved limits.</a:t>
            </a:r>
          </a:p>
        </p:txBody>
      </p:sp>
      <p:sp>
        <p:nvSpPr>
          <p:cNvPr id="9" name="">
            <a:extLst xmlns:a="http://schemas.openxmlformats.org/drawingml/2006/main">
              <a:ext uri="{FF2B5EF4-FFF2-40B4-BE49-F238E27FC236}">
                <a16:creationId xmlns:a16="http://schemas.microsoft.com/office/drawing/2014/main" id="{5C67A23B-FB9B-4156-A8A2-E1587F7C2545}"/>
              </a:ext>
            </a:extLst>
          </p:cNvPr>
          <p:cNvSpPr>
            <a:spLocks xmlns:a="http://schemas.openxmlformats.org/drawingml/2006/main" noGrp="1"/>
          </p:cNvSpPr>
          <p:nvPr/>
        </p:nvSpPr>
        <p:spPr>
          <a:xfrm xmlns:a="http://schemas.openxmlformats.org/drawingml/2006/main">
            <a:off x="685800" y="4867275"/>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Week 4</a:t>
            </a:r>
          </a:p>
        </p:txBody>
      </p:sp>
      <p:sp>
        <p:nvSpPr>
          <p:cNvPr id="10" name="">
            <a:extLst xmlns:a="http://schemas.openxmlformats.org/drawingml/2006/main">
              <a:ext uri="{FF2B5EF4-FFF2-40B4-BE49-F238E27FC236}">
                <a16:creationId xmlns:a16="http://schemas.microsoft.com/office/drawing/2014/main" id="{BCD8C561-E110-4928-B68E-C15890170BAF}"/>
              </a:ext>
            </a:extLst>
          </p:cNvPr>
          <p:cNvSpPr>
            <a:spLocks xmlns:a="http://schemas.openxmlformats.org/drawingml/2006/main" noGrp="1"/>
          </p:cNvSpPr>
          <p:nvPr/>
        </p:nvSpPr>
        <p:spPr>
          <a:xfrm xmlns:a="http://schemas.openxmlformats.org/drawingml/2006/main">
            <a:off x="4076700" y="4867275"/>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Reconcile results and decide whether to expand, extend or pause.</a:t>
            </a:r>
          </a:p>
        </p:txBody>
      </p:sp>
    </p:spTree>
    <p:extLst>
      <p:ext uri="{BB962C8B-B14F-4D97-AF65-F5344CB8AC3E}">
        <p14:creationId xmlns:p14="http://schemas.microsoft.com/office/powerpoint/2010/main" val="996761639"/>
      </p:ext>
    </p:extLst>
  </p:cSld>
</p:sld>
</file>

<file path=ppt/slides/slide10.xml><?xml version="1.0" encoding="utf-8"?>
<p:sld xmlns:p="http://schemas.openxmlformats.org/presentationml/2006/main">
  <p:cSld>
    <p:bg>
      <p:bgPr>
        <a:solidFill xmlns:a="http://schemas.openxmlformats.org/drawingml/2006/main">
          <a:srgbClr val="F8F6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B69C88B-3204-47D9-ACA5-38048A7B3455}"/>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Phased hostel-wide rollout</a:t>
            </a:r>
          </a:p>
        </p:txBody>
      </p:sp>
      <p:sp>
        <p:nvSpPr>
          <p:cNvPr id="2" name="">
            <a:extLst xmlns:a="http://schemas.openxmlformats.org/drawingml/2006/main">
              <a:ext uri="{FF2B5EF4-FFF2-40B4-BE49-F238E27FC236}">
                <a16:creationId xmlns:a16="http://schemas.microsoft.com/office/drawing/2014/main" id="{06BFD946-7895-467C-8097-A80C588F36A6}"/>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E262D618-C749-471E-B44F-2ADFAA670E69}"/>
              </a:ext>
            </a:extLst>
          </p:cNvPr>
          <p:cNvSpPr>
            <a:spLocks xmlns:a="http://schemas.openxmlformats.org/drawingml/2006/main" noGrp="1"/>
          </p:cNvSpPr>
          <p:nvPr/>
        </p:nvSpPr>
        <p:spPr>
          <a:xfrm xmlns:a="http://schemas.openxmlformats.org/drawingml/2006/main">
            <a:off x="685800" y="2085975"/>
            <a:ext cx="23050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5700" b="1">
                <a:solidFill>
                  <a:srgbClr val="6740B3"/>
                </a:solidFill>
                <a:latin typeface="Arial"/>
                <a:ea typeface="Arial"/>
                <a:cs typeface="Arial"/>
              </a:defRPr>
            </a:defPPr>
          </a:lstStyle>
          <a:p xmlns:a="http://schemas.openxmlformats.org/drawingml/2006/main">
            <a:pPr>
              <a:defRPr sz="5700" b="1">
                <a:solidFill>
                  <a:srgbClr val="6740B3"/>
                </a:solidFill>
                <a:latin typeface="Arial"/>
                <a:ea typeface="Arial"/>
                <a:cs typeface="Arial"/>
              </a:defRPr>
            </a:pPr>
            <a:r>
              <a:rPr sz="5700" b="1">
                <a:solidFill>
                  <a:srgbClr val="6740B3"/>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2C4175EF-5E0B-4078-9068-F7AA05A6046F}"/>
              </a:ext>
            </a:extLst>
          </p:cNvPr>
          <p:cNvSpPr>
            <a:spLocks xmlns:a="http://schemas.openxmlformats.org/drawingml/2006/main" noGrp="1"/>
          </p:cNvSpPr>
          <p:nvPr/>
        </p:nvSpPr>
        <p:spPr>
          <a:xfrm xmlns:a="http://schemas.openxmlformats.org/drawingml/2006/main">
            <a:off x="685800" y="3343275"/>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1">
                <a:solidFill>
                  <a:srgbClr val="121212"/>
                </a:solidFill>
                <a:latin typeface="Arial"/>
                <a:ea typeface="Arial"/>
                <a:cs typeface="Arial"/>
              </a:defRPr>
            </a:defPPr>
          </a:lstStyle>
          <a:p xmlns:a="http://schemas.openxmlformats.org/drawingml/2006/main">
            <a:pPr>
              <a:defRPr sz="2325" b="1">
                <a:solidFill>
                  <a:srgbClr val="121212"/>
                </a:solidFill>
                <a:latin typeface="Arial"/>
                <a:ea typeface="Arial"/>
                <a:cs typeface="Arial"/>
              </a:defRPr>
            </a:pPr>
            <a:r>
              <a:rPr sz="2325" b="1">
                <a:solidFill>
                  <a:srgbClr val="121212"/>
                </a:solidFill>
                <a:latin typeface="Arial"/>
                <a:ea typeface="Arial"/>
                <a:cs typeface="Arial"/>
              </a:rPr>
              <a:t>Readiness</a:t>
            </a:r>
          </a:p>
        </p:txBody>
      </p:sp>
      <p:sp>
        <p:nvSpPr>
          <p:cNvPr id="5" name="">
            <a:extLst xmlns:a="http://schemas.openxmlformats.org/drawingml/2006/main">
              <a:ext uri="{FF2B5EF4-FFF2-40B4-BE49-F238E27FC236}">
                <a16:creationId xmlns:a16="http://schemas.microsoft.com/office/drawing/2014/main" id="{DE495995-B9A7-47ED-8809-2B1B83AC236B}"/>
              </a:ext>
            </a:extLst>
          </p:cNvPr>
          <p:cNvSpPr>
            <a:spLocks xmlns:a="http://schemas.openxmlformats.org/drawingml/2006/main" noGrp="1"/>
          </p:cNvSpPr>
          <p:nvPr/>
        </p:nvSpPr>
        <p:spPr>
          <a:xfrm xmlns:a="http://schemas.openxmlformats.org/drawingml/2006/main">
            <a:off x="685800" y="4124325"/>
            <a:ext cx="23622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121212"/>
                </a:solidFill>
                <a:latin typeface="Arial"/>
                <a:ea typeface="Arial"/>
                <a:cs typeface="Arial"/>
              </a:defRPr>
            </a:defPPr>
          </a:lstStyle>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Integration agreement</a:t>
            </a:r>
          </a:p>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and acceptance tests</a:t>
            </a:r>
          </a:p>
        </p:txBody>
      </p:sp>
      <p:sp>
        <p:nvSpPr>
          <p:cNvPr id="6" name="">
            <a:extLst xmlns:a="http://schemas.openxmlformats.org/drawingml/2006/main">
              <a:ext uri="{FF2B5EF4-FFF2-40B4-BE49-F238E27FC236}">
                <a16:creationId xmlns:a16="http://schemas.microsoft.com/office/drawing/2014/main" id="{E5BCB06D-7CCA-405D-AC55-71B2DE3F3FF4}"/>
              </a:ext>
            </a:extLst>
          </p:cNvPr>
          <p:cNvSpPr>
            <a:spLocks xmlns:a="http://schemas.openxmlformats.org/drawingml/2006/main" noGrp="1"/>
          </p:cNvSpPr>
          <p:nvPr/>
        </p:nvSpPr>
        <p:spPr>
          <a:xfrm xmlns:a="http://schemas.openxmlformats.org/drawingml/2006/main">
            <a:off x="3467100" y="2085975"/>
            <a:ext cx="23050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5700" b="1">
                <a:solidFill>
                  <a:srgbClr val="6740B3"/>
                </a:solidFill>
                <a:latin typeface="Arial"/>
                <a:ea typeface="Arial"/>
                <a:cs typeface="Arial"/>
              </a:defRPr>
            </a:defPPr>
          </a:lstStyle>
          <a:p xmlns:a="http://schemas.openxmlformats.org/drawingml/2006/main">
            <a:pPr>
              <a:defRPr sz="5700" b="1">
                <a:solidFill>
                  <a:srgbClr val="6740B3"/>
                </a:solidFill>
                <a:latin typeface="Arial"/>
                <a:ea typeface="Arial"/>
                <a:cs typeface="Arial"/>
              </a:defRPr>
            </a:pPr>
            <a:r>
              <a:rPr sz="5700" b="1">
                <a:solidFill>
                  <a:srgbClr val="6740B3"/>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140A4BE1-8C83-4D13-B9C6-45CAAE7DF553}"/>
              </a:ext>
            </a:extLst>
          </p:cNvPr>
          <p:cNvSpPr>
            <a:spLocks xmlns:a="http://schemas.openxmlformats.org/drawingml/2006/main" noGrp="1"/>
          </p:cNvSpPr>
          <p:nvPr/>
        </p:nvSpPr>
        <p:spPr>
          <a:xfrm xmlns:a="http://schemas.openxmlformats.org/drawingml/2006/main">
            <a:off x="3467100" y="3343275"/>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1">
                <a:solidFill>
                  <a:srgbClr val="121212"/>
                </a:solidFill>
                <a:latin typeface="Arial"/>
                <a:ea typeface="Arial"/>
                <a:cs typeface="Arial"/>
              </a:defRPr>
            </a:defPPr>
          </a:lstStyle>
          <a:p xmlns:a="http://schemas.openxmlformats.org/drawingml/2006/main">
            <a:pPr>
              <a:defRPr sz="2325" b="1">
                <a:solidFill>
                  <a:srgbClr val="121212"/>
                </a:solidFill>
                <a:latin typeface="Arial"/>
                <a:ea typeface="Arial"/>
                <a:cs typeface="Arial"/>
              </a:defRPr>
            </a:pPr>
            <a:r>
              <a:rPr sz="2325" b="1">
                <a:solidFill>
                  <a:srgbClr val="121212"/>
                </a:solidFill>
                <a:latin typeface="Arial"/>
                <a:ea typeface="Arial"/>
                <a:cs typeface="Arial"/>
              </a:rPr>
              <a:t>Pilot</a:t>
            </a:r>
          </a:p>
        </p:txBody>
      </p:sp>
      <p:sp>
        <p:nvSpPr>
          <p:cNvPr id="8" name="">
            <a:extLst xmlns:a="http://schemas.openxmlformats.org/drawingml/2006/main">
              <a:ext uri="{FF2B5EF4-FFF2-40B4-BE49-F238E27FC236}">
                <a16:creationId xmlns:a16="http://schemas.microsoft.com/office/drawing/2014/main" id="{655776B8-DDE4-4CAF-8E4C-64D0701DBFB3}"/>
              </a:ext>
            </a:extLst>
          </p:cNvPr>
          <p:cNvSpPr>
            <a:spLocks xmlns:a="http://schemas.openxmlformats.org/drawingml/2006/main" noGrp="1"/>
          </p:cNvSpPr>
          <p:nvPr/>
        </p:nvSpPr>
        <p:spPr>
          <a:xfrm xmlns:a="http://schemas.openxmlformats.org/drawingml/2006/main">
            <a:off x="3467100" y="4124325"/>
            <a:ext cx="23622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121212"/>
                </a:solidFill>
                <a:latin typeface="Arial"/>
                <a:ea typeface="Arial"/>
                <a:cs typeface="Arial"/>
              </a:defRPr>
            </a:defPPr>
          </a:lstStyle>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One hostel and outlet</a:t>
            </a:r>
          </a:p>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with supervised support</a:t>
            </a:r>
          </a:p>
        </p:txBody>
      </p:sp>
      <p:sp>
        <p:nvSpPr>
          <p:cNvPr id="9" name="">
            <a:extLst xmlns:a="http://schemas.openxmlformats.org/drawingml/2006/main">
              <a:ext uri="{FF2B5EF4-FFF2-40B4-BE49-F238E27FC236}">
                <a16:creationId xmlns:a16="http://schemas.microsoft.com/office/drawing/2014/main" id="{CC5B20EA-A228-4440-96F2-E69E00227714}"/>
              </a:ext>
            </a:extLst>
          </p:cNvPr>
          <p:cNvSpPr>
            <a:spLocks xmlns:a="http://schemas.openxmlformats.org/drawingml/2006/main" noGrp="1"/>
          </p:cNvSpPr>
          <p:nvPr/>
        </p:nvSpPr>
        <p:spPr>
          <a:xfrm xmlns:a="http://schemas.openxmlformats.org/drawingml/2006/main">
            <a:off x="6248400" y="2085975"/>
            <a:ext cx="23050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5700" b="1">
                <a:solidFill>
                  <a:srgbClr val="6740B3"/>
                </a:solidFill>
                <a:latin typeface="Arial"/>
                <a:ea typeface="Arial"/>
                <a:cs typeface="Arial"/>
              </a:defRPr>
            </a:defPPr>
          </a:lstStyle>
          <a:p xmlns:a="http://schemas.openxmlformats.org/drawingml/2006/main">
            <a:pPr>
              <a:defRPr sz="5700" b="1">
                <a:solidFill>
                  <a:srgbClr val="6740B3"/>
                </a:solidFill>
                <a:latin typeface="Arial"/>
                <a:ea typeface="Arial"/>
                <a:cs typeface="Arial"/>
              </a:defRPr>
            </a:pPr>
            <a:r>
              <a:rPr sz="5700" b="1">
                <a:solidFill>
                  <a:srgbClr val="6740B3"/>
                </a:solidFill>
                <a:latin typeface="Arial"/>
                <a:ea typeface="Arial"/>
                <a:cs typeface="Arial"/>
              </a:rPr>
              <a:t>3</a:t>
            </a:r>
          </a:p>
        </p:txBody>
      </p:sp>
      <p:sp>
        <p:nvSpPr>
          <p:cNvPr id="10" name="">
            <a:extLst xmlns:a="http://schemas.openxmlformats.org/drawingml/2006/main">
              <a:ext uri="{FF2B5EF4-FFF2-40B4-BE49-F238E27FC236}">
                <a16:creationId xmlns:a16="http://schemas.microsoft.com/office/drawing/2014/main" id="{97FEFE46-CAF6-4B39-A0E4-7B77CB5B6D97}"/>
              </a:ext>
            </a:extLst>
          </p:cNvPr>
          <p:cNvSpPr>
            <a:spLocks xmlns:a="http://schemas.openxmlformats.org/drawingml/2006/main" noGrp="1"/>
          </p:cNvSpPr>
          <p:nvPr/>
        </p:nvSpPr>
        <p:spPr>
          <a:xfrm xmlns:a="http://schemas.openxmlformats.org/drawingml/2006/main">
            <a:off x="6248400" y="3343275"/>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1">
                <a:solidFill>
                  <a:srgbClr val="121212"/>
                </a:solidFill>
                <a:latin typeface="Arial"/>
                <a:ea typeface="Arial"/>
                <a:cs typeface="Arial"/>
              </a:defRPr>
            </a:defPPr>
          </a:lstStyle>
          <a:p xmlns:a="http://schemas.openxmlformats.org/drawingml/2006/main">
            <a:pPr>
              <a:defRPr sz="2325" b="1">
                <a:solidFill>
                  <a:srgbClr val="121212"/>
                </a:solidFill>
                <a:latin typeface="Arial"/>
                <a:ea typeface="Arial"/>
                <a:cs typeface="Arial"/>
              </a:defRPr>
            </a:pPr>
            <a:r>
              <a:rPr sz="2325" b="1">
                <a:solidFill>
                  <a:srgbClr val="121212"/>
                </a:solidFill>
                <a:latin typeface="Arial"/>
                <a:ea typeface="Arial"/>
                <a:cs typeface="Arial"/>
              </a:rPr>
              <a:t>Expand</a:t>
            </a:r>
          </a:p>
        </p:txBody>
      </p:sp>
      <p:sp>
        <p:nvSpPr>
          <p:cNvPr id="11" name="">
            <a:extLst xmlns:a="http://schemas.openxmlformats.org/drawingml/2006/main">
              <a:ext uri="{FF2B5EF4-FFF2-40B4-BE49-F238E27FC236}">
                <a16:creationId xmlns:a16="http://schemas.microsoft.com/office/drawing/2014/main" id="{C667898D-E337-4D49-A012-D71AF9EE55E9}"/>
              </a:ext>
            </a:extLst>
          </p:cNvPr>
          <p:cNvSpPr>
            <a:spLocks xmlns:a="http://schemas.openxmlformats.org/drawingml/2006/main" noGrp="1"/>
          </p:cNvSpPr>
          <p:nvPr/>
        </p:nvSpPr>
        <p:spPr>
          <a:xfrm xmlns:a="http://schemas.openxmlformats.org/drawingml/2006/main">
            <a:off x="6248400" y="4124325"/>
            <a:ext cx="23622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121212"/>
                </a:solidFill>
                <a:latin typeface="Arial"/>
                <a:ea typeface="Arial"/>
                <a:cs typeface="Arial"/>
              </a:defRPr>
            </a:defPPr>
          </a:lstStyle>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More hostels and sessions</a:t>
            </a:r>
          </a:p>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after a review</a:t>
            </a:r>
          </a:p>
        </p:txBody>
      </p:sp>
      <p:sp>
        <p:nvSpPr>
          <p:cNvPr id="12" name="">
            <a:extLst xmlns:a="http://schemas.openxmlformats.org/drawingml/2006/main">
              <a:ext uri="{FF2B5EF4-FFF2-40B4-BE49-F238E27FC236}">
                <a16:creationId xmlns:a16="http://schemas.microsoft.com/office/drawing/2014/main" id="{7F2199F3-D920-4184-8A1B-FDD7FED23D1B}"/>
              </a:ext>
            </a:extLst>
          </p:cNvPr>
          <p:cNvSpPr>
            <a:spLocks xmlns:a="http://schemas.openxmlformats.org/drawingml/2006/main" noGrp="1"/>
          </p:cNvSpPr>
          <p:nvPr/>
        </p:nvSpPr>
        <p:spPr>
          <a:xfrm xmlns:a="http://schemas.openxmlformats.org/drawingml/2006/main">
            <a:off x="9029700" y="2085975"/>
            <a:ext cx="23050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5700" b="1">
                <a:solidFill>
                  <a:srgbClr val="6740B3"/>
                </a:solidFill>
                <a:latin typeface="Arial"/>
                <a:ea typeface="Arial"/>
                <a:cs typeface="Arial"/>
              </a:defRPr>
            </a:defPPr>
          </a:lstStyle>
          <a:p xmlns:a="http://schemas.openxmlformats.org/drawingml/2006/main">
            <a:pPr>
              <a:defRPr sz="5700" b="1">
                <a:solidFill>
                  <a:srgbClr val="6740B3"/>
                </a:solidFill>
                <a:latin typeface="Arial"/>
                <a:ea typeface="Arial"/>
                <a:cs typeface="Arial"/>
              </a:defRPr>
            </a:pPr>
            <a:r>
              <a:rPr sz="5700" b="1">
                <a:solidFill>
                  <a:srgbClr val="6740B3"/>
                </a:solidFill>
                <a:latin typeface="Arial"/>
                <a:ea typeface="Arial"/>
                <a:cs typeface="Arial"/>
              </a:rPr>
              <a:t>4</a:t>
            </a:r>
          </a:p>
        </p:txBody>
      </p:sp>
      <p:sp>
        <p:nvSpPr>
          <p:cNvPr id="13" name="">
            <a:extLst xmlns:a="http://schemas.openxmlformats.org/drawingml/2006/main">
              <a:ext uri="{FF2B5EF4-FFF2-40B4-BE49-F238E27FC236}">
                <a16:creationId xmlns:a16="http://schemas.microsoft.com/office/drawing/2014/main" id="{7C279697-6DE7-49DE-B924-30C38CC3227D}"/>
              </a:ext>
            </a:extLst>
          </p:cNvPr>
          <p:cNvSpPr>
            <a:spLocks xmlns:a="http://schemas.openxmlformats.org/drawingml/2006/main" noGrp="1"/>
          </p:cNvSpPr>
          <p:nvPr/>
        </p:nvSpPr>
        <p:spPr>
          <a:xfrm xmlns:a="http://schemas.openxmlformats.org/drawingml/2006/main">
            <a:off x="9029700" y="3343275"/>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1">
                <a:solidFill>
                  <a:srgbClr val="121212"/>
                </a:solidFill>
                <a:latin typeface="Arial"/>
                <a:ea typeface="Arial"/>
                <a:cs typeface="Arial"/>
              </a:defRPr>
            </a:defPPr>
          </a:lstStyle>
          <a:p xmlns:a="http://schemas.openxmlformats.org/drawingml/2006/main">
            <a:pPr>
              <a:defRPr sz="2325" b="1">
                <a:solidFill>
                  <a:srgbClr val="121212"/>
                </a:solidFill>
                <a:latin typeface="Arial"/>
                <a:ea typeface="Arial"/>
                <a:cs typeface="Arial"/>
              </a:defRPr>
            </a:pPr>
            <a:r>
              <a:rPr sz="2325" b="1">
                <a:solidFill>
                  <a:srgbClr val="121212"/>
                </a:solidFill>
                <a:latin typeface="Arial"/>
                <a:ea typeface="Arial"/>
                <a:cs typeface="Arial"/>
              </a:rPr>
              <a:t>Institution</a:t>
            </a:r>
          </a:p>
        </p:txBody>
      </p:sp>
      <p:sp>
        <p:nvSpPr>
          <p:cNvPr id="14" name="">
            <a:extLst xmlns:a="http://schemas.openxmlformats.org/drawingml/2006/main">
              <a:ext uri="{FF2B5EF4-FFF2-40B4-BE49-F238E27FC236}">
                <a16:creationId xmlns:a16="http://schemas.microsoft.com/office/drawing/2014/main" id="{6B4B2198-1CA3-488D-811B-ED726D0DDBF0}"/>
              </a:ext>
            </a:extLst>
          </p:cNvPr>
          <p:cNvSpPr>
            <a:spLocks xmlns:a="http://schemas.openxmlformats.org/drawingml/2006/main" noGrp="1"/>
          </p:cNvSpPr>
          <p:nvPr/>
        </p:nvSpPr>
        <p:spPr>
          <a:xfrm xmlns:a="http://schemas.openxmlformats.org/drawingml/2006/main">
            <a:off x="9029700" y="4124325"/>
            <a:ext cx="23622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121212"/>
                </a:solidFill>
                <a:latin typeface="Arial"/>
                <a:ea typeface="Arial"/>
                <a:cs typeface="Arial"/>
              </a:defRPr>
            </a:defPPr>
          </a:lstStyle>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Managed releases</a:t>
            </a:r>
          </a:p>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and ongoing service review</a:t>
            </a:r>
          </a:p>
        </p:txBody>
      </p:sp>
      <p:sp>
        <p:nvSpPr>
          <p:cNvPr id="15" name="">
            <a:extLst xmlns:a="http://schemas.openxmlformats.org/drawingml/2006/main">
              <a:ext uri="{FF2B5EF4-FFF2-40B4-BE49-F238E27FC236}">
                <a16:creationId xmlns:a16="http://schemas.microsoft.com/office/drawing/2014/main" id="{038A07BD-A133-40F1-A7D6-CC29730718FD}"/>
              </a:ext>
            </a:extLst>
          </p:cNvPr>
          <p:cNvSpPr>
            <a:spLocks xmlns:a="http://schemas.openxmlformats.org/drawingml/2006/main" noGrp="1"/>
          </p:cNvSpPr>
          <p:nvPr/>
        </p:nvSpPr>
        <p:spPr>
          <a:xfrm xmlns:a="http://schemas.openxmlformats.org/drawingml/2006/main">
            <a:off x="685800" y="5648325"/>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1">
                <a:solidFill>
                  <a:srgbClr val="121212"/>
                </a:solidFill>
                <a:latin typeface="Arial"/>
                <a:ea typeface="Arial"/>
                <a:cs typeface="Arial"/>
              </a:defRPr>
            </a:defPPr>
          </a:lstStyle>
          <a:p xmlns:a="http://schemas.openxmlformats.org/drawingml/2006/main">
            <a:pPr>
              <a:defRPr sz="1875" b="1">
                <a:solidFill>
                  <a:srgbClr val="121212"/>
                </a:solidFill>
                <a:latin typeface="Arial"/>
                <a:ea typeface="Arial"/>
                <a:cs typeface="Arial"/>
              </a:defRPr>
            </a:pPr>
            <a:r>
              <a:rPr sz="1875" b="1">
                <a:solidFill>
                  <a:srgbClr val="121212"/>
                </a:solidFill>
                <a:latin typeface="Arial"/>
                <a:ea typeface="Arial"/>
                <a:cs typeface="Arial"/>
              </a:rPr>
              <a:t>Each expansion requires an explicit readiness decision.</a:t>
            </a:r>
          </a:p>
        </p:txBody>
      </p:sp>
    </p:spTree>
    <p:extLst>
      <p:ext uri="{BB962C8B-B14F-4D97-AF65-F5344CB8AC3E}">
        <p14:creationId xmlns:p14="http://schemas.microsoft.com/office/powerpoint/2010/main" val="2141637695"/>
      </p:ext>
    </p:extLst>
  </p:cSld>
</p:sld>
</file>

<file path=ppt/slides/slide11.xml><?xml version="1.0" encoding="utf-8"?>
<p:sld xmlns:p="http://schemas.openxmlformats.org/presentationml/2006/main">
  <p:cSld>
    <p:bg>
      <p:bgPr>
        <a:solidFill xmlns:a="http://schemas.openxmlformats.org/drawingml/2006/main">
          <a:srgbClr val="F8F6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A6EE4DD-3593-4A91-86F8-68C1230E7CA6}"/>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Ownership and support</a:t>
            </a:r>
          </a:p>
        </p:txBody>
      </p:sp>
      <p:sp>
        <p:nvSpPr>
          <p:cNvPr id="2" name="">
            <a:extLst xmlns:a="http://schemas.openxmlformats.org/drawingml/2006/main">
              <a:ext uri="{FF2B5EF4-FFF2-40B4-BE49-F238E27FC236}">
                <a16:creationId xmlns:a16="http://schemas.microsoft.com/office/drawing/2014/main" id="{9D585545-4F00-4633-B08B-2EA36561D1FE}"/>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1FBDFBBF-A6EB-458E-BD5B-3B60B0EAF71D}"/>
              </a:ext>
            </a:extLst>
          </p:cNvPr>
          <p:cNvSpPr>
            <a:spLocks xmlns:a="http://schemas.openxmlformats.org/drawingml/2006/main" noGrp="1"/>
          </p:cNvSpPr>
          <p:nvPr/>
        </p:nvSpPr>
        <p:spPr>
          <a:xfrm xmlns:a="http://schemas.openxmlformats.org/drawingml/2006/main">
            <a:off x="685800" y="192405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Hostel administration</a:t>
            </a:r>
          </a:p>
        </p:txBody>
      </p:sp>
      <p:sp>
        <p:nvSpPr>
          <p:cNvPr id="4" name="">
            <a:extLst xmlns:a="http://schemas.openxmlformats.org/drawingml/2006/main">
              <a:ext uri="{FF2B5EF4-FFF2-40B4-BE49-F238E27FC236}">
                <a16:creationId xmlns:a16="http://schemas.microsoft.com/office/drawing/2014/main" id="{720F33A9-B547-448B-876E-1401E3F4A34B}"/>
              </a:ext>
            </a:extLst>
          </p:cNvPr>
          <p:cNvSpPr>
            <a:spLocks xmlns:a="http://schemas.openxmlformats.org/drawingml/2006/main" noGrp="1"/>
          </p:cNvSpPr>
          <p:nvPr/>
        </p:nvSpPr>
        <p:spPr>
          <a:xfrm xmlns:a="http://schemas.openxmlformats.org/drawingml/2006/main">
            <a:off x="4076700" y="19240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Own the pilot scope, student communication and expansion decision.</a:t>
            </a:r>
          </a:p>
        </p:txBody>
      </p:sp>
      <p:sp>
        <p:nvSpPr>
          <p:cNvPr id="5" name="">
            <a:extLst xmlns:a="http://schemas.openxmlformats.org/drawingml/2006/main">
              <a:ext uri="{FF2B5EF4-FFF2-40B4-BE49-F238E27FC236}">
                <a16:creationId xmlns:a16="http://schemas.microsoft.com/office/drawing/2014/main" id="{38F8B694-D0EE-481C-939A-BB4CB496706C}"/>
              </a:ext>
            </a:extLst>
          </p:cNvPr>
          <p:cNvSpPr>
            <a:spLocks xmlns:a="http://schemas.openxmlformats.org/drawingml/2006/main" noGrp="1"/>
          </p:cNvSpPr>
          <p:nvPr/>
        </p:nvSpPr>
        <p:spPr>
          <a:xfrm xmlns:a="http://schemas.openxmlformats.org/drawingml/2006/main">
            <a:off x="685800" y="2905125"/>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IT and app team</a:t>
            </a:r>
          </a:p>
        </p:txBody>
      </p:sp>
      <p:sp>
        <p:nvSpPr>
          <p:cNvPr id="6" name="">
            <a:extLst xmlns:a="http://schemas.openxmlformats.org/drawingml/2006/main">
              <a:ext uri="{FF2B5EF4-FFF2-40B4-BE49-F238E27FC236}">
                <a16:creationId xmlns:a16="http://schemas.microsoft.com/office/drawing/2014/main" id="{C5947D08-9A57-45A3-9270-5F595C7CD8FC}"/>
              </a:ext>
            </a:extLst>
          </p:cNvPr>
          <p:cNvSpPr>
            <a:spLocks xmlns:a="http://schemas.openxmlformats.org/drawingml/2006/main" noGrp="1"/>
          </p:cNvSpPr>
          <p:nvPr/>
        </p:nvSpPr>
        <p:spPr>
          <a:xfrm xmlns:a="http://schemas.openxmlformats.org/drawingml/2006/main">
            <a:off x="4076700" y="2905125"/>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Own release signing, incident triage, device testing and fixes.</a:t>
            </a:r>
          </a:p>
        </p:txBody>
      </p:sp>
      <p:sp>
        <p:nvSpPr>
          <p:cNvPr id="7" name="">
            <a:extLst xmlns:a="http://schemas.openxmlformats.org/drawingml/2006/main">
              <a:ext uri="{FF2B5EF4-FFF2-40B4-BE49-F238E27FC236}">
                <a16:creationId xmlns:a16="http://schemas.microsoft.com/office/drawing/2014/main" id="{2F99A7B3-D687-4375-B796-B865A6570AEF}"/>
              </a:ext>
            </a:extLst>
          </p:cNvPr>
          <p:cNvSpPr>
            <a:spLocks xmlns:a="http://schemas.openxmlformats.org/drawingml/2006/main" noGrp="1"/>
          </p:cNvSpPr>
          <p:nvPr/>
        </p:nvSpPr>
        <p:spPr>
          <a:xfrm xmlns:a="http://schemas.openxmlformats.org/drawingml/2006/main">
            <a:off x="685800" y="388620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Proodle service owner</a:t>
            </a:r>
          </a:p>
        </p:txBody>
      </p:sp>
      <p:sp>
        <p:nvSpPr>
          <p:cNvPr id="8" name="">
            <a:extLst xmlns:a="http://schemas.openxmlformats.org/drawingml/2006/main">
              <a:ext uri="{FF2B5EF4-FFF2-40B4-BE49-F238E27FC236}">
                <a16:creationId xmlns:a16="http://schemas.microsoft.com/office/drawing/2014/main" id="{DC732AA1-D781-488B-83DC-B1C416EFE375}"/>
              </a:ext>
            </a:extLst>
          </p:cNvPr>
          <p:cNvSpPr>
            <a:spLocks xmlns:a="http://schemas.openxmlformats.org/drawingml/2006/main" noGrp="1"/>
          </p:cNvSpPr>
          <p:nvPr/>
        </p:nvSpPr>
        <p:spPr>
          <a:xfrm xmlns:a="http://schemas.openxmlformats.org/drawingml/2006/main">
            <a:off x="4076700" y="388620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Confirm API behaviour, transaction records and capacity limits.</a:t>
            </a:r>
          </a:p>
        </p:txBody>
      </p:sp>
      <p:sp>
        <p:nvSpPr>
          <p:cNvPr id="9" name="">
            <a:extLst xmlns:a="http://schemas.openxmlformats.org/drawingml/2006/main">
              <a:ext uri="{FF2B5EF4-FFF2-40B4-BE49-F238E27FC236}">
                <a16:creationId xmlns:a16="http://schemas.microsoft.com/office/drawing/2014/main" id="{9B4C3288-F6CB-445F-98CC-3C42D9A80C04}"/>
              </a:ext>
            </a:extLst>
          </p:cNvPr>
          <p:cNvSpPr>
            <a:spLocks xmlns:a="http://schemas.openxmlformats.org/drawingml/2006/main" noGrp="1"/>
          </p:cNvSpPr>
          <p:nvPr/>
        </p:nvSpPr>
        <p:spPr>
          <a:xfrm xmlns:a="http://schemas.openxmlformats.org/drawingml/2006/main">
            <a:off x="685800" y="4867275"/>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Mess and support staff</a:t>
            </a:r>
          </a:p>
        </p:txBody>
      </p:sp>
      <p:sp>
        <p:nvSpPr>
          <p:cNvPr id="10" name="">
            <a:extLst xmlns:a="http://schemas.openxmlformats.org/drawingml/2006/main">
              <a:ext uri="{FF2B5EF4-FFF2-40B4-BE49-F238E27FC236}">
                <a16:creationId xmlns:a16="http://schemas.microsoft.com/office/drawing/2014/main" id="{0D0304B5-874C-4208-95EE-78EC0C0E0081}"/>
              </a:ext>
            </a:extLst>
          </p:cNvPr>
          <p:cNvSpPr>
            <a:spLocks xmlns:a="http://schemas.openxmlformats.org/drawingml/2006/main" noGrp="1"/>
          </p:cNvSpPr>
          <p:nvPr/>
        </p:nvSpPr>
        <p:spPr>
          <a:xfrm xmlns:a="http://schemas.openxmlformats.org/drawingml/2006/main">
            <a:off x="4076700" y="4867275"/>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Verify collection, record exceptions and reconcile issues daily.</a:t>
            </a:r>
          </a:p>
        </p:txBody>
      </p:sp>
    </p:spTree>
    <p:extLst>
      <p:ext uri="{BB962C8B-B14F-4D97-AF65-F5344CB8AC3E}">
        <p14:creationId xmlns:p14="http://schemas.microsoft.com/office/powerpoint/2010/main" val="1900602474"/>
      </p:ext>
    </p:extLst>
  </p:cSld>
</p:sld>
</file>

<file path=ppt/slides/slide12.xml><?xml version="1.0" encoding="utf-8"?>
<p:sld xmlns:p="http://schemas.openxmlformats.org/presentationml/2006/main">
  <p:cSld>
    <p:bg>
      <p:bgPr>
        <a:solidFill xmlns:a="http://schemas.openxmlformats.org/drawingml/2006/main">
          <a:srgbClr val="F8F6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E14F177-39D5-4ACF-A09E-F86C6AEF3A18}"/>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Resources and budget approval</a:t>
            </a:r>
          </a:p>
        </p:txBody>
      </p:sp>
      <p:sp>
        <p:nvSpPr>
          <p:cNvPr id="2" name="">
            <a:extLst xmlns:a="http://schemas.openxmlformats.org/drawingml/2006/main">
              <a:ext uri="{FF2B5EF4-FFF2-40B4-BE49-F238E27FC236}">
                <a16:creationId xmlns:a16="http://schemas.microsoft.com/office/drawing/2014/main" id="{5B044B12-9EA5-47A4-A83F-0555BDBCC185}"/>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459FE6BF-DEAB-4082-99C4-9A545E60B991}"/>
              </a:ext>
            </a:extLst>
          </p:cNvPr>
          <p:cNvSpPr>
            <a:spLocks xmlns:a="http://schemas.openxmlformats.org/drawingml/2006/main" noGrp="1"/>
          </p:cNvSpPr>
          <p:nvPr/>
        </p:nvSpPr>
        <p:spPr>
          <a:xfrm xmlns:a="http://schemas.openxmlformats.org/drawingml/2006/main">
            <a:off x="685800" y="1943100"/>
            <a:ext cx="4857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1">
                <a:solidFill>
                  <a:srgbClr val="6740B3"/>
                </a:solidFill>
                <a:latin typeface="Arial"/>
                <a:ea typeface="Arial"/>
                <a:cs typeface="Arial"/>
              </a:defRPr>
            </a:defPPr>
          </a:lstStyle>
          <a:p xmlns:a="http://schemas.openxmlformats.org/drawingml/2006/main">
            <a:pPr>
              <a:defRPr sz="2250" b="1">
                <a:solidFill>
                  <a:srgbClr val="6740B3"/>
                </a:solidFill>
                <a:latin typeface="Arial"/>
                <a:ea typeface="Arial"/>
                <a:cs typeface="Arial"/>
              </a:defRPr>
            </a:pPr>
            <a:r>
              <a:rPr sz="2250" b="1">
                <a:solidFill>
                  <a:srgbClr val="6740B3"/>
                </a:solidFill>
                <a:latin typeface="Arial"/>
                <a:ea typeface="Arial"/>
                <a:cs typeface="Arial"/>
              </a:rPr>
              <a:t>Before the pilot</a:t>
            </a:r>
          </a:p>
        </p:txBody>
      </p:sp>
      <p:sp>
        <p:nvSpPr>
          <p:cNvPr id="4" name="">
            <a:extLst xmlns:a="http://schemas.openxmlformats.org/drawingml/2006/main">
              <a:ext uri="{FF2B5EF4-FFF2-40B4-BE49-F238E27FC236}">
                <a16:creationId xmlns:a16="http://schemas.microsoft.com/office/drawing/2014/main" id="{9B93AE10-B0B5-4E5E-80BB-4B1027CD54F8}"/>
              </a:ext>
            </a:extLst>
          </p:cNvPr>
          <p:cNvSpPr>
            <a:spLocks xmlns:a="http://schemas.openxmlformats.org/drawingml/2006/main" noGrp="1"/>
          </p:cNvSpPr>
          <p:nvPr/>
        </p:nvSpPr>
        <p:spPr>
          <a:xfrm xmlns:a="http://schemas.openxmlformats.org/drawingml/2006/main">
            <a:off x="685800" y="2600325"/>
            <a:ext cx="485775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121212"/>
                </a:solidFill>
                <a:latin typeface="Arial"/>
                <a:ea typeface="Arial"/>
                <a:cs typeface="Arial"/>
              </a:defRPr>
            </a:defPPr>
          </a:lstStyle>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Named technical and operational owners</a:t>
            </a:r>
          </a:p>
          <a:p xmlns:a="http://schemas.openxmlformats.org/drawingml/2006/main">
            <a:r>
              <a:t/>
            </a:r>
          </a:p>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Approved signed app distribution</a:t>
            </a:r>
          </a:p>
          <a:p xmlns:a="http://schemas.openxmlformats.org/drawingml/2006/main">
            <a:r>
              <a:t/>
            </a:r>
          </a:p>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Counter devices, connectivity and training</a:t>
            </a:r>
          </a:p>
        </p:txBody>
      </p:sp>
      <p:sp>
        <p:nvSpPr>
          <p:cNvPr id="5" name="">
            <a:extLst xmlns:a="http://schemas.openxmlformats.org/drawingml/2006/main">
              <a:ext uri="{FF2B5EF4-FFF2-40B4-BE49-F238E27FC236}">
                <a16:creationId xmlns:a16="http://schemas.microsoft.com/office/drawing/2014/main" id="{3DF0100B-0FED-412E-8F16-B7858DEDDB46}"/>
              </a:ext>
            </a:extLst>
          </p:cNvPr>
          <p:cNvSpPr>
            <a:spLocks xmlns:a="http://schemas.openxmlformats.org/drawingml/2006/main" noGrp="1"/>
          </p:cNvSpPr>
          <p:nvPr/>
        </p:nvSpPr>
        <p:spPr>
          <a:xfrm xmlns:a="http://schemas.openxmlformats.org/drawingml/2006/main">
            <a:off x="6496050" y="1943100"/>
            <a:ext cx="5010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1">
                <a:solidFill>
                  <a:srgbClr val="6740B3"/>
                </a:solidFill>
                <a:latin typeface="Arial"/>
                <a:ea typeface="Arial"/>
                <a:cs typeface="Arial"/>
              </a:defRPr>
            </a:defPPr>
          </a:lstStyle>
          <a:p xmlns:a="http://schemas.openxmlformats.org/drawingml/2006/main">
            <a:pPr>
              <a:defRPr sz="2250" b="1">
                <a:solidFill>
                  <a:srgbClr val="6740B3"/>
                </a:solidFill>
                <a:latin typeface="Arial"/>
                <a:ea typeface="Arial"/>
                <a:cs typeface="Arial"/>
              </a:defRPr>
            </a:pPr>
            <a:r>
              <a:rPr sz="2250" b="1">
                <a:solidFill>
                  <a:srgbClr val="6740B3"/>
                </a:solidFill>
                <a:latin typeface="Arial"/>
                <a:ea typeface="Arial"/>
                <a:cs typeface="Arial"/>
              </a:rPr>
              <a:t>Before expansion</a:t>
            </a:r>
          </a:p>
        </p:txBody>
      </p:sp>
      <p:sp>
        <p:nvSpPr>
          <p:cNvPr id="6" name="">
            <a:extLst xmlns:a="http://schemas.openxmlformats.org/drawingml/2006/main">
              <a:ext uri="{FF2B5EF4-FFF2-40B4-BE49-F238E27FC236}">
                <a16:creationId xmlns:a16="http://schemas.microsoft.com/office/drawing/2014/main" id="{BA8762ED-5022-4611-9E1D-1C7F63521919}"/>
              </a:ext>
            </a:extLst>
          </p:cNvPr>
          <p:cNvSpPr>
            <a:spLocks xmlns:a="http://schemas.openxmlformats.org/drawingml/2006/main" noGrp="1"/>
          </p:cNvSpPr>
          <p:nvPr/>
        </p:nvSpPr>
        <p:spPr>
          <a:xfrm xmlns:a="http://schemas.openxmlformats.org/drawingml/2006/main">
            <a:off x="6496050" y="2600325"/>
            <a:ext cx="501015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121212"/>
                </a:solidFill>
                <a:latin typeface="Arial"/>
                <a:ea typeface="Arial"/>
                <a:cs typeface="Arial"/>
              </a:defRPr>
            </a:defPPr>
          </a:lstStyle>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Vendor support and capacity agreement</a:t>
            </a:r>
          </a:p>
          <a:p xmlns:a="http://schemas.openxmlformats.org/drawingml/2006/main">
            <a:r>
              <a:t/>
            </a:r>
          </a:p>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Release maintenance and support coverage</a:t>
            </a:r>
          </a:p>
          <a:p xmlns:a="http://schemas.openxmlformats.org/drawingml/2006/main">
            <a:r>
              <a:t/>
            </a:r>
          </a:p>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Approved cost estimate and incident plan</a:t>
            </a:r>
          </a:p>
        </p:txBody>
      </p:sp>
      <p:sp>
        <p:nvSpPr>
          <p:cNvPr id="7" name="">
            <a:extLst xmlns:a="http://schemas.openxmlformats.org/drawingml/2006/main">
              <a:ext uri="{FF2B5EF4-FFF2-40B4-BE49-F238E27FC236}">
                <a16:creationId xmlns:a16="http://schemas.microsoft.com/office/drawing/2014/main" id="{1175062C-CC74-4C3B-BB1D-F63F07F57D7D}"/>
              </a:ext>
            </a:extLst>
          </p:cNvPr>
          <p:cNvSpPr>
            <a:spLocks xmlns:a="http://schemas.openxmlformats.org/drawingml/2006/main" noGrp="1"/>
          </p:cNvSpPr>
          <p:nvPr/>
        </p:nvSpPr>
        <p:spPr>
          <a:xfrm xmlns:a="http://schemas.openxmlformats.org/drawingml/2006/main">
            <a:off x="685800" y="56197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1">
                <a:solidFill>
                  <a:srgbClr val="121212"/>
                </a:solidFill>
                <a:latin typeface="Arial"/>
                <a:ea typeface="Arial"/>
                <a:cs typeface="Arial"/>
              </a:defRPr>
            </a:defPPr>
          </a:lstStyle>
          <a:p xmlns:a="http://schemas.openxmlformats.org/drawingml/2006/main">
            <a:pPr>
              <a:defRPr sz="1875" b="1">
                <a:solidFill>
                  <a:srgbClr val="121212"/>
                </a:solidFill>
                <a:latin typeface="Arial"/>
                <a:ea typeface="Arial"/>
                <a:cs typeface="Arial"/>
              </a:defRPr>
            </a:pPr>
            <a:r>
              <a:rPr sz="1875" b="1">
                <a:solidFill>
                  <a:srgbClr val="121212"/>
                </a:solidFill>
                <a:latin typeface="Arial"/>
                <a:ea typeface="Arial"/>
                <a:cs typeface="Arial"/>
              </a:rPr>
              <a:t>Approve a costed plan after the vendor and IT confirm the requirements.</a:t>
            </a:r>
          </a:p>
        </p:txBody>
      </p:sp>
    </p:spTree>
    <p:extLst>
      <p:ext uri="{BB962C8B-B14F-4D97-AF65-F5344CB8AC3E}">
        <p14:creationId xmlns:p14="http://schemas.microsoft.com/office/powerpoint/2010/main" val="406494253"/>
      </p:ext>
    </p:extLst>
  </p:cSld>
</p:sld>
</file>

<file path=ppt/slides/slide13.xml><?xml version="1.0" encoding="utf-8"?>
<p:sld xmlns:p="http://schemas.openxmlformats.org/presentationml/2006/main">
  <p:cSld>
    <p:bg>
      <p:bgPr>
        <a:solidFill xmlns:a="http://schemas.openxmlformats.org/drawingml/2006/main">
          <a:srgbClr val="F8F6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7B71489-CC68-4CC2-B393-462DD5BB8B4F}"/>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Evidence for the expansion decision</a:t>
            </a:r>
          </a:p>
        </p:txBody>
      </p:sp>
      <p:sp>
        <p:nvSpPr>
          <p:cNvPr id="2" name="">
            <a:extLst xmlns:a="http://schemas.openxmlformats.org/drawingml/2006/main">
              <a:ext uri="{FF2B5EF4-FFF2-40B4-BE49-F238E27FC236}">
                <a16:creationId xmlns:a16="http://schemas.microsoft.com/office/drawing/2014/main" id="{DE7F2019-89DD-4CE1-8154-AFE2E592A8AD}"/>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89E406E0-7949-4D43-B576-31AE54B9BB63}"/>
              </a:ext>
            </a:extLst>
          </p:cNvPr>
          <p:cNvSpPr>
            <a:spLocks xmlns:a="http://schemas.openxmlformats.org/drawingml/2006/main" noGrp="1"/>
          </p:cNvSpPr>
          <p:nvPr/>
        </p:nvSpPr>
        <p:spPr>
          <a:xfrm xmlns:a="http://schemas.openxmlformats.org/drawingml/2006/main">
            <a:off x="685800" y="192405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Accuracy</a:t>
            </a:r>
          </a:p>
        </p:txBody>
      </p:sp>
      <p:sp>
        <p:nvSpPr>
          <p:cNvPr id="4" name="">
            <a:extLst xmlns:a="http://schemas.openxmlformats.org/drawingml/2006/main">
              <a:ext uri="{FF2B5EF4-FFF2-40B4-BE49-F238E27FC236}">
                <a16:creationId xmlns:a16="http://schemas.microsoft.com/office/drawing/2014/main" id="{87799980-B18C-47E1-958A-EFDC53AE9F19}"/>
              </a:ext>
            </a:extLst>
          </p:cNvPr>
          <p:cNvSpPr>
            <a:spLocks xmlns:a="http://schemas.openxmlformats.org/drawingml/2006/main" noGrp="1"/>
          </p:cNvSpPr>
          <p:nvPr/>
        </p:nvSpPr>
        <p:spPr>
          <a:xfrm xmlns:a="http://schemas.openxmlformats.org/drawingml/2006/main">
            <a:off x="4076700" y="19240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Order and wallet records agree. Every discrepancy has an owner and resolution.</a:t>
            </a:r>
          </a:p>
        </p:txBody>
      </p:sp>
      <p:sp>
        <p:nvSpPr>
          <p:cNvPr id="5" name="">
            <a:extLst xmlns:a="http://schemas.openxmlformats.org/drawingml/2006/main">
              <a:ext uri="{FF2B5EF4-FFF2-40B4-BE49-F238E27FC236}">
                <a16:creationId xmlns:a16="http://schemas.microsoft.com/office/drawing/2014/main" id="{CE4EE45C-27BB-410F-A02A-AB39E8340C08}"/>
              </a:ext>
            </a:extLst>
          </p:cNvPr>
          <p:cNvSpPr>
            <a:spLocks xmlns:a="http://schemas.openxmlformats.org/drawingml/2006/main" noGrp="1"/>
          </p:cNvSpPr>
          <p:nvPr/>
        </p:nvSpPr>
        <p:spPr>
          <a:xfrm xmlns:a="http://schemas.openxmlformats.org/drawingml/2006/main">
            <a:off x="685800" y="2905125"/>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Reliability</a:t>
            </a:r>
          </a:p>
        </p:txBody>
      </p:sp>
      <p:sp>
        <p:nvSpPr>
          <p:cNvPr id="6" name="">
            <a:extLst xmlns:a="http://schemas.openxmlformats.org/drawingml/2006/main">
              <a:ext uri="{FF2B5EF4-FFF2-40B4-BE49-F238E27FC236}">
                <a16:creationId xmlns:a16="http://schemas.microsoft.com/office/drawing/2014/main" id="{C25AE987-CC77-47B3-B3C3-FAFCA7D9C764}"/>
              </a:ext>
            </a:extLst>
          </p:cNvPr>
          <p:cNvSpPr>
            <a:spLocks xmlns:a="http://schemas.openxmlformats.org/drawingml/2006/main" noGrp="1"/>
          </p:cNvSpPr>
          <p:nvPr/>
        </p:nvSpPr>
        <p:spPr>
          <a:xfrm xmlns:a="http://schemas.openxmlformats.org/drawingml/2006/main">
            <a:off x="4076700" y="2905125"/>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Track failed checkout attempts, QR failures and successful collections.</a:t>
            </a:r>
          </a:p>
        </p:txBody>
      </p:sp>
      <p:sp>
        <p:nvSpPr>
          <p:cNvPr id="7" name="">
            <a:extLst xmlns:a="http://schemas.openxmlformats.org/drawingml/2006/main">
              <a:ext uri="{FF2B5EF4-FFF2-40B4-BE49-F238E27FC236}">
                <a16:creationId xmlns:a16="http://schemas.microsoft.com/office/drawing/2014/main" id="{3E3081EC-6258-4389-B46E-906AD1C749B7}"/>
              </a:ext>
            </a:extLst>
          </p:cNvPr>
          <p:cNvSpPr>
            <a:spLocks xmlns:a="http://schemas.openxmlformats.org/drawingml/2006/main" noGrp="1"/>
          </p:cNvSpPr>
          <p:nvPr/>
        </p:nvSpPr>
        <p:spPr>
          <a:xfrm xmlns:a="http://schemas.openxmlformats.org/drawingml/2006/main">
            <a:off x="685800" y="388620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Experience</a:t>
            </a:r>
          </a:p>
        </p:txBody>
      </p:sp>
      <p:sp>
        <p:nvSpPr>
          <p:cNvPr id="8" name="">
            <a:extLst xmlns:a="http://schemas.openxmlformats.org/drawingml/2006/main">
              <a:ext uri="{FF2B5EF4-FFF2-40B4-BE49-F238E27FC236}">
                <a16:creationId xmlns:a16="http://schemas.microsoft.com/office/drawing/2014/main" id="{16DCAECE-F6DF-44D4-B698-584C8D863498}"/>
              </a:ext>
            </a:extLst>
          </p:cNvPr>
          <p:cNvSpPr>
            <a:spLocks xmlns:a="http://schemas.openxmlformats.org/drawingml/2006/main" noGrp="1"/>
          </p:cNvSpPr>
          <p:nvPr/>
        </p:nvSpPr>
        <p:spPr>
          <a:xfrm xmlns:a="http://schemas.openxmlformats.org/drawingml/2006/main">
            <a:off x="4076700" y="388620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Compare order completion and counter wait times with the baseline.</a:t>
            </a:r>
          </a:p>
        </p:txBody>
      </p:sp>
      <p:sp>
        <p:nvSpPr>
          <p:cNvPr id="9" name="">
            <a:extLst xmlns:a="http://schemas.openxmlformats.org/drawingml/2006/main">
              <a:ext uri="{FF2B5EF4-FFF2-40B4-BE49-F238E27FC236}">
                <a16:creationId xmlns:a16="http://schemas.microsoft.com/office/drawing/2014/main" id="{4CB1803E-2330-447B-87E8-09733C03CEE4}"/>
              </a:ext>
            </a:extLst>
          </p:cNvPr>
          <p:cNvSpPr>
            <a:spLocks xmlns:a="http://schemas.openxmlformats.org/drawingml/2006/main" noGrp="1"/>
          </p:cNvSpPr>
          <p:nvPr/>
        </p:nvSpPr>
        <p:spPr>
          <a:xfrm xmlns:a="http://schemas.openxmlformats.org/drawingml/2006/main">
            <a:off x="685800" y="4867275"/>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Adoption and support</a:t>
            </a:r>
          </a:p>
        </p:txBody>
      </p:sp>
      <p:sp>
        <p:nvSpPr>
          <p:cNvPr id="10" name="">
            <a:extLst xmlns:a="http://schemas.openxmlformats.org/drawingml/2006/main">
              <a:ext uri="{FF2B5EF4-FFF2-40B4-BE49-F238E27FC236}">
                <a16:creationId xmlns:a16="http://schemas.microsoft.com/office/drawing/2014/main" id="{BE549E2E-5C98-4DC6-BC01-71B6E5DE7D56}"/>
              </a:ext>
            </a:extLst>
          </p:cNvPr>
          <p:cNvSpPr>
            <a:spLocks xmlns:a="http://schemas.openxmlformats.org/drawingml/2006/main" noGrp="1"/>
          </p:cNvSpPr>
          <p:nvPr/>
        </p:nvSpPr>
        <p:spPr>
          <a:xfrm xmlns:a="http://schemas.openxmlformats.org/drawingml/2006/main">
            <a:off x="4076700" y="4867275"/>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Track active volunteers, repeat use, help requests and feedback.</a:t>
            </a:r>
          </a:p>
        </p:txBody>
      </p:sp>
    </p:spTree>
    <p:extLst>
      <p:ext uri="{BB962C8B-B14F-4D97-AF65-F5344CB8AC3E}">
        <p14:creationId xmlns:p14="http://schemas.microsoft.com/office/powerpoint/2010/main" val="1844328456"/>
      </p:ext>
    </p:extLst>
  </p:cSld>
</p:sld>
</file>

<file path=ppt/slides/slide14.xml><?xml version="1.0" encoding="utf-8"?>
<p:sld xmlns:p="http://schemas.openxmlformats.org/presentationml/2006/main">
  <p:cSld>
    <p:bg>
      <p:bgPr>
        <a:solidFill xmlns:a="http://schemas.openxmlformats.org/drawingml/2006/main">
          <a:srgbClr val="EBE6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B02809A-5CEE-45BB-8C48-411CB2142C03}"/>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Approval requested</a:t>
            </a:r>
          </a:p>
        </p:txBody>
      </p:sp>
      <p:sp>
        <p:nvSpPr>
          <p:cNvPr id="2" name="">
            <a:extLst xmlns:a="http://schemas.openxmlformats.org/drawingml/2006/main">
              <a:ext uri="{FF2B5EF4-FFF2-40B4-BE49-F238E27FC236}">
                <a16:creationId xmlns:a16="http://schemas.microsoft.com/office/drawing/2014/main" id="{B0C9EE28-050E-4AE3-A82E-41EA8836F4FA}"/>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FBA50BC3-8AD3-4EA3-9FCF-A7EE70DB38E5}"/>
              </a:ext>
            </a:extLst>
          </p:cNvPr>
          <p:cNvSpPr>
            <a:spLocks xmlns:a="http://schemas.openxmlformats.org/drawingml/2006/main" noGrp="1"/>
          </p:cNvSpPr>
          <p:nvPr/>
        </p:nvSpPr>
        <p:spPr>
          <a:xfrm xmlns:a="http://schemas.openxmlformats.org/drawingml/2006/main">
            <a:off x="685800" y="1895475"/>
            <a:ext cx="1038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6740B3"/>
                </a:solidFill>
                <a:latin typeface="Arial"/>
                <a:ea typeface="Arial"/>
                <a:cs typeface="Arial"/>
              </a:defRPr>
            </a:defPPr>
          </a:lstStyle>
          <a:p xmlns:a="http://schemas.openxmlformats.org/drawingml/2006/main">
            <a:pPr>
              <a:defRPr sz="3450" b="1">
                <a:solidFill>
                  <a:srgbClr val="6740B3"/>
                </a:solidFill>
                <a:latin typeface="Arial"/>
                <a:ea typeface="Arial"/>
                <a:cs typeface="Arial"/>
              </a:defRPr>
            </a:pPr>
            <a:r>
              <a:rPr sz="3450" b="1">
                <a:solidFill>
                  <a:srgbClr val="6740B3"/>
                </a:solidFill>
                <a:latin typeface="Arial"/>
                <a:ea typeface="Arial"/>
                <a:cs typeface="Arial"/>
              </a:rPr>
              <a:t>An approved path to a hostel pilot</a:t>
            </a:r>
          </a:p>
        </p:txBody>
      </p:sp>
      <p:sp>
        <p:nvSpPr>
          <p:cNvPr id="4" name="">
            <a:extLst xmlns:a="http://schemas.openxmlformats.org/drawingml/2006/main">
              <a:ext uri="{FF2B5EF4-FFF2-40B4-BE49-F238E27FC236}">
                <a16:creationId xmlns:a16="http://schemas.microsoft.com/office/drawing/2014/main" id="{36A6F0E7-B4A7-4A12-9DCE-4BFE6E8355FD}"/>
              </a:ext>
            </a:extLst>
          </p:cNvPr>
          <p:cNvSpPr>
            <a:spLocks xmlns:a="http://schemas.openxmlformats.org/drawingml/2006/main" noGrp="1"/>
          </p:cNvSpPr>
          <p:nvPr/>
        </p:nvSpPr>
        <p:spPr>
          <a:xfrm xmlns:a="http://schemas.openxmlformats.org/drawingml/2006/main">
            <a:off x="685800" y="300990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Sponsor</a:t>
            </a:r>
          </a:p>
        </p:txBody>
      </p:sp>
      <p:sp>
        <p:nvSpPr>
          <p:cNvPr id="5" name="">
            <a:extLst xmlns:a="http://schemas.openxmlformats.org/drawingml/2006/main">
              <a:ext uri="{FF2B5EF4-FFF2-40B4-BE49-F238E27FC236}">
                <a16:creationId xmlns:a16="http://schemas.microsoft.com/office/drawing/2014/main" id="{D7101D78-671D-4F91-9BE0-832DF994E887}"/>
              </a:ext>
            </a:extLst>
          </p:cNvPr>
          <p:cNvSpPr>
            <a:spLocks xmlns:a="http://schemas.openxmlformats.org/drawingml/2006/main" noGrp="1"/>
          </p:cNvSpPr>
          <p:nvPr/>
        </p:nvSpPr>
        <p:spPr>
          <a:xfrm xmlns:a="http://schemas.openxmlformats.org/drawingml/2006/main">
            <a:off x="4076700" y="300990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Nominate the hostel, outlet and institutional owner.</a:t>
            </a:r>
          </a:p>
        </p:txBody>
      </p:sp>
      <p:sp>
        <p:nvSpPr>
          <p:cNvPr id="6" name="">
            <a:extLst xmlns:a="http://schemas.openxmlformats.org/drawingml/2006/main">
              <a:ext uri="{FF2B5EF4-FFF2-40B4-BE49-F238E27FC236}">
                <a16:creationId xmlns:a16="http://schemas.microsoft.com/office/drawing/2014/main" id="{7857AF04-9799-4668-BCDC-8DE93C3FC0B3}"/>
              </a:ext>
            </a:extLst>
          </p:cNvPr>
          <p:cNvSpPr>
            <a:spLocks xmlns:a="http://schemas.openxmlformats.org/drawingml/2006/main" noGrp="1"/>
          </p:cNvSpPr>
          <p:nvPr/>
        </p:nvSpPr>
        <p:spPr>
          <a:xfrm xmlns:a="http://schemas.openxmlformats.org/drawingml/2006/main">
            <a:off x="685800" y="3990975"/>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Coordination</a:t>
            </a:r>
          </a:p>
        </p:txBody>
      </p:sp>
      <p:sp>
        <p:nvSpPr>
          <p:cNvPr id="7" name="">
            <a:extLst xmlns:a="http://schemas.openxmlformats.org/drawingml/2006/main">
              <a:ext uri="{FF2B5EF4-FFF2-40B4-BE49-F238E27FC236}">
                <a16:creationId xmlns:a16="http://schemas.microsoft.com/office/drawing/2014/main" id="{7E44C5D3-257E-4E2C-82C3-01A4354ED6B5}"/>
              </a:ext>
            </a:extLst>
          </p:cNvPr>
          <p:cNvSpPr>
            <a:spLocks xmlns:a="http://schemas.openxmlformats.org/drawingml/2006/main" noGrp="1"/>
          </p:cNvSpPr>
          <p:nvPr/>
        </p:nvSpPr>
        <p:spPr>
          <a:xfrm xmlns:a="http://schemas.openxmlformats.org/drawingml/2006/main">
            <a:off x="4076700" y="3990975"/>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Arrange a technical review with IT and the Proodle service owner.</a:t>
            </a:r>
          </a:p>
        </p:txBody>
      </p:sp>
      <p:sp>
        <p:nvSpPr>
          <p:cNvPr id="8" name="">
            <a:extLst xmlns:a="http://schemas.openxmlformats.org/drawingml/2006/main">
              <a:ext uri="{FF2B5EF4-FFF2-40B4-BE49-F238E27FC236}">
                <a16:creationId xmlns:a16="http://schemas.microsoft.com/office/drawing/2014/main" id="{CA6E1B58-2365-46FB-A512-4E5D1926EB8B}"/>
              </a:ext>
            </a:extLst>
          </p:cNvPr>
          <p:cNvSpPr>
            <a:spLocks xmlns:a="http://schemas.openxmlformats.org/drawingml/2006/main" noGrp="1"/>
          </p:cNvSpPr>
          <p:nvPr/>
        </p:nvSpPr>
        <p:spPr>
          <a:xfrm xmlns:a="http://schemas.openxmlformats.org/drawingml/2006/main">
            <a:off x="685800" y="497205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Launch condition</a:t>
            </a:r>
          </a:p>
        </p:txBody>
      </p:sp>
      <p:sp>
        <p:nvSpPr>
          <p:cNvPr id="9" name="">
            <a:extLst xmlns:a="http://schemas.openxmlformats.org/drawingml/2006/main">
              <a:ext uri="{FF2B5EF4-FFF2-40B4-BE49-F238E27FC236}">
                <a16:creationId xmlns:a16="http://schemas.microsoft.com/office/drawing/2014/main" id="{9E21BAC9-C074-4EA4-9FA9-7CC8672CA90A}"/>
              </a:ext>
            </a:extLst>
          </p:cNvPr>
          <p:cNvSpPr>
            <a:spLocks xmlns:a="http://schemas.openxmlformats.org/drawingml/2006/main" noGrp="1"/>
          </p:cNvSpPr>
          <p:nvPr/>
        </p:nvSpPr>
        <p:spPr>
          <a:xfrm xmlns:a="http://schemas.openxmlformats.org/drawingml/2006/main">
            <a:off x="4076700" y="49720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Approve volunteer enrolment after the readiness checklist passes.</a:t>
            </a:r>
          </a:p>
        </p:txBody>
      </p:sp>
    </p:spTree>
    <p:extLst>
      <p:ext uri="{BB962C8B-B14F-4D97-AF65-F5344CB8AC3E}">
        <p14:creationId xmlns:p14="http://schemas.microsoft.com/office/powerpoint/2010/main" val="17041026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2026-10-08T15:02:55.5950000Z</dcterms:created>
  <dcterms:modified xsi:type="dcterms:W3CDTF">2026-10-08T15:02:55.5950000Z</dcterms:modified>
</coreProperties>
</file>