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C:/Users/hardi/Downloads/Project-Review1-1.pdf. Review 1 is the historical project baseline. Its proposed features are not evidence of completed implementation. Team names and IDs from page 1. Review 2 builds on the Review 1 project rather than claiming a new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C:/Users/hardi/Downloads/Project-Review1-1.pdf. Review 1 is the historical project baseline. Its proposed features are not evidence of completed implementation. Pages 1-3 describe the team’s observations of Foodpark usability, meal labelling, connectivity and lack of budget/quick-order tools. These observations are project motivation, not a measured campus-wide survey or verified current competitor capability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C:/Users/hardi/Downloads/Project-Review1-1.pdf. Review 1 is the historical project baseline. Its proposed features are not evidence of completed implementation. Pages 5-6 document authentication, home/student information, menus, order data and networking. The two images are original Review 1 screenshots from page 6 and do not represent the current Review 2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C:/Users/hardi/Downloads/Project-Review1-1.pdf. Review 1 is the historical project baseline. Its proposed features are not evidence of completed implementation. Section 3, pages 2-3, is the sole source for this literature survey. These are the existing solutions reviewed in Review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C:/Users/hardi/Downloads/Project-Review1-1.pdf. Review 1 is the historical project baseline. Its proposed features are not evidence of completed implementation. Section 3 Gap Analysis, pages 2-3. The limitations and proposed responses summarize the team’s Review 1 analysis. They are historical project observations, not new claims from outside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C:/Users/hardi/Downloads/Project-Review1-1.pdf. Review 1 is the historical project baseline. Its proposed features are not evidence of completed implementation. Section 3 Gap Analysis and Section 4 Novelty and Value Proposition, pages 2-3. The research gap carries forward the Review 1 rationale. Implementation status appears in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C:/Users/hardi/Downloads/Project-Review1-1.pdf. Review 1 is the historical project baseline. Its proposed features are not evidence of completed implementation. Objectives preserve the original direction, while status is shown later. Offline QR caching, safe current-menu reordering and wider institutional adoption are targets rather than completed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C:/Users/hardi/Downloads/Project-Review1-1.pdf. Review 1 is the historical project baseline. Its proposed features are not evidence of completed implementation. Page 4 supplies the original architecture image, reproduced without changes. Current implementation extends local preferences to budget/favourites and uses Android Keystore for encrypted session values. No dedicated local database or durable offline QR cache is present. Sources: SessionManager.kt, security/CryptoManager.kt, BudgetManager.kt and FavouritesManager.kt.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C:/Users/hardi/Downloads/Project-Review1-1.pdf. Review 1 is the historical project baseline. Its proposed features are not evidence of completed implementation. The Review 1 cart/checkout plan on pages 7-8 now maps to CartRepository, CartViewModel, CartScreen and OrderRepository. Source checkout obtains an order number, inserts items and processes wallet payment. It expects a 1|reference response. Backend payment and QR semantics require live acceptance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C:/Users/hardi/Downloads/Project-Review1-1.pdf. Review 1 is the historical project baseline. Its proposed features are not evidence of completed implementation. Pages 7-8 listed these items as pending deliverables. Current code contains the listed capabilities. Implemented means present in the repository, not production accepted. Sources: CryptoManager.kt, AuthScreen.kt, MenuScreen.kt, FavouritesManager.kt, CartRepository.kt, CartScreen.kt, OrderRepository.kt, BudgetManager.kt, StudentViewModel.kt, SettingsScreen.kt and ThemeManager.kt.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C:/Users/hardi/Downloads/Project-Review1-1.pdf. Review 1 is the historical project baseline. Its proposed features are not evidence of completed implementation. Pages 1-2 promise offline QR caching and budget enforcement. Current OrdersViewModel fetches QR from the API and stores temporary state only. OrderDetailsScreen renders it. Reorder code can create a fallback product when matching fails. BudgetSummary calculates guidance but checkout has no budget gate. Wider integration beyond Proodle is not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C:/Users/hardi/Downloads/Project-Review1-1.pdf. Review 1 is the historical project baseline. Its proposed features are not evidence of completed implementation. Pages 7-8 identify integration testing, UAT, documentation and release APK as remaining milestones. Source review also shows missing persistent QR caching, reorder fallback issues, fixed meal-session/outlet mappings and no date/meal filtering or dedicated receipt workflow. Existing usage DOCX and presentations are support documentation, not a final approved academic report or release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C:/Users/hardi/Downloads/Project-Review1-1.pdf. Review 1 is the historical project baseline. Its proposed features are not evidence of completed implementation. The literature survey and gap analysis use only Section 3 of the supplied Review 1 report. No external studies are included. Review 2 implementation and recorded test results come from the project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6E7CC64-82E1-4B51-B546-EF48E5D28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412A654-87DB-4129-A0DC-001C79DBB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647B387-B995-4A11-B11E-C6FDC1F22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B78D52C-D054-4777-85FB-373B923E9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68B962A-6550-489A-9904-5282F0B48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79EFD7C-DD8E-4485-BC34-C04AD3850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287C90-CD29-43EA-B483-883A3EB47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9E4441D-E32F-43A3-AA57-FD4C79ACCB8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339C7F3-D03A-4913-870F-0D26E9886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8BD3C24-9A42-48CF-B7D1-40213C34D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A4C91A-C220-4D6F-A53E-A50720AB6C83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VITeats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111492-C0BF-4130-8E3D-0E44354D7DC3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AAAAA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AAA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151F96-EA0E-4E3C-A263-C63C047653AE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704850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00" b="1">
                <a:solidFill>
                  <a:srgbClr val="FEF08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FEF08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EF08A"/>
                </a:solidFill>
                <a:latin typeface="Arial"/>
                <a:ea typeface="Arial"/>
                <a:cs typeface="Arial"/>
              </a:rPr>
              <a:t>Software Engineering</a:t>
            </a:r>
          </a:p>
          <a:p>
            <a:pPr>
              <a:defRPr sz="3600" b="1">
                <a:solidFill>
                  <a:srgbClr val="FEF08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EF08A"/>
                </a:solidFill>
                <a:latin typeface="Arial"/>
                <a:ea typeface="Arial"/>
                <a:cs typeface="Arial"/>
              </a:rPr>
              <a:t>Project Review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CE9549-3104-4D70-AAB0-10510FD6E848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70675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Hrishikesh D. Nayak   24BDS1007</a:t>
            </a:r>
          </a:p>
          <a:p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Hardik Lalla   </a:t>
            </a:r>
            <a:r>
              <a:rPr lang="en-US" sz="202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	          </a:t>
            </a:r>
            <a:r>
              <a:rPr sz="202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24BDS1010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C47D47-CAA5-4ABA-A4B9-40CCE2EAE22C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6953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8 October 2026</a:t>
            </a:r>
          </a:p>
          <a:p>
            <a:pPr>
              <a:defRPr sz="165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github.com/Caust2c/VITeats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0BB9C2-11BA-45E8-B712-B6CB5CF90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67700" y="1857375"/>
            <a:ext cx="302895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881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5D3774-E325-4FEA-AA11-C91F73E98D97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8C11C5-05DD-4942-81E4-48BE79FFE38E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9FADCC-B003-49B8-9CFD-D3A0A5220FE2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66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92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92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Review 1 identified four student needs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20A41B-BC07-4D4B-9EF3-3C09C8AB9413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Meal-time clarity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A3088A-3819-4148-8672-03F9E2CC1E3F}"/>
              </a:ext>
            </a:extLst>
          </p:cNvPr>
          <p:cNvSpPr>
            <a:spLocks noGrp="1"/>
          </p:cNvSpPr>
          <p:nvPr/>
        </p:nvSpPr>
        <p:spPr>
          <a:xfrm>
            <a:off x="4076700" y="2686050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Make the current meal and available menu easier to identify.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0FABED-6891-43C0-B6B2-E0E8B60BC669}"/>
              </a:ext>
            </a:extLst>
          </p:cNvPr>
          <p:cNvSpPr>
            <a:spLocks noGrp="1"/>
          </p:cNvSpPr>
          <p:nvPr/>
        </p:nvSpPr>
        <p:spPr>
          <a:xfrm>
            <a:off x="685800" y="3667125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Reliable collection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FE1131-4EEC-4B10-A66B-BE0B8EA8DD98}"/>
              </a:ext>
            </a:extLst>
          </p:cNvPr>
          <p:cNvSpPr>
            <a:spLocks noGrp="1"/>
          </p:cNvSpPr>
          <p:nvPr/>
        </p:nvSpPr>
        <p:spPr>
          <a:xfrm>
            <a:off x="4076700" y="3667125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Keep order QR information accessible when campus Wi-Fi is weak.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38EECA-B0D1-471B-B180-217ECA7C6BC5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Frequent ordering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7B56AD-27D4-4D86-8B8F-BD227B9966C6}"/>
              </a:ext>
            </a:extLst>
          </p:cNvPr>
          <p:cNvSpPr>
            <a:spLocks noGrp="1"/>
          </p:cNvSpPr>
          <p:nvPr/>
        </p:nvSpPr>
        <p:spPr>
          <a:xfrm>
            <a:off x="4076700" y="4648200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Reduce repeated browsing with search, favourites and quick orders.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D72FAF-2C11-49BF-B89D-15BC0FC1AA77}"/>
              </a:ext>
            </a:extLst>
          </p:cNvPr>
          <p:cNvSpPr>
            <a:spLocks noGrp="1"/>
          </p:cNvSpPr>
          <p:nvPr/>
        </p:nvSpPr>
        <p:spPr>
          <a:xfrm>
            <a:off x="685800" y="5629275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Spending control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15A8F5-9949-4986-B074-9A98024F0339}"/>
              </a:ext>
            </a:extLst>
          </p:cNvPr>
          <p:cNvSpPr>
            <a:spLocks noGrp="1"/>
          </p:cNvSpPr>
          <p:nvPr/>
        </p:nvSpPr>
        <p:spPr>
          <a:xfrm>
            <a:off x="4076700" y="5629275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Help students track expenditure against a personal monthly budget.</a:t>
            </a:r>
          </a:p>
        </p:txBody>
      </p:sp>
    </p:spTree>
    <p:extLst>
      <p:ext uri="{BB962C8B-B14F-4D97-AF65-F5344CB8AC3E}">
        <p14:creationId xmlns:p14="http://schemas.microsoft.com/office/powerpoint/2010/main" val="810427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C9E8802-4617-44EC-8508-9549ECEBB989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Review 1 baseline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6397A2-A4F7-4339-94E2-86A83E38BA9D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94997-12F0-4B24-B5ED-AF3D2C252FE3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504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Foundation already established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721D6D-8F54-41C3-947A-8D066D9E40F0}"/>
              </a:ext>
            </a:extLst>
          </p:cNvPr>
          <p:cNvSpPr>
            <a:spLocks noGrp="1"/>
          </p:cNvSpPr>
          <p:nvPr/>
        </p:nvSpPr>
        <p:spPr>
          <a:xfrm>
            <a:off x="685800" y="2676525"/>
            <a:ext cx="5124450" cy="2733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Login and session handling</a:t>
            </a:r>
          </a:p>
          <a:p>
            <a:endParaRPr sz="2100" b="0">
              <a:solidFill>
                <a:srgbClr val="121212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Home and student information</a:t>
            </a:r>
          </a:p>
          <a:p>
            <a:endParaRPr sz="2100" b="0">
              <a:solidFill>
                <a:srgbClr val="121212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Live menu and order-data integration</a:t>
            </a:r>
          </a:p>
          <a:p>
            <a:endParaRPr sz="2100" b="0">
              <a:solidFill>
                <a:srgbClr val="121212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Compose UI and repository structure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6478B0-F218-46B7-A640-D2286FA4A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73580" y="1828800"/>
            <a:ext cx="1902365" cy="4000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127FD7-FB45-4139-A348-D2C15E49C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38492" y="1828800"/>
            <a:ext cx="1973191" cy="4000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5C80D2-EE88-4704-83ED-E122C6FE5932}"/>
              </a:ext>
            </a:extLst>
          </p:cNvPr>
          <p:cNvSpPr>
            <a:spLocks noGrp="1"/>
          </p:cNvSpPr>
          <p:nvPr/>
        </p:nvSpPr>
        <p:spPr>
          <a:xfrm>
            <a:off x="6543675" y="5962650"/>
            <a:ext cx="21621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5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6740B3"/>
                </a:solidFill>
                <a:latin typeface="Arial"/>
                <a:ea typeface="Arial"/>
                <a:cs typeface="Arial"/>
              </a:rPr>
              <a:t>Login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4D2DA9-0958-4929-98D1-47A910A07B30}"/>
              </a:ext>
            </a:extLst>
          </p:cNvPr>
          <p:cNvSpPr>
            <a:spLocks noGrp="1"/>
          </p:cNvSpPr>
          <p:nvPr/>
        </p:nvSpPr>
        <p:spPr>
          <a:xfrm>
            <a:off x="9144000" y="5962650"/>
            <a:ext cx="21621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5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6740B3"/>
                </a:solidFill>
                <a:latin typeface="Arial"/>
                <a:ea typeface="Arial"/>
                <a:cs typeface="Arial"/>
              </a:rPr>
              <a:t>Menu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8A5DEE-99EE-4137-AA6F-CC77431C05CC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523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endParaRPr sz="1725" b="1" dirty="0">
              <a:solidFill>
                <a:srgbClr val="12121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4551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73B38C4-F5B7-443C-9760-3F25E8CD3686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Literature survey: existing solutions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13667F-B308-46F4-9EAA-5A3AD4B65C44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FE6336-DF22-40E2-8458-B262E01850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8884131"/>
              </p:ext>
            </p:extLst>
          </p:nvPr>
        </p:nvGraphicFramePr>
        <p:xfrm>
          <a:off x="685800" y="1857375"/>
          <a:ext cx="10820400" cy="292608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Solution</a:t>
                      </a:r>
                    </a:p>
                  </a:txBody>
                  <a:tcPr>
                    <a:solidFill>
                      <a:srgbClr val="6740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Features described in Review 1</a:t>
                      </a:r>
                    </a:p>
                  </a:txBody>
                  <a:tcPr>
                    <a:solidFill>
                      <a:srgbClr val="6740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Project relevance</a:t>
                      </a:r>
                    </a:p>
                  </a:txBody>
                  <a:tcPr>
                    <a:solidFill>
                      <a:srgbClr val="674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Proodle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Authentication, menu information and food ordering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Existing backend used by VITeats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Swiggy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Discovery, ordering, payments, tracking and order history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Commercial food delivery model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Zomato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Discovery, ordering, pickup, delivery and 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General food marketplace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DC2576D-A9BF-4350-A4A7-505B865FC94E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Source: Review 1, Section 3: Review of Related Works</a:t>
            </a:r>
          </a:p>
        </p:txBody>
      </p:sp>
    </p:spTree>
    <p:extLst>
      <p:ext uri="{BB962C8B-B14F-4D97-AF65-F5344CB8AC3E}">
        <p14:creationId xmlns:p14="http://schemas.microsoft.com/office/powerpoint/2010/main" val="2141817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DBA5D44-698D-46F7-98CF-7BB73F96B72E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Literature survey: limitations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54A7CD-190B-4801-8A1A-0A3A22591132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6EA68A-33D8-4202-94B4-A9A2159DA0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4051624"/>
              </p:ext>
            </p:extLst>
          </p:nvPr>
        </p:nvGraphicFramePr>
        <p:xfrm>
          <a:off x="685800" y="1857375"/>
          <a:ext cx="10820400" cy="292608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9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Solution</a:t>
                      </a:r>
                    </a:p>
                  </a:txBody>
                  <a:tcPr>
                    <a:solidFill>
                      <a:srgbClr val="6740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Gap identified in Review 1</a:t>
                      </a:r>
                    </a:p>
                  </a:txBody>
                  <a:tcPr>
                    <a:solidFill>
                      <a:srgbClr val="6740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VITeats response proposed</a:t>
                      </a:r>
                    </a:p>
                  </a:txBody>
                  <a:tcPr>
                    <a:solidFill>
                      <a:srgbClr val="674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Proodle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Basic functionality and limited user experience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Improve the student interface using the same API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Swiggy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Delivery logistics and variable charges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Focus on direct collection at the mess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Zomato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General marketplace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Simplify frequent campus food ordering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693AF72-98CF-4996-84CF-E609032F2511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Wider campus integration remains a project goal. Review 2 currently uses Proodle.</a:t>
            </a:r>
          </a:p>
        </p:txBody>
      </p:sp>
    </p:spTree>
    <p:extLst>
      <p:ext uri="{BB962C8B-B14F-4D97-AF65-F5344CB8AC3E}">
        <p14:creationId xmlns:p14="http://schemas.microsoft.com/office/powerpoint/2010/main" val="773245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A71DEA2-BA1E-45C2-97FC-0264FC09FFDB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Research gap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44C378-06EE-4F3B-B303-5DE384FD0633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49E672-6C72-4ED0-81C2-47D9A7B88FC3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Student experience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9D92ED-7F9E-4D49-A789-EC22E45A7485}"/>
              </a:ext>
            </a:extLst>
          </p:cNvPr>
          <p:cNvSpPr>
            <a:spLocks noGrp="1"/>
          </p:cNvSpPr>
          <p:nvPr/>
        </p:nvSpPr>
        <p:spPr>
          <a:xfrm>
            <a:off x="4076700" y="1924050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Improve the basic Foodpark interface with meal discovery and easier ordering.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6AD1E-0D5D-47D6-AD7C-F52897646F50}"/>
              </a:ext>
            </a:extLst>
          </p:cNvPr>
          <p:cNvSpPr>
            <a:spLocks noGrp="1"/>
          </p:cNvSpPr>
          <p:nvPr/>
        </p:nvSpPr>
        <p:spPr>
          <a:xfrm>
            <a:off x="685800" y="2905125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Campus fragmentation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A28760-E959-4AC3-A845-32C6DAED4D7A}"/>
              </a:ext>
            </a:extLst>
          </p:cNvPr>
          <p:cNvSpPr>
            <a:spLocks noGrp="1"/>
          </p:cNvSpPr>
          <p:nvPr/>
        </p:nvSpPr>
        <p:spPr>
          <a:xfrm>
            <a:off x="4076700" y="2905125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Different mess platforms motivate a common application for VIT students.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76564-BFF2-4BDA-8EDF-6A01A430F2F4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Campus workflow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BA78BB-1D39-41C2-8170-ECD459B43EFD}"/>
              </a:ext>
            </a:extLst>
          </p:cNvPr>
          <p:cNvSpPr>
            <a:spLocks noGrp="1"/>
          </p:cNvSpPr>
          <p:nvPr/>
        </p:nvSpPr>
        <p:spPr>
          <a:xfrm>
            <a:off x="4076700" y="3886200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Direct mess collection needs a simpler flow than commercial delivery.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6069C7-035B-4C81-BA17-6FD9BD4E2E17}"/>
              </a:ext>
            </a:extLst>
          </p:cNvPr>
          <p:cNvSpPr>
            <a:spLocks noGrp="1"/>
          </p:cNvSpPr>
          <p:nvPr/>
        </p:nvSpPr>
        <p:spPr>
          <a:xfrm>
            <a:off x="685800" y="4867275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Daily food management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978FC8-2A3A-41E4-AE23-14B7E773DB8B}"/>
              </a:ext>
            </a:extLst>
          </p:cNvPr>
          <p:cNvSpPr>
            <a:spLocks noGrp="1"/>
          </p:cNvSpPr>
          <p:nvPr/>
        </p:nvSpPr>
        <p:spPr>
          <a:xfrm>
            <a:off x="4076700" y="4867275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Combine favourites, quick reordering, order history, QR access and budget tracking.</a:t>
            </a:r>
          </a:p>
        </p:txBody>
      </p:sp>
    </p:spTree>
    <p:extLst>
      <p:ext uri="{BB962C8B-B14F-4D97-AF65-F5344CB8AC3E}">
        <p14:creationId xmlns:p14="http://schemas.microsoft.com/office/powerpoint/2010/main" val="1069204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34FDEB9-8FCF-4AC2-890D-A9066722DA9B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93F83A-0165-495F-849F-70F017C6AEF8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54F00B-A836-402D-8606-27610996B001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Improve daily use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959E97-E803-4427-9250-35A97E006EA7}"/>
              </a:ext>
            </a:extLst>
          </p:cNvPr>
          <p:cNvSpPr>
            <a:spLocks noGrp="1"/>
          </p:cNvSpPr>
          <p:nvPr/>
        </p:nvSpPr>
        <p:spPr>
          <a:xfrm>
            <a:off x="4076700" y="1924050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Offer meal-time information, menu search and favourite dishes.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4B3072-6B19-4218-ABC5-9DCC61AB0255}"/>
              </a:ext>
            </a:extLst>
          </p:cNvPr>
          <p:cNvSpPr>
            <a:spLocks noGrp="1"/>
          </p:cNvSpPr>
          <p:nvPr/>
        </p:nvSpPr>
        <p:spPr>
          <a:xfrm>
            <a:off x="685800" y="2905125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Complete ordering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A225B5-2085-486C-B8C0-68AC173F66B4}"/>
              </a:ext>
            </a:extLst>
          </p:cNvPr>
          <p:cNvSpPr>
            <a:spLocks noGrp="1"/>
          </p:cNvSpPr>
          <p:nvPr/>
        </p:nvSpPr>
        <p:spPr>
          <a:xfrm>
            <a:off x="4076700" y="2905125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Provide cart review, PIN authorization, history and order QR display.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B8535D-1269-4A0B-A9BA-81EEBF1D813E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Support spending plans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35FC7D-92C7-4844-B75C-DE84AC543380}"/>
              </a:ext>
            </a:extLst>
          </p:cNvPr>
          <p:cNvSpPr>
            <a:spLocks noGrp="1"/>
          </p:cNvSpPr>
          <p:nvPr/>
        </p:nvSpPr>
        <p:spPr>
          <a:xfrm>
            <a:off x="4076700" y="3886200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Show monthly spending, remaining budget and daily allowance guidance.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66BC57-F72E-4F5D-A1EC-8FC9009F389F}"/>
              </a:ext>
            </a:extLst>
          </p:cNvPr>
          <p:cNvSpPr>
            <a:spLocks noGrp="1"/>
          </p:cNvSpPr>
          <p:nvPr/>
        </p:nvSpPr>
        <p:spPr>
          <a:xfrm>
            <a:off x="685800" y="4867275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Improve resilience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74136E-ACB9-40CC-96EF-F65904B22344}"/>
              </a:ext>
            </a:extLst>
          </p:cNvPr>
          <p:cNvSpPr>
            <a:spLocks noGrp="1"/>
          </p:cNvSpPr>
          <p:nvPr/>
        </p:nvSpPr>
        <p:spPr>
          <a:xfrm>
            <a:off x="4076700" y="4867275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Complete offline QR access and validate the app with campus users.</a:t>
            </a:r>
          </a:p>
        </p:txBody>
      </p:sp>
    </p:spTree>
    <p:extLst>
      <p:ext uri="{BB962C8B-B14F-4D97-AF65-F5344CB8AC3E}">
        <p14:creationId xmlns:p14="http://schemas.microsoft.com/office/powerpoint/2010/main" val="168503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07412FF-B6D2-4916-A2B5-6EA19CC15365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Methodology: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E67A05-DEC1-446C-BADA-16AAF512AC9F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610581-F6A8-47D8-8C8B-1307DF9C0827}"/>
              </a:ext>
            </a:extLst>
          </p:cNvPr>
          <p:cNvSpPr>
            <a:spLocks noGrp="1"/>
          </p:cNvSpPr>
          <p:nvPr/>
        </p:nvSpPr>
        <p:spPr>
          <a:xfrm>
            <a:off x="685800" y="1895475"/>
            <a:ext cx="530542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Review 1 architecture retained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9597A5-F68D-41E8-907D-03E036891349}"/>
              </a:ext>
            </a:extLst>
          </p:cNvPr>
          <p:cNvSpPr>
            <a:spLocks noGrp="1"/>
          </p:cNvSpPr>
          <p:nvPr/>
        </p:nvSpPr>
        <p:spPr>
          <a:xfrm>
            <a:off x="685800" y="2695575"/>
            <a:ext cx="5362575" cy="2457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Compose screens and ViewModels</a:t>
            </a:r>
          </a:p>
          <a:p>
            <a:endParaRPr sz="2100" b="0">
              <a:solidFill>
                <a:srgbClr val="121212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Repositories separate UI and data</a:t>
            </a:r>
          </a:p>
          <a:p>
            <a:endParaRPr sz="2100" b="0">
              <a:solidFill>
                <a:srgbClr val="121212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Retrofit, OkHttp and Gson connect</a:t>
            </a:r>
          </a:p>
          <a:p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to the existing Proodle API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40F5D2-54B7-449C-875E-01C854245709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5334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Review 2 adds encrypted session values</a:t>
            </a:r>
          </a:p>
          <a:p>
            <a:pPr>
              <a:defRPr sz="18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and local budget / favourite preferences.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0A2136-580D-488C-8E69-608E78DCA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10350" y="1711033"/>
            <a:ext cx="4895850" cy="444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962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8206E68-0764-4A5B-9090-BC0D3E717A3A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Methodology: order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9DB655-58CB-4881-83F2-88891BAF5309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59929C-C239-45D5-9231-F27368E8A149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2860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0458C0-27C7-409C-A7A3-9927250CA27F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24003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310ECD-3D1E-464B-9401-08B02A9C74AA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24384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Search the menu</a:t>
            </a:r>
          </a:p>
          <a:p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and choose quantities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BABFA5-0D37-421D-BE18-24946B8C16A0}"/>
              </a:ext>
            </a:extLst>
          </p:cNvPr>
          <p:cNvSpPr>
            <a:spLocks noGrp="1"/>
          </p:cNvSpPr>
          <p:nvPr/>
        </p:nvSpPr>
        <p:spPr>
          <a:xfrm>
            <a:off x="3467100" y="2095500"/>
            <a:ext cx="22860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C9EA87-79B2-4372-84B9-A55CC90C790E}"/>
              </a:ext>
            </a:extLst>
          </p:cNvPr>
          <p:cNvSpPr>
            <a:spLocks noGrp="1"/>
          </p:cNvSpPr>
          <p:nvPr/>
        </p:nvSpPr>
        <p:spPr>
          <a:xfrm>
            <a:off x="3467100" y="3352800"/>
            <a:ext cx="24003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132751-16D5-4637-87FE-5B1C97B2BE33}"/>
              </a:ext>
            </a:extLst>
          </p:cNvPr>
          <p:cNvSpPr>
            <a:spLocks noGrp="1"/>
          </p:cNvSpPr>
          <p:nvPr/>
        </p:nvSpPr>
        <p:spPr>
          <a:xfrm>
            <a:off x="3467100" y="4114800"/>
            <a:ext cx="24384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Check the total</a:t>
            </a:r>
          </a:p>
          <a:p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and confirm the PIN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3B16A5-6586-4991-A151-4196B41F7894}"/>
              </a:ext>
            </a:extLst>
          </p:cNvPr>
          <p:cNvSpPr>
            <a:spLocks noGrp="1"/>
          </p:cNvSpPr>
          <p:nvPr/>
        </p:nvSpPr>
        <p:spPr>
          <a:xfrm>
            <a:off x="6248400" y="2095500"/>
            <a:ext cx="22860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F43219-37A8-437F-B8B9-D7DBBF55613B}"/>
              </a:ext>
            </a:extLst>
          </p:cNvPr>
          <p:cNvSpPr>
            <a:spLocks noGrp="1"/>
          </p:cNvSpPr>
          <p:nvPr/>
        </p:nvSpPr>
        <p:spPr>
          <a:xfrm>
            <a:off x="6248400" y="3352800"/>
            <a:ext cx="24003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Submit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75320C-90C6-4F1A-8611-C68CF56EF881}"/>
              </a:ext>
            </a:extLst>
          </p:cNvPr>
          <p:cNvSpPr>
            <a:spLocks noGrp="1"/>
          </p:cNvSpPr>
          <p:nvPr/>
        </p:nvSpPr>
        <p:spPr>
          <a:xfrm>
            <a:off x="6248400" y="4114800"/>
            <a:ext cx="24384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Create the order</a:t>
            </a:r>
          </a:p>
          <a:p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and request payment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FDF3D8-AAEF-4358-AA34-B51430FA4B31}"/>
              </a:ext>
            </a:extLst>
          </p:cNvPr>
          <p:cNvSpPr>
            <a:spLocks noGrp="1"/>
          </p:cNvSpPr>
          <p:nvPr/>
        </p:nvSpPr>
        <p:spPr>
          <a:xfrm>
            <a:off x="9029700" y="2095500"/>
            <a:ext cx="22860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4B4E8B-44C3-4279-9010-AC272A99ABFF}"/>
              </a:ext>
            </a:extLst>
          </p:cNvPr>
          <p:cNvSpPr>
            <a:spLocks noGrp="1"/>
          </p:cNvSpPr>
          <p:nvPr/>
        </p:nvSpPr>
        <p:spPr>
          <a:xfrm>
            <a:off x="9029700" y="3352800"/>
            <a:ext cx="24003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472474-5726-49F7-88B9-7EE6A864F2B4}"/>
              </a:ext>
            </a:extLst>
          </p:cNvPr>
          <p:cNvSpPr>
            <a:spLocks noGrp="1"/>
          </p:cNvSpPr>
          <p:nvPr/>
        </p:nvSpPr>
        <p:spPr>
          <a:xfrm>
            <a:off x="9029700" y="4114800"/>
            <a:ext cx="24384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Retrieve the order QR</a:t>
            </a:r>
          </a:p>
          <a:p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for counter verification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E19276-E9AF-4C0B-9F96-5DDBAA728588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After an uncertain payment, check order history and wallet before retrying.</a:t>
            </a:r>
          </a:p>
        </p:txBody>
      </p:sp>
    </p:spTree>
    <p:extLst>
      <p:ext uri="{BB962C8B-B14F-4D97-AF65-F5344CB8AC3E}">
        <p14:creationId xmlns:p14="http://schemas.microsoft.com/office/powerpoint/2010/main" val="382064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FC1D735-0F89-4548-B2E9-C663097F09B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Results: progress since Review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0DDECB-506D-46A9-821A-F891901395E4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22D8E8-EE82-44B9-8616-F6C8F64C00E9}"/>
              </a:ext>
            </a:extLst>
          </p:cNvPr>
          <p:cNvGraphicFramePr/>
          <p:nvPr/>
        </p:nvGraphicFramePr>
        <p:xfrm>
          <a:off x="685800" y="1857375"/>
          <a:ext cx="10820400" cy="373380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 1 deliverable</a:t>
                      </a:r>
                    </a:p>
                  </a:txBody>
                  <a:tcPr>
                    <a:solidFill>
                      <a:srgbClr val="6740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 2 implementation</a:t>
                      </a:r>
                    </a:p>
                  </a:txBody>
                  <a:tcPr>
                    <a:solidFill>
                      <a:srgbClr val="674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Secure PIN storage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Android Keystore encryption for saved session values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Menu search and favourites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Dish/outlet search and locally saved favourite 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Cart and checkout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Quantity controls, total review and PIN payment flow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Budget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Monthly allocation, spending summary and daily allowance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Settings and personalization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Settings screen with persistent dark-mode preference</a:t>
                      </a:r>
                    </a:p>
                  </a:txBody>
                  <a:tcPr>
                    <a:solidFill>
                      <a:srgbClr val="F0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2F04A4E-B140-4EAA-BCAE-406D8176FAF1}"/>
              </a:ext>
            </a:extLst>
          </p:cNvPr>
          <p:cNvSpPr>
            <a:spLocks noGrp="1"/>
          </p:cNvSpPr>
          <p:nvPr/>
        </p:nvSpPr>
        <p:spPr>
          <a:xfrm>
            <a:off x="685800" y="5781675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Implementation evidence now extends beyond the Review 1 foundation.</a:t>
            </a:r>
          </a:p>
        </p:txBody>
      </p:sp>
    </p:spTree>
    <p:extLst>
      <p:ext uri="{BB962C8B-B14F-4D97-AF65-F5344CB8AC3E}">
        <p14:creationId xmlns:p14="http://schemas.microsoft.com/office/powerpoint/2010/main" val="1965697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A62F10F-FA94-4272-86C8-B4E2D6612F02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Results: partially completed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F22291-671D-4542-8837-D374EDD475F5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E41EBC-B9E4-480E-98A9-FDD0674A0B25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Order QR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176471-54C6-426B-807F-BBB5B7ADEF32}"/>
              </a:ext>
            </a:extLst>
          </p:cNvPr>
          <p:cNvSpPr>
            <a:spLocks noGrp="1"/>
          </p:cNvSpPr>
          <p:nvPr/>
        </p:nvSpPr>
        <p:spPr>
          <a:xfrm>
            <a:off x="4076700" y="1924050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Retrieval and rendering exist. Persistent offline caching remains pending.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C10674-07F1-4668-8D1D-317794AB2F47}"/>
              </a:ext>
            </a:extLst>
          </p:cNvPr>
          <p:cNvSpPr>
            <a:spLocks noGrp="1"/>
          </p:cNvSpPr>
          <p:nvPr/>
        </p:nvSpPr>
        <p:spPr>
          <a:xfrm>
            <a:off x="685800" y="2905125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Quick reorder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63E3C-9745-4A40-B9A0-C2485FC3EF8B}"/>
              </a:ext>
            </a:extLst>
          </p:cNvPr>
          <p:cNvSpPr>
            <a:spLocks noGrp="1"/>
          </p:cNvSpPr>
          <p:nvPr/>
        </p:nvSpPr>
        <p:spPr>
          <a:xfrm>
            <a:off x="4076700" y="2905125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Shortcut exists. Current-menu matching needs correction and validation.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BEC00D-EF9C-436F-90F5-189280DA1C1F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Budget limits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833446-AE00-47F9-8DFE-6A94911252D5}"/>
              </a:ext>
            </a:extLst>
          </p:cNvPr>
          <p:cNvSpPr>
            <a:spLocks noGrp="1"/>
          </p:cNvSpPr>
          <p:nvPr/>
        </p:nvSpPr>
        <p:spPr>
          <a:xfrm>
            <a:off x="4076700" y="3886200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Spending feedback exists. Checkout does not enforce a spending limit.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37D075-E97D-4735-8597-D7BA598D3954}"/>
              </a:ext>
            </a:extLst>
          </p:cNvPr>
          <p:cNvSpPr>
            <a:spLocks noGrp="1"/>
          </p:cNvSpPr>
          <p:nvPr/>
        </p:nvSpPr>
        <p:spPr>
          <a:xfrm>
            <a:off x="685800" y="4867275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Campus coverage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262F08-A4D2-4599-B819-85582D48678E}"/>
              </a:ext>
            </a:extLst>
          </p:cNvPr>
          <p:cNvSpPr>
            <a:spLocks noGrp="1"/>
          </p:cNvSpPr>
          <p:nvPr/>
        </p:nvSpPr>
        <p:spPr>
          <a:xfrm>
            <a:off x="4076700" y="4867275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The client integrates Proodle. Support for other systems remains future scope.</a:t>
            </a:r>
          </a:p>
        </p:txBody>
      </p:sp>
    </p:spTree>
    <p:extLst>
      <p:ext uri="{BB962C8B-B14F-4D97-AF65-F5344CB8AC3E}">
        <p14:creationId xmlns:p14="http://schemas.microsoft.com/office/powerpoint/2010/main" val="1085947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0F02F0F-51B4-4339-AA5D-F107346BD54D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Results: remaining work and hostel rollout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F4FEE9-94D8-42FE-9DD9-F2C6CC1930E3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EB9597-D553-4B57-A7B3-624AA6D50166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Complete commitments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D93495-86B6-468A-8C1A-9A6F9F11F4F5}"/>
              </a:ext>
            </a:extLst>
          </p:cNvPr>
          <p:cNvSpPr>
            <a:spLocks noGrp="1"/>
          </p:cNvSpPr>
          <p:nvPr/>
        </p:nvSpPr>
        <p:spPr>
          <a:xfrm>
            <a:off x="4076700" y="1924050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Add offline QR caching, safe reordering and remaining history/receipt tools.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2B83B2-72AB-4E51-BDCC-FDBA661E35E0}"/>
              </a:ext>
            </a:extLst>
          </p:cNvPr>
          <p:cNvSpPr>
            <a:spLocks noGrp="1"/>
          </p:cNvSpPr>
          <p:nvPr/>
        </p:nvSpPr>
        <p:spPr>
          <a:xfrm>
            <a:off x="685800" y="2905125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Validate transactions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2A5FDF-BA38-4B68-88D7-7609B8FB0687}"/>
              </a:ext>
            </a:extLst>
          </p:cNvPr>
          <p:cNvSpPr>
            <a:spLocks noGrp="1"/>
          </p:cNvSpPr>
          <p:nvPr/>
        </p:nvSpPr>
        <p:spPr>
          <a:xfrm>
            <a:off x="4076700" y="2905125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Test session recovery, meal/outlet mapping and payment/collection exceptions.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527C00-2154-402E-A19B-6E8E9CCF1A89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Evaluate with users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E3B92F-56FC-46E7-9AD9-3BA9D99F014B}"/>
              </a:ext>
            </a:extLst>
          </p:cNvPr>
          <p:cNvSpPr>
            <a:spLocks noGrp="1"/>
          </p:cNvSpPr>
          <p:nvPr/>
        </p:nvSpPr>
        <p:spPr>
          <a:xfrm>
            <a:off x="4076700" y="3886200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Run Foodpark UAT and a supervised hostel pilot with agreed metrics.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908B79-273D-43EC-A26F-5174972B78F6}"/>
              </a:ext>
            </a:extLst>
          </p:cNvPr>
          <p:cNvSpPr>
            <a:spLocks noGrp="1"/>
          </p:cNvSpPr>
          <p:nvPr/>
        </p:nvSpPr>
        <p:spPr>
          <a:xfrm>
            <a:off x="685800" y="4867275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Prepare wider adoption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E4AF09-1CBB-4758-BF7F-845FF5BD700B}"/>
              </a:ext>
            </a:extLst>
          </p:cNvPr>
          <p:cNvSpPr>
            <a:spLocks noGrp="1"/>
          </p:cNvSpPr>
          <p:nvPr/>
        </p:nvSpPr>
        <p:spPr>
          <a:xfrm>
            <a:off x="4076700" y="4867275"/>
            <a:ext cx="7429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Approve a signed release, support ownership and vendor capacity before expansion.</a:t>
            </a:r>
          </a:p>
        </p:txBody>
      </p:sp>
    </p:spTree>
    <p:extLst>
      <p:ext uri="{BB962C8B-B14F-4D97-AF65-F5344CB8AC3E}">
        <p14:creationId xmlns:p14="http://schemas.microsoft.com/office/powerpoint/2010/main" val="1179291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A406137-6107-4F24-9752-BD74A1B219AB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AF44FD-8F49-476D-92CB-311EF6CFCF5A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605BB3-F073-41FA-B258-3BC71F48B2FF}"/>
              </a:ext>
            </a:extLst>
          </p:cNvPr>
          <p:cNvSpPr>
            <a:spLocks noGrp="1"/>
          </p:cNvSpPr>
          <p:nvPr/>
        </p:nvSpPr>
        <p:spPr>
          <a:xfrm>
            <a:off x="685800" y="1857375"/>
            <a:ext cx="10820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Review 1 report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845FB6-99F4-4ADF-85D3-2BEC7A727DD6}"/>
              </a:ext>
            </a:extLst>
          </p:cNvPr>
          <p:cNvSpPr>
            <a:spLocks noGrp="1"/>
          </p:cNvSpPr>
          <p:nvPr/>
        </p:nvSpPr>
        <p:spPr>
          <a:xfrm>
            <a:off x="685800" y="2447925"/>
            <a:ext cx="108204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VITeats Software Engineering Project: Review-1 Report</a:t>
            </a:r>
          </a:p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Hrishikesh D. Nayak and Hardik Lalla</a:t>
            </a:r>
          </a:p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Project-Review1-1.pdf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639ED3-3739-42D2-9ACB-8E0C244D7D16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10820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Literature survey and research gap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1FBC7D-088F-446C-887F-8FFE6531AE7F}"/>
              </a:ext>
            </a:extLst>
          </p:cNvPr>
          <p:cNvSpPr>
            <a:spLocks noGrp="1"/>
          </p:cNvSpPr>
          <p:nvPr/>
        </p:nvSpPr>
        <p:spPr>
          <a:xfrm>
            <a:off x="685800" y="4371975"/>
            <a:ext cx="108204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Section 3: Review of Related Works, pages 2-3</a:t>
            </a:r>
          </a:p>
          <a:p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Section 4: Novelty and Value Proposition, page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C8BB8-BC9A-4D17-B621-D1B024E76480}"/>
              </a:ext>
            </a:extLst>
          </p:cNvPr>
          <p:cNvSpPr>
            <a:spLocks noGrp="1"/>
          </p:cNvSpPr>
          <p:nvPr/>
        </p:nvSpPr>
        <p:spPr>
          <a:xfrm>
            <a:off x="685800" y="544830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Review 2 results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32A6D8-D33E-4626-B2F4-0D492854AE3C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VITeats source code and recorded unit-test reports</a:t>
            </a:r>
          </a:p>
        </p:txBody>
      </p:sp>
    </p:spTree>
    <p:extLst>
      <p:ext uri="{BB962C8B-B14F-4D97-AF65-F5344CB8AC3E}">
        <p14:creationId xmlns:p14="http://schemas.microsoft.com/office/powerpoint/2010/main" val="185969755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1703</Words>
  <Application>Microsoft Office PowerPoint</Application>
  <DocSecurity>0</DocSecurity>
  <PresentationFormat>Widescreen</PresentationFormat>
  <Paragraphs>170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Hardik Omesh Lalla</cp:lastModifiedBy>
  <cp:revision>1</cp:revision>
  <dcterms:created xsi:type="dcterms:W3CDTF">2026-10-08T16:02:03Z</dcterms:created>
  <dcterms:modified xsi:type="dcterms:W3CDTF">2026-10-08T16:56:10Z</dcterms:modified>
</cp:coreProperties>
</file>