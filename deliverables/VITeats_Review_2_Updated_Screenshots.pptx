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70" r:id="rId6"/>
    <p:sldId id="271" r:id="rId7"/>
    <p:sldId id="273" r:id="rId8"/>
    <p:sldId id="275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Team names and IDs from page 1. Review 2 builds on the Review 1 project rather than claiming a new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1-3 describe the team’s observations of Foodpark usability, meal labelling, connectivity and lack of budget/quick-order tools. These observations are project motivation, not a measured campus-wide survey or verified current competitor capability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C:/Users/hardi/Downloads/3987a60c-aea3-4c0e-83ba-042d70baecac.jpg</a:t>
            </a:r>
          </a:p>
          <a:p>
            <a:r>
              <a:t>Source: user-supplied updated app screenshot, C:/Users/hardi/Downloads/a64a1aa2-cb5a-4d05-81d3-a57194665703.jpg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871D-14A6-8DDD-B765-D5D73676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5DAFC-F923-E612-4CB6-A103F78F8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25EA0-DBD1-EA9E-11D2-EE6E0DE65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C:/Users/hardi/Downloads/3987a60c-aea3-4c0e-83ba-042d70baecac.jpg</a:t>
            </a:r>
          </a:p>
          <a:p>
            <a:r>
              <a:t>Source: user-supplied updated app screenshot, C:/Users/hardi/Downloads/a64a1aa2-cb5a-4d05-81d3-a57194665703.jpg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36044-B8BE-689D-1069-3587FC5FE9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26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C:/Users/hardi/Downloads/3f5af889-2fd2-411e-bb0a-6fa8d3bb741e.jpg</a:t>
            </a:r>
          </a:p>
          <a:p>
            <a:r>
              <a:t>Source: user-supplied updated app screenshot, C:/Users/hardi/Downloads/d489ccb6-e1a0-4a5e-9fc0-35bc47af75b9.jpg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C:/Users/hardi/Downloads/ec29cd24-d0a9-44dc-8246-74ef9ef77c44.jpg</a:t>
            </a:r>
          </a:p>
          <a:p>
            <a:r>
              <a:t>Source: user-supplied updated app screenshot, C:/Users/hardi/Downloads/9c854df0-c068-4da7-a653-993a9dc6d109.jpg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3E324-E8BF-95BC-990F-169EAFE4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3FD79-895A-2A07-D8D7-9DEBE3D59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520BB-703A-A88E-9FC4-B145CC67C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C:/Users/hardi/Downloads/ec29cd24-d0a9-44dc-8246-74ef9ef77c44.jpg</a:t>
            </a:r>
          </a:p>
          <a:p>
            <a:r>
              <a:t>Source: user-supplied updated app screenshot, C:/Users/hardi/Downloads/9c854df0-c068-4da7-a653-993a9dc6d109.jpg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D492-C7DC-1BD7-E0FB-29D337AFB5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2517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77AD-0D74-84F3-DC08-D60CAA07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3C60C-422C-8DC0-E0FE-8D699CAA7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95BF0-AEFA-B42F-D7C0-55300118A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updated app screenshot, C:/Users/hardi/Downloads/ec29cd24-d0a9-44dc-8246-74ef9ef77c44.jpg</a:t>
            </a:r>
          </a:p>
          <a:p>
            <a:r>
              <a:t>Source: user-supplied updated app screenshot, C:/Users/hardi/Downloads/9c854df0-c068-4da7-a653-993a9dc6d109.jpg</a:t>
            </a:r>
          </a:p>
          <a:p>
            <a:r>
              <a:t>Screenshots show the current interface. Sample account amounts are not campus-wide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6CA7-CA95-A851-CF8C-C3CAE14264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6753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3, pages 2-3, is the sole source for this literature survey. These are the existing solutions reviewed in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 Gap Analysis, pages 2-3. The limitations and proposed responses summarize the team’s Review 1 analysis. They are historical project observations, not new claims from outside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 Gap Analysis and Section 4 Novelty and Value Proposition, pages 2-3. The research gap carries forward the Review 1 rationale. Implementation status appears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Objectives preserve the original direction, while status is shown later. Offline QR caching, safe current-menu reordering and wider institutional adoption are targets rather than completed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C:/Users/hardi/Downloads/Project-Review1-1.pdf. Review 1 is the historical project baseline. Its proposed features are not evidence of completed implementation. Page 4 supplies the original architecture image, reproduced without changes. Current implementation extends local preferences to budget/</a:t>
            </a:r>
            <a:r>
              <a:rPr dirty="0" err="1"/>
              <a:t>favourites</a:t>
            </a:r>
            <a:r>
              <a:rPr dirty="0"/>
              <a:t> and uses Android Keystore for encrypted session values. No dedicated local database or durable offline QR cache is present. Sources: </a:t>
            </a:r>
            <a:r>
              <a:rPr dirty="0" err="1"/>
              <a:t>SessionManager.kt</a:t>
            </a:r>
            <a:r>
              <a:rPr dirty="0"/>
              <a:t>, security/</a:t>
            </a:r>
            <a:r>
              <a:rPr dirty="0" err="1"/>
              <a:t>CryptoManager.kt</a:t>
            </a:r>
            <a:r>
              <a:rPr dirty="0"/>
              <a:t>, </a:t>
            </a:r>
            <a:r>
              <a:rPr dirty="0" err="1"/>
              <a:t>BudgetManager.kt</a:t>
            </a:r>
            <a:r>
              <a:rPr dirty="0"/>
              <a:t> and </a:t>
            </a:r>
            <a:r>
              <a:rPr dirty="0" err="1"/>
              <a:t>FavouritesManager.kt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The Review 1 cart/checkout plan on pages 7-8 now maps to CartRepository, CartViewModel, CartScreen and OrderRepository. Source checkout obtains an order number, inserts items and processes wallet payment. It expects a 1|reference response. Backend payment and QR semantics require live acceptance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C:/Users/hardi/Downloads/Project-Review1-1.pdf. Review 1 is the historical project baseline. Its proposed features are not evidence of completed implementation. Pages 7-8 listed these items as pending deliverables. Current code contains the listed capabilities. Implemented means present in the repository, not production accepted. Sources: </a:t>
            </a:r>
            <a:r>
              <a:rPr dirty="0" err="1"/>
              <a:t>CryptoManager.kt</a:t>
            </a:r>
            <a:r>
              <a:rPr dirty="0"/>
              <a:t>, </a:t>
            </a:r>
            <a:r>
              <a:rPr dirty="0" err="1"/>
              <a:t>AuthScreen.kt</a:t>
            </a:r>
            <a:r>
              <a:rPr dirty="0"/>
              <a:t>, </a:t>
            </a:r>
            <a:r>
              <a:rPr dirty="0" err="1"/>
              <a:t>MenuScreen.kt</a:t>
            </a:r>
            <a:r>
              <a:rPr dirty="0"/>
              <a:t>, </a:t>
            </a:r>
            <a:r>
              <a:rPr dirty="0" err="1"/>
              <a:t>FavouritesManager.kt</a:t>
            </a:r>
            <a:r>
              <a:rPr dirty="0"/>
              <a:t>, </a:t>
            </a:r>
            <a:r>
              <a:rPr dirty="0" err="1"/>
              <a:t>CartRepository.kt</a:t>
            </a:r>
            <a:r>
              <a:rPr dirty="0"/>
              <a:t>, </a:t>
            </a:r>
            <a:r>
              <a:rPr dirty="0" err="1"/>
              <a:t>CartScreen.kt</a:t>
            </a:r>
            <a:r>
              <a:rPr dirty="0"/>
              <a:t>, </a:t>
            </a:r>
            <a:r>
              <a:rPr dirty="0" err="1"/>
              <a:t>OrderRepository.kt</a:t>
            </a:r>
            <a:r>
              <a:rPr dirty="0"/>
              <a:t>, </a:t>
            </a:r>
            <a:r>
              <a:rPr dirty="0" err="1"/>
              <a:t>BudgetManager.kt</a:t>
            </a:r>
            <a:r>
              <a:rPr dirty="0"/>
              <a:t>, </a:t>
            </a:r>
            <a:r>
              <a:rPr dirty="0" err="1"/>
              <a:t>StudentViewModel.kt</a:t>
            </a:r>
            <a:r>
              <a:rPr dirty="0"/>
              <a:t>, </a:t>
            </a:r>
            <a:r>
              <a:rPr dirty="0" err="1"/>
              <a:t>SettingsScreen.kt</a:t>
            </a:r>
            <a:r>
              <a:rPr dirty="0"/>
              <a:t> and </a:t>
            </a:r>
            <a:r>
              <a:rPr dirty="0" err="1"/>
              <a:t>ThemeManager.kt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1-2 promise offline QR caching and budget enforcement. Current OrdersViewModel fetches QR from the API and stores temporary state only. OrderDetailsScreen renders it. Reorder code can create a fallback product when matching fails. BudgetSummary calculates guidance but checkout has no budget gate. Wider integration beyond Proodle is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7-8 identify integration testing, UAT, documentation and release APK as remaining milestones. Source review also shows missing persistent QR caching, reorder fallback issues, fixed meal-session/outlet mappings and no date/meal filtering or dedicated receipt workflow. Existing usage DOCX and presentations are support documentation, not a final approved academic report or release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C:/Users/hardi/Downloads/Project-Review1-1.pdf. Review 1 is the historical project baseline. Its proposed features are not evidence of completed implementation. The literature survey and gap analysis use only Section 3 of the supplied Review 1 report. No external studies are included. Review 2 implementation and recorded test results come from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E7CC64-82E1-4B51-B546-EF48E5D2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12A654-87DB-4129-A0DC-001C79DBB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647B387-B995-4A11-B11E-C6FDC1F2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78D52C-D054-4777-85FB-373B923E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68B962A-6550-489A-9904-5282F0B48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79EFD7C-DD8E-4485-BC34-C04AD385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287C90-CD29-43EA-B483-883A3EB4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9E4441D-E32F-43A3-AA57-FD4C79ACCB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39C7F3-D03A-4913-870F-0D26E988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8BD3C24-9A42-48CF-B7D1-40213C34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A4C91A-C220-4D6F-A53E-A50720AB6C8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VITeats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11492-C0BF-4130-8E3D-0E44354D7DC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51F96-EA0E-4E3C-A263-C63C047653AE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7048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Software Engineering</a:t>
            </a:r>
          </a:p>
          <a:p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Project Review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E9549-3104-4D70-AAB0-10510FD6E84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7067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Hrishikesh D. Nayak   24BDS1007</a:t>
            </a:r>
          </a:p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Hardik Lalla   </a:t>
            </a:r>
            <a:r>
              <a:rPr lang="en-US"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	          </a:t>
            </a: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24BDS1010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47D47-CAA5-4ABA-A4B9-40CCE2EAE22C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95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8 October 2026</a:t>
            </a:r>
          </a:p>
          <a:p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github.com/Caust2c/VITeats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BB9C2-11BA-45E8-B712-B6CB5CF9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86372" y="1981200"/>
            <a:ext cx="30289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81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5D3774-E325-4FEA-AA11-C91F73E98D9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8C11C5-05DD-4942-81E4-48BE79FFE38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FADCC-B003-49B8-9CFD-D3A0A5220FE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identified four student needs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0A41B-BC07-4D4B-9EF3-3C09C8AB9413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Meal-time clarity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3088A-3819-4148-8672-03F9E2CC1E3F}"/>
              </a:ext>
            </a:extLst>
          </p:cNvPr>
          <p:cNvSpPr>
            <a:spLocks noGrp="1"/>
          </p:cNvSpPr>
          <p:nvPr/>
        </p:nvSpPr>
        <p:spPr>
          <a:xfrm>
            <a:off x="4076700" y="2686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Make the current meal and available menu easier to identify.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FABED-6891-43C0-B6B2-E0E8B60BC669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Reliable collection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FE1131-4EEC-4B10-A66B-BE0B8EA8DD98}"/>
              </a:ext>
            </a:extLst>
          </p:cNvPr>
          <p:cNvSpPr>
            <a:spLocks noGrp="1"/>
          </p:cNvSpPr>
          <p:nvPr/>
        </p:nvSpPr>
        <p:spPr>
          <a:xfrm>
            <a:off x="4076700" y="3667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Keep order QR information accessible when campus Wi-Fi is weak.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8EECA-B0D1-471B-B180-217ECA7C6BC5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Frequent ordering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7B56AD-27D4-4D86-8B8F-BD227B9966C6}"/>
              </a:ext>
            </a:extLst>
          </p:cNvPr>
          <p:cNvSpPr>
            <a:spLocks noGrp="1"/>
          </p:cNvSpPr>
          <p:nvPr/>
        </p:nvSpPr>
        <p:spPr>
          <a:xfrm>
            <a:off x="4076700" y="4648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Reduce repeated browsing with search, favourites and quick orders.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72FAF-2C11-49BF-B89D-15BC0FC1AA77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Spending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5A8F5-9949-4986-B074-9A98024F0339}"/>
              </a:ext>
            </a:extLst>
          </p:cNvPr>
          <p:cNvSpPr>
            <a:spLocks noGrp="1"/>
          </p:cNvSpPr>
          <p:nvPr/>
        </p:nvSpPr>
        <p:spPr>
          <a:xfrm>
            <a:off x="4076700" y="5629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Help students track expenditure against a personal monthly budget.</a:t>
            </a:r>
          </a:p>
        </p:txBody>
      </p:sp>
    </p:spTree>
    <p:extLst>
      <p:ext uri="{BB962C8B-B14F-4D97-AF65-F5344CB8AC3E}">
        <p14:creationId xmlns:p14="http://schemas.microsoft.com/office/powerpoint/2010/main" val="81042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26711F-DD1F-431D-A5ED-6CCDE81517C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1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ome and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enu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E4230-8094-42DF-BCF5-A2F05631DA7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BE4CF-0621-4DBA-AFBD-4BD4E633FD4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lang="en-US" sz="2175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Login</a:t>
            </a:r>
            <a:endParaRPr sz="2175" b="1" dirty="0">
              <a:solidFill>
                <a:srgbClr val="6740B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6E1BC-AAEF-4F3D-94E1-860290F09AA3}"/>
              </a:ext>
            </a:extLst>
          </p:cNvPr>
          <p:cNvSpPr>
            <a:spLocks noGrp="1"/>
          </p:cNvSpPr>
          <p:nvPr/>
        </p:nvSpPr>
        <p:spPr>
          <a:xfrm>
            <a:off x="3085233" y="3841242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endParaRPr sz="2100" b="0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2A802-6FDC-4B56-BFAC-62EDA46402CF}"/>
              </a:ext>
            </a:extLst>
          </p:cNvPr>
          <p:cNvSpPr>
            <a:spLocks noGrp="1"/>
          </p:cNvSpPr>
          <p:nvPr/>
        </p:nvSpPr>
        <p:spPr>
          <a:xfrm>
            <a:off x="5758815" y="1267079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Menu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D77B50-EE2B-426A-AA7C-325443A22A10}"/>
              </a:ext>
            </a:extLst>
          </p:cNvPr>
          <p:cNvSpPr>
            <a:spLocks noGrp="1"/>
          </p:cNvSpPr>
          <p:nvPr/>
        </p:nvSpPr>
        <p:spPr>
          <a:xfrm>
            <a:off x="8704981" y="3841242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endParaRPr sz="2100" b="0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B82BA4-2E74-F32F-131F-5FD145E2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0119" y="1676908"/>
            <a:ext cx="2269489" cy="47725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589600-D90A-9566-8B56-E8F73BFD4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76341" y="1694434"/>
            <a:ext cx="2291282" cy="464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4B9D4-30F7-01F9-962F-26C8D1ACE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B91567-3BFC-3CC1-F5F6-6B0DD4CF3EE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2: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ome and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enu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797737-E3BE-1CE2-3599-BB389140196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BE30E-5FB3-C66E-E784-C5E44E4FB4E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Home and wallet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3300C-DD97-A5AD-4EFF-D8A7E1F9C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669" y="1762125"/>
            <a:ext cx="2237506" cy="49311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D569D5-876B-E119-88B8-6FF81457277D}"/>
              </a:ext>
            </a:extLst>
          </p:cNvPr>
          <p:cNvSpPr>
            <a:spLocks noGrp="1"/>
          </p:cNvSpPr>
          <p:nvPr/>
        </p:nvSpPr>
        <p:spPr>
          <a:xfrm>
            <a:off x="3085233" y="3841242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Meal shortcuts and wallet balance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146AA-3878-2063-2DFD-792EC891B38D}"/>
              </a:ext>
            </a:extLst>
          </p:cNvPr>
          <p:cNvSpPr>
            <a:spLocks noGrp="1"/>
          </p:cNvSpPr>
          <p:nvPr/>
        </p:nvSpPr>
        <p:spPr>
          <a:xfrm>
            <a:off x="630555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Menu and favourites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D69321-90A6-BA93-7DDC-FCB9C1FEA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6418" y="1762125"/>
            <a:ext cx="2237505" cy="49311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F16121-B60A-6917-9310-9D7C944BD752}"/>
              </a:ext>
            </a:extLst>
          </p:cNvPr>
          <p:cNvSpPr>
            <a:spLocks noGrp="1"/>
          </p:cNvSpPr>
          <p:nvPr/>
        </p:nvSpPr>
        <p:spPr>
          <a:xfrm>
            <a:off x="8704981" y="3841242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Search, outlet filters and stock labels</a:t>
            </a:r>
          </a:p>
        </p:txBody>
      </p:sp>
    </p:spTree>
    <p:extLst>
      <p:ext uri="{BB962C8B-B14F-4D97-AF65-F5344CB8AC3E}">
        <p14:creationId xmlns:p14="http://schemas.microsoft.com/office/powerpoint/2010/main" val="132015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59BA3-9AC9-40E1-AB39-8471E9A8269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2: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pending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36D514-822E-4405-9936-20E0DD1EE84B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217841-EF67-45E0-8758-98B73AC5FA9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Financial health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C9D99-061F-4795-846E-62E3B6D9D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669" y="1762125"/>
            <a:ext cx="2179213" cy="48026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7D331B-61C9-4C03-818A-34CF162511FE}"/>
              </a:ext>
            </a:extLst>
          </p:cNvPr>
          <p:cNvSpPr>
            <a:spLocks noGrp="1"/>
          </p:cNvSpPr>
          <p:nvPr/>
        </p:nvSpPr>
        <p:spPr>
          <a:xfrm>
            <a:off x="3076575" y="3429000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Budget remaining and daily allowance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F3687-3E87-4E7D-B996-09E743518453}"/>
              </a:ext>
            </a:extLst>
          </p:cNvPr>
          <p:cNvSpPr>
            <a:spLocks noGrp="1"/>
          </p:cNvSpPr>
          <p:nvPr/>
        </p:nvSpPr>
        <p:spPr>
          <a:xfrm>
            <a:off x="630555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Expenses and account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F7B275-F6F1-4F89-B259-8DDAEF884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6418" y="1762124"/>
            <a:ext cx="2179213" cy="48026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9BA9B6-0CB3-4136-9BD1-DFEF52521594}"/>
              </a:ext>
            </a:extLst>
          </p:cNvPr>
          <p:cNvSpPr>
            <a:spLocks noGrp="1"/>
          </p:cNvSpPr>
          <p:nvPr/>
        </p:nvSpPr>
        <p:spPr>
          <a:xfrm>
            <a:off x="8696325" y="3429000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Meal spending breakdown and account details</a:t>
            </a:r>
          </a:p>
        </p:txBody>
      </p:sp>
    </p:spTree>
    <p:extLst>
      <p:ext uri="{BB962C8B-B14F-4D97-AF65-F5344CB8AC3E}">
        <p14:creationId xmlns:p14="http://schemas.microsoft.com/office/powerpoint/2010/main" val="36861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B8973E-6E0A-41EB-B29E-236162FDFB2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2: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rders and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ettings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E7B17-88BE-490C-B7D2-87B015577A66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2F61E-D103-47B1-80C3-626671299C1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Previous orders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D5A50-74B4-45AC-B596-C6FF137A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669" y="1762125"/>
            <a:ext cx="2237506" cy="49311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831C02-8572-48C5-81BF-E25D12F63FD1}"/>
              </a:ext>
            </a:extLst>
          </p:cNvPr>
          <p:cNvSpPr>
            <a:spLocks noGrp="1"/>
          </p:cNvSpPr>
          <p:nvPr/>
        </p:nvSpPr>
        <p:spPr>
          <a:xfrm>
            <a:off x="3085233" y="3424428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Order status, item details and reorder shortcut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9E185-47D8-49C1-B513-4F23D0F3F9FC}"/>
              </a:ext>
            </a:extLst>
          </p:cNvPr>
          <p:cNvSpPr>
            <a:spLocks noGrp="1"/>
          </p:cNvSpPr>
          <p:nvPr/>
        </p:nvSpPr>
        <p:spPr>
          <a:xfrm>
            <a:off x="6305550" y="125730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Settings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62D2B-ECD0-489C-AE22-E2E5BCBCD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6418" y="1762125"/>
            <a:ext cx="2237505" cy="49311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B55578-EFC5-461E-905F-98D9124E2F4E}"/>
              </a:ext>
            </a:extLst>
          </p:cNvPr>
          <p:cNvSpPr>
            <a:spLocks noGrp="1"/>
          </p:cNvSpPr>
          <p:nvPr/>
        </p:nvSpPr>
        <p:spPr>
          <a:xfrm>
            <a:off x="8696325" y="3424428"/>
            <a:ext cx="28003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Dark mode, mess hours and app version</a:t>
            </a:r>
          </a:p>
        </p:txBody>
      </p:sp>
    </p:spTree>
    <p:extLst>
      <p:ext uri="{BB962C8B-B14F-4D97-AF65-F5344CB8AC3E}">
        <p14:creationId xmlns:p14="http://schemas.microsoft.com/office/powerpoint/2010/main" val="177576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8C16-1E71-D065-6C3B-1ADE09D6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E89667-A1EC-97C6-8AD3-4F6B754771F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Latest App Display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4A67D1-5E2B-F937-926B-4363FD293C5D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9CDB62-1721-02B9-3DE4-C6057FC66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1154982"/>
            <a:ext cx="2558701" cy="5639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6E53D8-4663-EFB0-5A03-CCE9B56CB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698" y="1154980"/>
            <a:ext cx="2558702" cy="56390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5ACE30-95A0-CD4D-2530-C2353EC989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1154980"/>
            <a:ext cx="2558702" cy="563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8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E82-E653-DDD4-E1FA-00FE87A0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7B40E5-F002-9873-9CC7-E246865835D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Latest App Display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E7D4FD-4961-B372-8750-9A75B879E87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2F3EC-2882-7D64-231B-F5F7B874C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08" y="1097281"/>
            <a:ext cx="2475624" cy="5455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6F0169-C6F0-EB01-834B-F287AACA1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24" y="1097281"/>
            <a:ext cx="2475624" cy="5455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1AAA51-188E-14BE-155C-F329FA0DE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809" y="1021080"/>
            <a:ext cx="2510200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9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3B38C4-F5B7-443C-9760-3F25E8CD368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urvey: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E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xisting solutions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13667F-B308-46F4-9EAA-5A3AD4B65C4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FE6336-DF22-40E2-8458-B262E0185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884131"/>
              </p:ext>
            </p:extLst>
          </p:nvPr>
        </p:nvGraphicFramePr>
        <p:xfrm>
          <a:off x="685800" y="1857375"/>
          <a:ext cx="10820400" cy="292608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 described in Review 1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Project relevance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Proodle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Authentication, menu information and food ordering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Existing backend used by VITeats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Swiggy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Discovery, ordering, payments, tracking and order history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Commercial food delivery model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Zomato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Discovery, ordering, pickup, delivery and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food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DC2576D-A9BF-4350-A4A7-505B865FC94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Source: Review 1, Section 3: Review of Related Works</a:t>
            </a:r>
          </a:p>
        </p:txBody>
      </p:sp>
    </p:spTree>
    <p:extLst>
      <p:ext uri="{BB962C8B-B14F-4D97-AF65-F5344CB8AC3E}">
        <p14:creationId xmlns:p14="http://schemas.microsoft.com/office/powerpoint/2010/main" val="214181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BA5D44-698D-46F7-98CF-7BB73F96B72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urvey: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54A7CD-190B-4801-8A1A-0A3A22591132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6EA68A-33D8-4202-94B4-A9A2159DA0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051624"/>
              </p:ext>
            </p:extLst>
          </p:nvPr>
        </p:nvGraphicFramePr>
        <p:xfrm>
          <a:off x="685800" y="1857375"/>
          <a:ext cx="10820400" cy="292608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identified in Review 1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VITeats response proposed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Proodle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Basic functionality and limited user experience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Improve the student interface using the same API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Swiggy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Delivery logistics and variable charges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Focus on direct collection at the mess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Zomato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marketplace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Simplify frequent campus food 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693AF72-98CF-4996-84CF-E609032F2511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Wider campus integration remains a project goal. Review 2 currently uses Proodle.</a:t>
            </a:r>
          </a:p>
        </p:txBody>
      </p:sp>
    </p:spTree>
    <p:extLst>
      <p:ext uri="{BB962C8B-B14F-4D97-AF65-F5344CB8AC3E}">
        <p14:creationId xmlns:p14="http://schemas.microsoft.com/office/powerpoint/2010/main" val="773245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71DEA2-BA1E-45C2-97FC-0264FC09FFD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Research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G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4C378-06EE-4F3B-B303-5DE384FD063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9E672-6C72-4ED0-81C2-47D9A7B88FC3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D92ED-7F9E-4D49-A789-EC22E45A7485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Improve the basic Foodpark interface with meal discovery and easier ordering.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6AD1E-0D5D-47D6-AD7C-F52897646F50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fragmentation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A28760-E959-4AC3-A845-32C6DAED4D7A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Different mess platforms motivate a common application for VIT students.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76564-BFF2-4BDA-8EDF-6A01A430F2F4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A78BB-1D39-41C2-8170-ECD459B43EFD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Direct mess collection needs a simpler flow than commercial delivery.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6069C7-035B-4C81-BA17-6FD9BD4E2E17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Daily food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78FC8-2A3A-41E4-AE23-14B7E773DB8B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Combine favourites, quick reordering, order history, QR access and budget tracking.</a:t>
            </a:r>
          </a:p>
        </p:txBody>
      </p:sp>
    </p:spTree>
    <p:extLst>
      <p:ext uri="{BB962C8B-B14F-4D97-AF65-F5344CB8AC3E}">
        <p14:creationId xmlns:p14="http://schemas.microsoft.com/office/powerpoint/2010/main" val="106920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FDEB9-8FCF-4AC2-890D-A9066722DA9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3F83A-0165-495F-849F-70F017C6AEF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4F00B-A836-402D-8606-27610996B00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daily use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59E97-E803-4427-9250-35A97E006EA7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Offer meal-time information, menu search and favourite dishes.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B3072-6B19-4218-ABC5-9DCC61AB0255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ordering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225B5-2085-486C-B8C0-68AC173F66B4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Provide cart review, PIN authorization, history and order QR display.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8535D-1269-4A0B-A9BA-81EEBF1D813E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Support spending plans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5FC7D-92C7-4844-B75C-DE84AC543380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Show monthly spending, remaining budget and daily allowance guidance.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6BC57-F72E-4F5D-A1EC-8FC9009F389F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resilience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4136E-ACB9-40CC-96EF-F65904B22344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Complete offline QR access and validate the app with campus users.</a:t>
            </a:r>
          </a:p>
        </p:txBody>
      </p:sp>
    </p:spTree>
    <p:extLst>
      <p:ext uri="{BB962C8B-B14F-4D97-AF65-F5344CB8AC3E}">
        <p14:creationId xmlns:p14="http://schemas.microsoft.com/office/powerpoint/2010/main" val="16850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7412FF-B6D2-4916-A2B5-6EA19CC1536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67A05-DEC1-446C-BADA-16AAF512AC9F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10581-F6A8-47D8-8C8B-1307DF9C0827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53054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</a:t>
            </a:r>
            <a:r>
              <a:rPr lang="en-US" sz="2250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a</a:t>
            </a:r>
            <a:r>
              <a:rPr sz="2250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rchitecture retained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597A5-F68D-41E8-907D-03E036891349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5362575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Compose screens and ViewModels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Repositories separate UI and data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Retrofit, OkHttp and Gson connect</a:t>
            </a: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to the existing Proodle 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0F5D2-54B7-449C-875E-01C854245709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2 adds encrypted session values</a:t>
            </a:r>
          </a:p>
          <a:p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and local budget / favourite preferences.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A2136-580D-488C-8E69-608E78DC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0350" y="1711033"/>
            <a:ext cx="4895850" cy="4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62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8206E68-0764-4A5B-9090-BC0D3E717A3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rder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W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DB655-58CB-4881-83F2-88891BAF530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59929C-C239-45D5-9231-F27368E8A14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458C0-27C7-409C-A7A3-9927250CA27F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10ECD-3D1E-464B-9401-08B02A9C74AA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Search the menu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choose quantities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ABFA5-0D37-421D-BE18-24946B8C16A0}"/>
              </a:ext>
            </a:extLst>
          </p:cNvPr>
          <p:cNvSpPr>
            <a:spLocks noGrp="1"/>
          </p:cNvSpPr>
          <p:nvPr/>
        </p:nvSpPr>
        <p:spPr>
          <a:xfrm>
            <a:off x="34671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9EA87-79B2-4372-84B9-A55CC90C790E}"/>
              </a:ext>
            </a:extLst>
          </p:cNvPr>
          <p:cNvSpPr>
            <a:spLocks noGrp="1"/>
          </p:cNvSpPr>
          <p:nvPr/>
        </p:nvSpPr>
        <p:spPr>
          <a:xfrm>
            <a:off x="34671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32751-16D5-4637-87FE-5B1C97B2BE33}"/>
              </a:ext>
            </a:extLst>
          </p:cNvPr>
          <p:cNvSpPr>
            <a:spLocks noGrp="1"/>
          </p:cNvSpPr>
          <p:nvPr/>
        </p:nvSpPr>
        <p:spPr>
          <a:xfrm>
            <a:off x="34671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Check the total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confirm the PIN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B16A5-6586-4991-A151-4196B41F7894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F43219-37A8-437F-B8B9-D7DBBF55613B}"/>
              </a:ext>
            </a:extLst>
          </p:cNvPr>
          <p:cNvSpPr>
            <a:spLocks noGrp="1"/>
          </p:cNvSpPr>
          <p:nvPr/>
        </p:nvSpPr>
        <p:spPr>
          <a:xfrm>
            <a:off x="62484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75320C-90C6-4F1A-8611-C68CF56EF881}"/>
              </a:ext>
            </a:extLst>
          </p:cNvPr>
          <p:cNvSpPr>
            <a:spLocks noGrp="1"/>
          </p:cNvSpPr>
          <p:nvPr/>
        </p:nvSpPr>
        <p:spPr>
          <a:xfrm>
            <a:off x="62484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Create the order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request payment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FDF3D8-AAEF-4358-AA34-B51430FA4B31}"/>
              </a:ext>
            </a:extLst>
          </p:cNvPr>
          <p:cNvSpPr>
            <a:spLocks noGrp="1"/>
          </p:cNvSpPr>
          <p:nvPr/>
        </p:nvSpPr>
        <p:spPr>
          <a:xfrm>
            <a:off x="90297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B4E8B-44C3-4279-9010-AC272A99ABFF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72474-5726-49F7-88B9-7EE6A864F2B4}"/>
              </a:ext>
            </a:extLst>
          </p:cNvPr>
          <p:cNvSpPr>
            <a:spLocks noGrp="1"/>
          </p:cNvSpPr>
          <p:nvPr/>
        </p:nvSpPr>
        <p:spPr>
          <a:xfrm>
            <a:off x="90297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Retrieve the order QR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for counter verification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19276-E9AF-4C0B-9F96-5DDBAA728588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After an uncertain payment, check order history and wallet before retrying.</a:t>
            </a:r>
          </a:p>
        </p:txBody>
      </p:sp>
    </p:spTree>
    <p:extLst>
      <p:ext uri="{BB962C8B-B14F-4D97-AF65-F5344CB8AC3E}">
        <p14:creationId xmlns:p14="http://schemas.microsoft.com/office/powerpoint/2010/main" val="382064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C1D735-0F89-4548-B2E9-C663097F09B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rogress since Review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DDECB-506D-46A9-821A-F891901395E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22D8E8-EE82-44B9-8616-F6C8F64C00E9}"/>
              </a:ext>
            </a:extLst>
          </p:cNvPr>
          <p:cNvGraphicFramePr/>
          <p:nvPr/>
        </p:nvGraphicFramePr>
        <p:xfrm>
          <a:off x="685800" y="1857375"/>
          <a:ext cx="10820400" cy="3733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1 deliverable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2 implementation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Secure PIN storage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Android Keystore encryption for saved session values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Menu search and favourites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Dish/outlet search and locally saved favourite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Cart and checkout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Quantity controls, total review and PIN payment flow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Budget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Monthly allocation, spending summary and daily allowance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and personalization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screen with persistent dark-mode preference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2F04A4E-B140-4EAA-BCAE-406D8176FAF1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Implementation evidence now extends beyond the Review 1 foundation.</a:t>
            </a:r>
          </a:p>
        </p:txBody>
      </p:sp>
    </p:spTree>
    <p:extLst>
      <p:ext uri="{BB962C8B-B14F-4D97-AF65-F5344CB8AC3E}">
        <p14:creationId xmlns:p14="http://schemas.microsoft.com/office/powerpoint/2010/main" val="196569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62F10F-FA94-4272-86C8-B4E2D6612F0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artially completed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22291-671D-4542-8837-D374EDD475F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E41EBC-B9E4-480E-98A9-FDD0674A0B25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Order QR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76471-54C6-426B-807F-BBB5B7ADEF32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Retrieval and rendering exist. Persistent offline caching remains pending.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10674-07F1-4668-8D1D-317794AB2F47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Quick reorder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63E3C-9745-4A40-B9A0-C2485FC3EF8B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Shortcut exists. Current-menu matching needs correction and validation.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EC00D-EF9C-436F-90F5-189280DA1C1F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Budget limits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33446-AE00-47F9-8DFE-6A94911252D5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Spending feedback exists. Checkout does not enforce a spending limit.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7D075-E97D-4735-8597-D7BA598D3954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62F08-A4D2-4599-B819-85582D48678E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The client integrates Proodle. Support for other systems remains future scope.</a:t>
            </a:r>
          </a:p>
        </p:txBody>
      </p:sp>
    </p:spTree>
    <p:extLst>
      <p:ext uri="{BB962C8B-B14F-4D97-AF65-F5344CB8AC3E}">
        <p14:creationId xmlns:p14="http://schemas.microsoft.com/office/powerpoint/2010/main" val="1085947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F02F0F-51B4-4339-AA5D-F107346BD54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</a:t>
            </a:r>
            <a:r>
              <a:rPr lang="en-US"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</a:t>
            </a:r>
            <a:r>
              <a:rPr sz="33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emaining work and hostel rollout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4FEE9-94D8-42FE-9DD9-F2C6CC1930E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B9597-D553-4B57-A7B3-624AA6D50166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commitments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93495-86B6-468A-8C1A-9A6F9F11F4F5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Add offline QR caching, safe reordering and remaining history/receipt tools.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83B2-72AB-4E51-BDCC-FDBA661E35E0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Validate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A5FDF-BA38-4B68-88D7-7609B8FB0687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Test session recovery, meal/outlet mapping and payment/collection exceptions.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27C00-2154-402E-A19B-6E8E9CCF1A8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Evaluate with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3B92F-56FC-46E7-9AD9-3BA9D99F014B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Run </a:t>
            </a:r>
            <a:r>
              <a:rPr sz="2025" b="0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Foodpark</a:t>
            </a:r>
            <a:r>
              <a:rPr sz="2025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UAT and a supervised hostel pilot with agreed metrics.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08B79-273D-43EC-A26F-5174972B78F6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Prepare wider adoption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4AF09-1CBB-4758-BF7F-845FF5BD700B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Approve a signed release, support ownership and vendor capacity before expansion.</a:t>
            </a:r>
          </a:p>
        </p:txBody>
      </p:sp>
    </p:spTree>
    <p:extLst>
      <p:ext uri="{BB962C8B-B14F-4D97-AF65-F5344CB8AC3E}">
        <p14:creationId xmlns:p14="http://schemas.microsoft.com/office/powerpoint/2010/main" val="1179291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406137-6107-4F24-9752-BD74A1B219A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AF44FD-8F49-476D-92CB-311EF6CFCF5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05BB3-F073-41FA-B258-3BC71F48B2F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45FB6-99F4-4ADF-85D3-2BEC7A727DD6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108204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VITeats</a:t>
            </a:r>
            <a:r>
              <a:rPr sz="2025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Software Engineering Project: Review-1 Report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Hrishikesh D. Nayak and Hardik Lalla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Project-Review1-1.pdf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39ED3-3739-42D2-9ACB-8E0C244D7D16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Literature survey and research gap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FBC7D-088F-446C-887F-8FFE6531AE7F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08204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Section 3: Review of Related Works, pages 2-3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Section 4: Novelty and Value Proposition, page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C8BB8-BC9A-4D17-B621-D1B024E76480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2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2A6D8-D33E-4626-B2F4-0D492854AE3C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VITeats source code and recorded unit-test reports</a:t>
            </a:r>
          </a:p>
        </p:txBody>
      </p:sp>
    </p:spTree>
    <p:extLst>
      <p:ext uri="{BB962C8B-B14F-4D97-AF65-F5344CB8AC3E}">
        <p14:creationId xmlns:p14="http://schemas.microsoft.com/office/powerpoint/2010/main" val="18596975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2016</Words>
  <Application>Microsoft Office PowerPoint</Application>
  <DocSecurity>0</DocSecurity>
  <PresentationFormat>Widescreen</PresentationFormat>
  <Paragraphs>201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Hardik Omesh Lalla</cp:lastModifiedBy>
  <cp:revision>4</cp:revision>
  <dcterms:created xsi:type="dcterms:W3CDTF">2026-10-08T16:02:03Z</dcterms:created>
  <dcterms:modified xsi:type="dcterms:W3CDTF">2026-10-14T12:37:25Z</dcterms:modified>
</cp:coreProperties>
</file>