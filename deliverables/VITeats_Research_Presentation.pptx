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7969b90a694bf7" /><Relationship Type="http://schemas.openxmlformats.org/officeDocument/2006/relationships/extended-properties" Target="/docProps/app.xml" Id="Rf0836e8361af49cd" /><Relationship Type="http://schemas.openxmlformats.org/officeDocument/2006/relationships/officeDocument" Target="/ppt/presentation.xml" Id="R7bf3f5d2dd414101" /></Relationships>
</file>

<file path=ppt/presentation.xml><?xml version="1.0" encoding="utf-8"?>
<p:presentation xmlns:p="http://schemas.openxmlformats.org/presentationml/2006/main">
  <p:sldMasterIdLst>
    <p:sldMasterId xmlns:r="http://schemas.openxmlformats.org/officeDocument/2006/relationships" id="2147483648" r:id="R86303b3f1be84862"/>
  </p:sldMasterIdLst>
  <p:notesMasterIdLst>
    <p:notesMasterId xmlns:r="http://schemas.openxmlformats.org/officeDocument/2006/relationships" r:id="R7e23213e69444a58"/>
  </p:notesMasterIdLst>
  <p:sldIdLst>
    <p:sldId xmlns:r="http://schemas.openxmlformats.org/officeDocument/2006/relationships" id="256" r:id="Rba333295d7de42f3"/>
    <p:sldId xmlns:r="http://schemas.openxmlformats.org/officeDocument/2006/relationships" id="257" r:id="Ra0bf3d75000f4dbf"/>
    <p:sldId xmlns:r="http://schemas.openxmlformats.org/officeDocument/2006/relationships" id="258" r:id="Rfc7aac068760473b"/>
    <p:sldId xmlns:r="http://schemas.openxmlformats.org/officeDocument/2006/relationships" id="259" r:id="Rfd54596cb8764cf1"/>
    <p:sldId xmlns:r="http://schemas.openxmlformats.org/officeDocument/2006/relationships" id="260" r:id="R099cba0c6ab444a6"/>
    <p:sldId xmlns:r="http://schemas.openxmlformats.org/officeDocument/2006/relationships" id="261" r:id="Rdad636a1aa264b9f"/>
    <p:sldId xmlns:r="http://schemas.openxmlformats.org/officeDocument/2006/relationships" id="262" r:id="Re6cfc51926914f25"/>
    <p:sldId xmlns:r="http://schemas.openxmlformats.org/officeDocument/2006/relationships" id="263" r:id="R37a6fccc12fc4629"/>
    <p:sldId xmlns:r="http://schemas.openxmlformats.org/officeDocument/2006/relationships" id="264" r:id="Rfffc5f635cc94213"/>
    <p:sldId xmlns:r="http://schemas.openxmlformats.org/officeDocument/2006/relationships" id="265" r:id="Rc73293fd751747fd"/>
    <p:sldId xmlns:r="http://schemas.openxmlformats.org/officeDocument/2006/relationships" id="266" r:id="Rb4eca5bb8ca24391"/>
    <p:sldId xmlns:r="http://schemas.openxmlformats.org/officeDocument/2006/relationships" id="267" r:id="R0190d904a5a2489f"/>
    <p:sldId xmlns:r="http://schemas.openxmlformats.org/officeDocument/2006/relationships" id="268" r:id="Rf4097cbe52ac4c03"/>
    <p:sldId xmlns:r="http://schemas.openxmlformats.org/officeDocument/2006/relationships" id="269" r:id="R9af18e3cf5f746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a1852cd1364c1e" /><Relationship Type="http://schemas.openxmlformats.org/officeDocument/2006/relationships/slideMaster" Target="/ppt/slideMasters/slideMaster1.xml" Id="R86303b3f1be84862" /><Relationship Type="http://schemas.openxmlformats.org/officeDocument/2006/relationships/notesMaster" Target="/ppt/notesMasters/notesMaster1.xml" Id="R7e23213e69444a58" /><Relationship Type="http://schemas.openxmlformats.org/officeDocument/2006/relationships/presProps" Target="/ppt/presProps.xml" Id="R19c7a65794f24141" /><Relationship Type="http://schemas.openxmlformats.org/officeDocument/2006/relationships/tableStyles" Target="/ppt/tableStyles.xml" Id="R65c858606b564eb4" /><Relationship Type="http://schemas.openxmlformats.org/officeDocument/2006/relationships/slide" Target="/ppt/slides/slide1.xml" Id="Rba333295d7de42f3" /><Relationship Type="http://schemas.openxmlformats.org/officeDocument/2006/relationships/slide" Target="/ppt/slides/slide2.xml" Id="Ra0bf3d75000f4dbf" /><Relationship Type="http://schemas.openxmlformats.org/officeDocument/2006/relationships/slide" Target="/ppt/slides/slide3.xml" Id="Rfc7aac068760473b" /><Relationship Type="http://schemas.openxmlformats.org/officeDocument/2006/relationships/slide" Target="/ppt/slides/slide4.xml" Id="Rfd54596cb8764cf1" /><Relationship Type="http://schemas.openxmlformats.org/officeDocument/2006/relationships/slide" Target="/ppt/slides/slide5.xml" Id="R099cba0c6ab444a6" /><Relationship Type="http://schemas.openxmlformats.org/officeDocument/2006/relationships/slide" Target="/ppt/slides/slide6.xml" Id="Rdad636a1aa264b9f" /><Relationship Type="http://schemas.openxmlformats.org/officeDocument/2006/relationships/slide" Target="/ppt/slides/slide7.xml" Id="Re6cfc51926914f25" /><Relationship Type="http://schemas.openxmlformats.org/officeDocument/2006/relationships/slide" Target="/ppt/slides/slide8.xml" Id="R37a6fccc12fc4629" /><Relationship Type="http://schemas.openxmlformats.org/officeDocument/2006/relationships/slide" Target="/ppt/slides/slide9.xml" Id="Rfffc5f635cc94213" /><Relationship Type="http://schemas.openxmlformats.org/officeDocument/2006/relationships/slide" Target="/ppt/slides/slide10.xml" Id="Rc73293fd751747fd" /><Relationship Type="http://schemas.openxmlformats.org/officeDocument/2006/relationships/slide" Target="/ppt/slides/slide11.xml" Id="Rb4eca5bb8ca24391" /><Relationship Type="http://schemas.openxmlformats.org/officeDocument/2006/relationships/slide" Target="/ppt/slides/slide12.xml" Id="R0190d904a5a2489f" /><Relationship Type="http://schemas.openxmlformats.org/officeDocument/2006/relationships/slide" Target="/ppt/slides/slide13.xml" Id="Rf4097cbe52ac4c03" /><Relationship Type="http://schemas.openxmlformats.org/officeDocument/2006/relationships/slide" Target="/ppt/slides/slide14.xml" Id="R9af18e3cf5f746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01a66f10e847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5fc0a0e2a546d6" /><Relationship Type="http://schemas.openxmlformats.org/officeDocument/2006/relationships/notesMaster" Target="/ppt/notesMasters/notesMaster1.xml" Id="R55d45cc23c034a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f3085e9bc34e44" /><Relationship Type="http://schemas.openxmlformats.org/officeDocument/2006/relationships/notesMaster" Target="/ppt/notesMasters/notesMaster1.xml" Id="R22d8296154d243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cf8168374944d3" /><Relationship Type="http://schemas.openxmlformats.org/officeDocument/2006/relationships/notesMaster" Target="/ppt/notesMasters/notesMaster1.xml" Id="Rb05ce50c185e4d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f62bc08fbff4723" /><Relationship Type="http://schemas.openxmlformats.org/officeDocument/2006/relationships/notesMaster" Target="/ppt/notesMasters/notesMaster1.xml" Id="R10b099738dc743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5253dde18048df" /><Relationship Type="http://schemas.openxmlformats.org/officeDocument/2006/relationships/notesMaster" Target="/ppt/notesMasters/notesMaster1.xml" Id="R2b83aa63ffda4089"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77aefa5f0d4353" /><Relationship Type="http://schemas.openxmlformats.org/officeDocument/2006/relationships/notesMaster" Target="/ppt/notesMasters/notesMaster1.xml" Id="Rf2274bc31b8a4b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40ac1bdcad4513" /><Relationship Type="http://schemas.openxmlformats.org/officeDocument/2006/relationships/notesMaster" Target="/ppt/notesMasters/notesMaster1.xml" Id="Rf54d5bf6d89549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269e8789484e08" /><Relationship Type="http://schemas.openxmlformats.org/officeDocument/2006/relationships/notesMaster" Target="/ppt/notesMasters/notesMaster1.xml" Id="R6a870f8bd5614d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2d8087860044c8" /><Relationship Type="http://schemas.openxmlformats.org/officeDocument/2006/relationships/notesMaster" Target="/ppt/notesMasters/notesMaster1.xml" Id="Rc0291e73a8cf4a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b67b8c7ba44dbb" /><Relationship Type="http://schemas.openxmlformats.org/officeDocument/2006/relationships/notesMaster" Target="/ppt/notesMasters/notesMaster1.xml" Id="Rc95ee8c1eda04e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29b39a38b44567" /><Relationship Type="http://schemas.openxmlformats.org/officeDocument/2006/relationships/notesMaster" Target="/ppt/notesMasters/notesMaster1.xml" Id="R12bffa81734e48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ef67e7dd8524746" /><Relationship Type="http://schemas.openxmlformats.org/officeDocument/2006/relationships/notesMaster" Target="/ppt/notesMasters/notesMaster1.xml" Id="Radd28b3e1d6a4a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278d01cddbb4902" /><Relationship Type="http://schemas.openxmlformats.org/officeDocument/2006/relationships/notesMaster" Target="/ppt/notesMasters/notesMaster1.xml" Id="Rc4ef22908e8a40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1356216d424dbe" /><Relationship Type="http://schemas.openxmlformats.org/officeDocument/2006/relationships/notesMaster" Target="/ppt/notesMasters/notesMaster1.xml" Id="Reac05cbca19d4a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Android application project for hostel dining. Source: current VITeats repository and recorded unit-test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framing derives from the intended use of the app and existing Proodle integration. It is not evidence that the current campus service is manual or lacks these functions. Local queue times, complaints and student preferences require baseline measurement. Sources: data/remote/NetworkModule.kt and app UI screens.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requirements and questions to investigate, not measured shortcomings of VIT hostel operations. No campus survey or baseline service observations are present in the supplied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 Noordin and N. Mohd Zain (2023). Mobile application for ordering food from UiTM Arau Campus cafeteria. REMACS 5.0, pp. 225-226. https://ir.uitm.edu.my/id/eprint/100569/</a:t>
            </a:r>
          </a:p>
          <a:p xmlns:a="http://schemas.openxmlformats.org/drawingml/2006/main">
            <a:r>
              <a:t/>
            </a:r>
          </a:p>
          <a:p xmlns:a="http://schemas.openxmlformats.org/drawingml/2006/main">
            <a:r>
              <a:t>[2] A. Kambli, A. A. Sinha and S. Srinivas (2020). Improving campus dining operations using capacity and queue management: A simulation-based case study. Journal of Hospitality and Tourism Management, 43, 62-70. https://doi.org/10.1016/j.jhtm.2020.02.008</a:t>
            </a:r>
          </a:p>
          <a:p xmlns:a="http://schemas.openxmlformats.org/drawingml/2006/main">
            <a:r>
              <a:t/>
            </a:r>
          </a:p>
          <a:p xmlns:a="http://schemas.openxmlformats.org/drawingml/2006/main">
            <a:r>
              <a:t>Study [1] used Agile development, functionality scripts and 36 usability responses. The accessible abstract does not establish a measured local reduction in waiting time. Study [2] investigates campus dining staffing/capacity reallocation and releasing customers from queues after ordering. It is an operational simulation case study, not a VITeats performance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Y. Yu et al. (2023). FoodWise: Food Waste Reduction and Behavior Change on Campus with Data Visualization and Gamification. COMPASS 2023. https://arxiv.org/abs/2307.12882; https://doi.org/10.1145/3588001.3609364</a:t>
            </a:r>
          </a:p>
          <a:p xmlns:a="http://schemas.openxmlformats.org/drawingml/2006/main">
            <a:r>
              <a:t/>
            </a:r>
          </a:p>
          <a:p xmlns:a="http://schemas.openxmlformats.org/drawingml/2006/main">
            <a:r>
              <a:t>FoodWise combines a canteen food-waste storytelling dashboard with a mobile web app for logging food-saving actions and rewards. Its two-week HKUST campaign in March 2023 engaged over 200 participants and logged over 800 daily food-saving actions. Counts describe participation and logging, not a measured reduction in food waste. Budget feedback in VITeats applies a general feedback principle, not a tested finding of FoodWise.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 Noordin and N. Mohd Zain (2023). Mobile application for ordering food from UiTM Arau Campus cafeteria. REMACS 5.0, pp. 225-226. https://ir.uitm.edu.my/id/eprint/100569/</a:t>
            </a:r>
          </a:p>
          <a:p xmlns:a="http://schemas.openxmlformats.org/drawingml/2006/main">
            <a:r>
              <a:t/>
            </a:r>
          </a:p>
          <a:p xmlns:a="http://schemas.openxmlformats.org/drawingml/2006/main">
            <a:r>
              <a:t>[2] A. Kambli, A. A. Sinha and S. Srinivas (2020). Improving campus dining operations using capacity and queue management: A simulation-based case study. Journal of Hospitality and Tourism Management, 43, 62-70. https://doi.org/10.1016/j.jhtm.2020.02.008</a:t>
            </a:r>
          </a:p>
          <a:p xmlns:a="http://schemas.openxmlformats.org/drawingml/2006/main">
            <a:r>
              <a:t/>
            </a:r>
          </a:p>
          <a:p xmlns:a="http://schemas.openxmlformats.org/drawingml/2006/main">
            <a:r>
              <a:t>[3] Y. Yu et al. (2023). FoodWise: Food Waste Reduction and Behavior Change on Campus with Data Visualization and Gamification. COMPASS 2023. https://arxiv.org/abs/2307.12882; https://doi.org/10.1145/3588001.3609364</a:t>
            </a:r>
          </a:p>
          <a:p xmlns:a="http://schemas.openxmlformats.org/drawingml/2006/main">
            <a:r>
              <a:t/>
            </a:r>
          </a:p>
          <a:p xmlns:a="http://schemas.openxmlformats.org/drawingml/2006/main">
            <a:r>
              <a:t>This is a scoped interpretation of three reviewed studies, not a claim of exhaustive coverage or first-of-its-kind novelty. The unresolved questions concern the VIT/Proodle integration, a combined ordering and budget interface, and local operational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implemented functions and the remaining deployment evaluation. Sources: ui/auth, menu, cart, orders, student and settings; data/repository and security files. Reliable adoption requires future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approach inferred from the source structure and tests. The project contains Kotlin/Jetpack Compose, ViewModels, repositories, Retrofit/OkHttp, Proodle models and JUnit tests. No claim of completed interviews, controlled experiments or a documented historical Agile process. Sources: app/build.gradle.kts, ui/ViewModelFactory.kt, data/remote, data/repository, app/src/test.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app/build.gradle.kts, ui screens and ViewModels, data/repository, data/remote/NetworkModule.kt, SessionManager.kt, security/CryptoManager.kt. API documentation is based on observed/reverse-engineered behaviour and requires a formal agreement before deployment. The app is a client, not a replacement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data/repository/OrderRepository.kt and ui/cart/CartScreen.kt. Checkout obtains an order number, inserts items and requests payment. The client accepts a 1|reference response for payment confirmation. Validate partial failures and backend status semantics. Counter verification uses existing systems.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confirms these functions exist. The debug APK exists at app/build/outputs/apk/debug/app-debug.apk. This slide does not claim end-to-end production acceptance or successful real-money transactions. Sources: UI screens, repositories, app/build.gradle.kts and APK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app/build/test-results/testDebugUnitTest/TEST-*.xml, timestamps 2026-10-08T14:58:33Z. Existing reports record 23 tests, zero failures, zero errors and zero skipped tests. 22 are application-focused tests and 1 is the template arithmetic test. Reports were inspected, not freshly rerun for this presentation. Local test success does not establish backend reliability, scale or user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Limits derive from the source and lack of campus pilot evidence. OrderRepository uses fixed session value 2 and first-item outlet, OrdersViewModel can generate fallback reorder items, and order history suppresses QR for some statuses. Proposed evaluation is future work and is not an achieved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N. Noordin and N. Mohd Zain (2023). Mobile application for ordering food from UiTM Arau Campus cafeteria. REMACS 5.0, pp. 225-226. https://ir.uitm.edu.my/id/eprint/100569/</a:t>
            </a:r>
          </a:p>
          <a:p xmlns:a="http://schemas.openxmlformats.org/drawingml/2006/main">
            <a:r>
              <a:t/>
            </a:r>
          </a:p>
          <a:p xmlns:a="http://schemas.openxmlformats.org/drawingml/2006/main">
            <a:r>
              <a:t>[2] A. Kambli, A. A. Sinha and S. Srinivas (2020). Improving campus dining operations using capacity and queue management: A simulation-based case study. Journal of Hospitality and Tourism Management, 43, 62-70. https://doi.org/10.1016/j.jhtm.2020.02.008</a:t>
            </a:r>
          </a:p>
          <a:p xmlns:a="http://schemas.openxmlformats.org/drawingml/2006/main">
            <a:r>
              <a:t/>
            </a:r>
          </a:p>
          <a:p xmlns:a="http://schemas.openxmlformats.org/drawingml/2006/main">
            <a:r>
              <a:t>[3] Y. Yu et al. (2023). FoodWise: Food Waste Reduction and Behavior Change on Campus with Data Visualization and Gamification. COMPASS 2023. https://arxiv.org/abs/2307.12882; https://doi.org/10.1145/3588001.3609364</a:t>
            </a:r>
          </a:p>
          <a:p xmlns:a="http://schemas.openxmlformats.org/drawingml/2006/main">
            <a:r>
              <a:t/>
            </a:r>
          </a:p>
          <a:p xmlns:a="http://schemas.openxmlformats.org/drawingml/2006/main">
            <a:r>
              <a:t>Implementation sources: VITeats app/src/main/java/com/viteats/app and app/build.gradle.kts. Results sources: existing app/build/test-results/testDebugUnitTest/TEST-*.xml. Literature interpretation and proposed evaluation do not establish measured VITeats operational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6c7e5b824a4a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43eefae36346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b59e81ec1c40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25b6fc0ecee4e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14e523d5dd486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20fc93dbd4148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1FB304-A55B-42F7-9D4F-E47133CCE3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1249C4-10CD-4EA6-BC5D-2608D83CFA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2C6E00-18F0-4EC0-815E-62390817E8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8CF409-77D0-4EC6-B37E-F95A5127AE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5BDF20-9D92-463E-812C-E3D7618864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850C30-EE18-44DB-B481-8E23D6563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CBCBAE-FC9C-43B9-9A13-280C372179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9E5164-842B-4ED2-A964-894A2A2CAA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141DD-75D5-4CAC-BFD4-6D9AC18613B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479C6-F24F-4593-A141-A1842721A2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a6a356f9a9417f" /><Relationship Type="http://schemas.openxmlformats.org/officeDocument/2006/relationships/slideLayout" Target="/ppt/slideLayouts/slideLayout1.xml" Id="Rf3508c701f8549d0" /><Relationship Type="http://schemas.openxmlformats.org/officeDocument/2006/relationships/slideLayout" Target="/ppt/slideLayouts/slideLayout2.xml" Id="R48b319fb6606484e" /><Relationship Type="http://schemas.openxmlformats.org/officeDocument/2006/relationships/slideLayout" Target="/ppt/slideLayouts/slideLayout3.xml" Id="R905b79624db84163" /><Relationship Type="http://schemas.openxmlformats.org/officeDocument/2006/relationships/slideLayout" Target="/ppt/slideLayouts/slideLayout4.xml" Id="Rea73547026fb4bee" /><Relationship Type="http://schemas.openxmlformats.org/officeDocument/2006/relationships/slideLayout" Target="/ppt/slideLayouts/slideLayout5.xml" Id="R054d40d455fb43dc" /><Relationship Type="http://schemas.openxmlformats.org/officeDocument/2006/relationships/slideLayout" Target="/ppt/slideLayouts/slideLayout6.xml" Id="R39a1bc26299f4c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508c701f8549d0"/>
    <p:sldLayoutId xmlns:r="http://schemas.openxmlformats.org/officeDocument/2006/relationships" id="2147483650" r:id="R48b319fb6606484e"/>
    <p:sldLayoutId xmlns:r="http://schemas.openxmlformats.org/officeDocument/2006/relationships" id="2147483651" r:id="R905b79624db84163"/>
    <p:sldLayoutId xmlns:r="http://schemas.openxmlformats.org/officeDocument/2006/relationships" id="2147483652" r:id="Rea73547026fb4bee"/>
    <p:sldLayoutId xmlns:r="http://schemas.openxmlformats.org/officeDocument/2006/relationships" id="2147483653" r:id="R054d40d455fb43dc"/>
    <p:sldLayoutId xmlns:r="http://schemas.openxmlformats.org/officeDocument/2006/relationships" id="2147483654" r:id="R39a1bc26299f4c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43c1567f1c04e2a" /><Relationship Type="http://schemas.openxmlformats.org/officeDocument/2006/relationships/image" Target="/ppt/media/image.png" Id="R92d1f89e018b449f" /><Relationship Type="http://schemas.openxmlformats.org/officeDocument/2006/relationships/notesSlide" Target="/ppt/notesSlides/notesSlide1.xml" Id="R25bc719ae17446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75d6a447e74138" /><Relationship Type="http://schemas.openxmlformats.org/officeDocument/2006/relationships/notesSlide" Target="/ppt/notesSlides/notesSlide2.xml" Id="R8e5d1cf9c01b48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667d07d3fd43c1" /><Relationship Type="http://schemas.openxmlformats.org/officeDocument/2006/relationships/notesSlide" Target="/ppt/notesSlides/notesSlide3.xml" Id="R37f95877d9414b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c3905e8b644c04" /><Relationship Type="http://schemas.openxmlformats.org/officeDocument/2006/relationships/notesSlide" Target="/ppt/notesSlides/notesSlide4.xml" Id="R6b97cae023a841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755bd6032049c6" /><Relationship Type="http://schemas.openxmlformats.org/officeDocument/2006/relationships/notesSlide" Target="/ppt/notesSlides/notesSlide5.xml" Id="Rbfdf7c3e4bee43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73e02e455f40ae" /><Relationship Type="http://schemas.openxmlformats.org/officeDocument/2006/relationships/notesSlide" Target="/ppt/notesSlides/notesSlide6.xml" Id="R0b0b4db9281445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01647d5ce64899" /><Relationship Type="http://schemas.openxmlformats.org/officeDocument/2006/relationships/notesSlide" Target="/ppt/notesSlides/notesSlide7.xml" Id="Re43b07c9939842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639cd64938453b" /><Relationship Type="http://schemas.openxmlformats.org/officeDocument/2006/relationships/notesSlide" Target="/ppt/notesSlides/notesSlide8.xml" Id="R002b9f36de22425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f5b429268a4cae" /><Relationship Type="http://schemas.openxmlformats.org/officeDocument/2006/relationships/notesSlide" Target="/ppt/notesSlides/notesSlide9.xml" Id="R1212b27450e84a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1241f5c6af34f36" /><Relationship Type="http://schemas.openxmlformats.org/officeDocument/2006/relationships/notesSlide" Target="/ppt/notesSlides/notesSlide10.xml" Id="R7e3da38214f345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4a7d1b0f2834b78" /><Relationship Type="http://schemas.openxmlformats.org/officeDocument/2006/relationships/notesSlide" Target="/ppt/notesSlides/notesSlide11.xml" Id="R258c98b71b2240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3b574ea30e4562" /><Relationship Type="http://schemas.openxmlformats.org/officeDocument/2006/relationships/notesSlide" Target="/ppt/notesSlides/notesSlide12.xml" Id="R22a907a10bd841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e391d9364224100" /><Relationship Type="http://schemas.openxmlformats.org/officeDocument/2006/relationships/notesSlide" Target="/ppt/notesSlides/notesSlide13.xml" Id="R1e4f9865c7aa42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36a5238241b4039" /><Relationship Type="http://schemas.openxmlformats.org/officeDocument/2006/relationships/notesSlide" Target="/ppt/notesSlides/notesSlide14.xml" Id="Re9efe9c9dea44f4f" /></Relationships>
</file>

<file path=ppt/slides/slide1.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E35016-ADA8-49BE-A64C-9C1017836777}"/>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700" b="1">
                <a:solidFill>
                  <a:srgbClr val="FFFFFF"/>
                </a:solidFill>
                <a:latin typeface="Arial"/>
                <a:ea typeface="Arial"/>
                <a:cs typeface="Arial"/>
              </a:defRPr>
            </a:defPPr>
          </a:lstStyle>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VITeats</a:t>
            </a:r>
          </a:p>
        </p:txBody>
      </p:sp>
      <p:sp>
        <p:nvSpPr>
          <p:cNvPr id="2" name="">
            <a:extLst xmlns:a="http://schemas.openxmlformats.org/drawingml/2006/main">
              <a:ext uri="{FF2B5EF4-FFF2-40B4-BE49-F238E27FC236}">
                <a16:creationId xmlns:a16="http://schemas.microsoft.com/office/drawing/2014/main" id="{7FE014A6-B5AD-48A3-8659-BD8B07A02B52}"/>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AAAAAA"/>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AAAAAA"/>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002F55E-A856-4F3D-84B9-234545831703}"/>
              </a:ext>
            </a:extLst>
          </p:cNvPr>
          <p:cNvSpPr>
            <a:spLocks xmlns:a="http://schemas.openxmlformats.org/drawingml/2006/main" noGrp="1"/>
          </p:cNvSpPr>
          <p:nvPr/>
        </p:nvSpPr>
        <p:spPr>
          <a:xfrm xmlns:a="http://schemas.openxmlformats.org/drawingml/2006/main">
            <a:off x="685800" y="2114550"/>
            <a:ext cx="6905625"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450" b="1">
                <a:solidFill>
                  <a:srgbClr val="FEF08A"/>
                </a:solidFill>
                <a:latin typeface="Arial"/>
                <a:ea typeface="Arial"/>
                <a:cs typeface="Arial"/>
              </a:defRPr>
            </a:defPPr>
          </a:lstStyle>
          <a:p xmlns:a="http://schemas.openxmlformats.org/drawingml/2006/main">
            <a:pPr>
              <a:defRPr sz="3450" b="1">
                <a:solidFill>
                  <a:srgbClr val="FEF08A"/>
                </a:solidFill>
                <a:latin typeface="Arial"/>
                <a:ea typeface="Arial"/>
                <a:cs typeface="Arial"/>
              </a:defRPr>
            </a:pPr>
            <a:r>
              <a:rPr sz="3450" b="1">
                <a:solidFill>
                  <a:srgbClr val="FEF08A"/>
                </a:solidFill>
                <a:latin typeface="Arial"/>
                <a:ea typeface="Arial"/>
                <a:cs typeface="Arial"/>
              </a:rPr>
              <a:t>An Android application</a:t>
            </a:r>
          </a:p>
          <a:p xmlns:a="http://schemas.openxmlformats.org/drawingml/2006/main">
            <a:pPr>
              <a:defRPr sz="3450" b="1">
                <a:solidFill>
                  <a:srgbClr val="FEF08A"/>
                </a:solidFill>
                <a:latin typeface="Arial"/>
                <a:ea typeface="Arial"/>
                <a:cs typeface="Arial"/>
              </a:defRPr>
            </a:pPr>
            <a:r>
              <a:rPr sz="3450" b="1">
                <a:solidFill>
                  <a:srgbClr val="FEF08A"/>
                </a:solidFill>
                <a:latin typeface="Arial"/>
                <a:ea typeface="Arial"/>
                <a:cs typeface="Arial"/>
              </a:rPr>
              <a:t>for hostel dining</a:t>
            </a:r>
          </a:p>
        </p:txBody>
      </p:sp>
      <p:sp>
        <p:nvSpPr>
          <p:cNvPr id="4" name="">
            <a:extLst xmlns:a="http://schemas.openxmlformats.org/drawingml/2006/main">
              <a:ext uri="{FF2B5EF4-FFF2-40B4-BE49-F238E27FC236}">
                <a16:creationId xmlns:a16="http://schemas.microsoft.com/office/drawing/2014/main" id="{C40A71B2-F435-4F8D-B371-FA060E40929C}"/>
              </a:ext>
            </a:extLst>
          </p:cNvPr>
          <p:cNvSpPr>
            <a:spLocks xmlns:a="http://schemas.openxmlformats.org/drawingml/2006/main" noGrp="1"/>
          </p:cNvSpPr>
          <p:nvPr/>
        </p:nvSpPr>
        <p:spPr>
          <a:xfrm xmlns:a="http://schemas.openxmlformats.org/drawingml/2006/main">
            <a:off x="685800" y="4076700"/>
            <a:ext cx="6572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Project presentation for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Hostel Administration</a:t>
            </a:r>
          </a:p>
        </p:txBody>
      </p:sp>
      <p:sp>
        <p:nvSpPr>
          <p:cNvPr id="5" name="">
            <a:extLst xmlns:a="http://schemas.openxmlformats.org/drawingml/2006/main">
              <a:ext uri="{FF2B5EF4-FFF2-40B4-BE49-F238E27FC236}">
                <a16:creationId xmlns:a16="http://schemas.microsoft.com/office/drawing/2014/main" id="{36ADD6D9-AC38-4F2C-82D5-95B47A15E3FD}"/>
              </a:ext>
            </a:extLst>
          </p:cNvPr>
          <p:cNvSpPr>
            <a:spLocks xmlns:a="http://schemas.openxmlformats.org/drawingml/2006/main" noGrp="1"/>
          </p:cNvSpPr>
          <p:nvPr/>
        </p:nvSpPr>
        <p:spPr>
          <a:xfrm xmlns:a="http://schemas.openxmlformats.org/drawingml/2006/main">
            <a:off x="685800" y="5629275"/>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C9C9C9"/>
                </a:solidFill>
                <a:latin typeface="Arial"/>
                <a:ea typeface="Arial"/>
                <a:cs typeface="Arial"/>
              </a:defRPr>
            </a:defPPr>
          </a:lstStyle>
          <a:p xmlns:a="http://schemas.openxmlformats.org/drawingml/2006/main">
            <a:pPr>
              <a:defRPr sz="1725" b="0">
                <a:solidFill>
                  <a:srgbClr val="C9C9C9"/>
                </a:solidFill>
                <a:latin typeface="Arial"/>
                <a:ea typeface="Arial"/>
                <a:cs typeface="Arial"/>
              </a:defRPr>
            </a:pPr>
            <a:r>
              <a:rPr sz="1725" b="0">
                <a:solidFill>
                  <a:srgbClr val="C9C9C9"/>
                </a:solidFill>
                <a:latin typeface="Arial"/>
                <a:ea typeface="Arial"/>
                <a:cs typeface="Arial"/>
              </a:rPr>
              <a:t>8 October 2026</a:t>
            </a:r>
          </a:p>
        </p:txBody>
      </p:sp>
      <p:pic>
        <p:nvPicPr>
          <p:cNvPr id="6" name="">
            <a:extLst xmlns:a="http://schemas.openxmlformats.org/drawingml/2006/main">
              <a:ext uri="{FF2B5EF4-FFF2-40B4-BE49-F238E27FC236}">
                <a16:creationId xmlns:a16="http://schemas.microsoft.com/office/drawing/2014/main" id="{0E78D8E6-C395-4ED7-AB93-02ED23BFD81A}"/>
              </a:ext>
            </a:extLst>
          </p:cNvPr>
          <p:cNvPicPr>
            <a:picLocks xmlns:a="http://schemas.openxmlformats.org/drawingml/2006/main" noChangeAspect="1"/>
          </p:cNvPicPr>
          <p:nvPr/>
        </p:nvPicPr>
        <p:blipFill>
          <a:blip xmlns:r="http://schemas.openxmlformats.org/officeDocument/2006/relationships" xmlns:a="http://schemas.openxmlformats.org/drawingml/2006/main" r:embed="R92d1f89e018b449f"/>
          <a:stretch xmlns:a="http://schemas.openxmlformats.org/drawingml/2006/main"/>
        </p:blipFill>
        <p:spPr>
          <a:xfrm xmlns:a="http://schemas.openxmlformats.org/drawingml/2006/main">
            <a:off x="8229600" y="1685925"/>
            <a:ext cx="3048000" cy="3048000"/>
          </a:xfrm>
          <a:prstGeom xmlns:a="http://schemas.openxmlformats.org/drawingml/2006/main" prst="rect">
            <a:avLst/>
          </a:prstGeom>
        </p:spPr>
      </p:pic>
    </p:spTree>
    <p:extLst>
      <p:ext uri="{BB962C8B-B14F-4D97-AF65-F5344CB8AC3E}">
        <p14:creationId xmlns:p14="http://schemas.microsoft.com/office/powerpoint/2010/main" val="746641728"/>
      </p:ext>
    </p:extLst>
  </p:cSld>
</p:sld>
</file>

<file path=ppt/slides/slide2.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C38764-B719-457D-9F25-1123CD097B7D}"/>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29B26470-C1FB-4CF8-8F59-0495344192FB}"/>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54E5E58-AC3C-4865-9E7C-4A171BD057CC}"/>
              </a:ext>
            </a:extLst>
          </p:cNvPr>
          <p:cNvSpPr>
            <a:spLocks xmlns:a="http://schemas.openxmlformats.org/drawingml/2006/main" noGrp="1"/>
          </p:cNvSpPr>
          <p:nvPr/>
        </p:nvSpPr>
        <p:spPr>
          <a:xfrm xmlns:a="http://schemas.openxmlformats.org/drawingml/2006/main">
            <a:off x="685800" y="1885950"/>
            <a:ext cx="10572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225" b="1">
                <a:solidFill>
                  <a:srgbClr val="6740B3"/>
                </a:solidFill>
                <a:latin typeface="Arial"/>
                <a:ea typeface="Arial"/>
                <a:cs typeface="Arial"/>
              </a:defRPr>
            </a:defPPr>
          </a:lstStyle>
          <a:p xmlns:a="http://schemas.openxmlformats.org/drawingml/2006/main">
            <a:pPr>
              <a:defRPr sz="3225" b="1">
                <a:solidFill>
                  <a:srgbClr val="6740B3"/>
                </a:solidFill>
                <a:latin typeface="Arial"/>
                <a:ea typeface="Arial"/>
                <a:cs typeface="Arial"/>
              </a:defRPr>
            </a:pPr>
            <a:r>
              <a:rPr sz="3225" b="1">
                <a:solidFill>
                  <a:srgbClr val="6740B3"/>
                </a:solidFill>
                <a:latin typeface="Arial"/>
                <a:ea typeface="Arial"/>
                <a:cs typeface="Arial"/>
              </a:rPr>
              <a:t>A convenient student interface for the</a:t>
            </a:r>
          </a:p>
          <a:p xmlns:a="http://schemas.openxmlformats.org/drawingml/2006/main">
            <a:pPr>
              <a:defRPr sz="3225" b="1">
                <a:solidFill>
                  <a:srgbClr val="6740B3"/>
                </a:solidFill>
                <a:latin typeface="Arial"/>
                <a:ea typeface="Arial"/>
                <a:cs typeface="Arial"/>
              </a:defRPr>
            </a:pPr>
            <a:r>
              <a:rPr sz="3225" b="1">
                <a:solidFill>
                  <a:srgbClr val="6740B3"/>
                </a:solidFill>
                <a:latin typeface="Arial"/>
                <a:ea typeface="Arial"/>
                <a:cs typeface="Arial"/>
              </a:rPr>
              <a:t>existing hostel meal service</a:t>
            </a:r>
          </a:p>
        </p:txBody>
      </p:sp>
      <p:sp>
        <p:nvSpPr>
          <p:cNvPr id="4" name="">
            <a:extLst xmlns:a="http://schemas.openxmlformats.org/drawingml/2006/main">
              <a:ext uri="{FF2B5EF4-FFF2-40B4-BE49-F238E27FC236}">
                <a16:creationId xmlns:a16="http://schemas.microsoft.com/office/drawing/2014/main" id="{6C137895-55BF-4E93-8851-8AD85DA8AEA8}"/>
              </a:ext>
            </a:extLst>
          </p:cNvPr>
          <p:cNvSpPr>
            <a:spLocks xmlns:a="http://schemas.openxmlformats.org/drawingml/2006/main" noGrp="1"/>
          </p:cNvSpPr>
          <p:nvPr/>
        </p:nvSpPr>
        <p:spPr>
          <a:xfrm xmlns:a="http://schemas.openxmlformats.org/drawingml/2006/main">
            <a:off x="685800" y="3495675"/>
            <a:ext cx="10572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0">
                <a:solidFill>
                  <a:srgbClr val="121212"/>
                </a:solidFill>
                <a:latin typeface="Arial"/>
                <a:ea typeface="Arial"/>
                <a:cs typeface="Arial"/>
              </a:defRPr>
            </a:defPPr>
          </a:lstStyle>
          <a:p xmlns:a="http://schemas.openxmlformats.org/drawingml/2006/main">
            <a:pPr>
              <a:defRPr sz="2325" b="0">
                <a:solidFill>
                  <a:srgbClr val="121212"/>
                </a:solidFill>
                <a:latin typeface="Arial"/>
                <a:ea typeface="Arial"/>
                <a:cs typeface="Arial"/>
              </a:defRPr>
            </a:pPr>
            <a:r>
              <a:rPr sz="2325" b="0">
                <a:solidFill>
                  <a:srgbClr val="121212"/>
                </a:solidFill>
                <a:latin typeface="Arial"/>
                <a:ea typeface="Arial"/>
                <a:cs typeface="Arial"/>
              </a:rPr>
              <a:t>Students need a clear way to find available meals, review costs,</a:t>
            </a:r>
          </a:p>
          <a:p xmlns:a="http://schemas.openxmlformats.org/drawingml/2006/main">
            <a:pPr>
              <a:defRPr sz="2325" b="0">
                <a:solidFill>
                  <a:srgbClr val="121212"/>
                </a:solidFill>
                <a:latin typeface="Arial"/>
                <a:ea typeface="Arial"/>
                <a:cs typeface="Arial"/>
              </a:defRPr>
            </a:pPr>
            <a:r>
              <a:rPr sz="2325" b="0">
                <a:solidFill>
                  <a:srgbClr val="121212"/>
                </a:solidFill>
                <a:latin typeface="Arial"/>
                <a:ea typeface="Arial"/>
                <a:cs typeface="Arial"/>
              </a:rPr>
              <a:t>authorize orders and retrieve collection details on Android.</a:t>
            </a:r>
          </a:p>
        </p:txBody>
      </p:sp>
      <p:sp>
        <p:nvSpPr>
          <p:cNvPr id="5" name="">
            <a:extLst xmlns:a="http://schemas.openxmlformats.org/drawingml/2006/main">
              <a:ext uri="{FF2B5EF4-FFF2-40B4-BE49-F238E27FC236}">
                <a16:creationId xmlns:a16="http://schemas.microsoft.com/office/drawing/2014/main" id="{81AAFCF3-CB5B-4B57-9B72-8632A4CD3C4C}"/>
              </a:ext>
            </a:extLst>
          </p:cNvPr>
          <p:cNvSpPr>
            <a:spLocks xmlns:a="http://schemas.openxmlformats.org/drawingml/2006/main" noGrp="1"/>
          </p:cNvSpPr>
          <p:nvPr/>
        </p:nvSpPr>
        <p:spPr>
          <a:xfrm xmlns:a="http://schemas.openxmlformats.org/drawingml/2006/main">
            <a:off x="685800" y="5038725"/>
            <a:ext cx="10572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21212"/>
                </a:solidFill>
                <a:latin typeface="Arial"/>
                <a:ea typeface="Arial"/>
                <a:cs typeface="Arial"/>
              </a:defRPr>
            </a:defPPr>
          </a:lstStyle>
          <a:p xmlns:a="http://schemas.openxmlformats.org/drawingml/2006/main">
            <a:pPr>
              <a:defRPr sz="2175" b="0">
                <a:solidFill>
                  <a:srgbClr val="121212"/>
                </a:solidFill>
                <a:latin typeface="Arial"/>
                <a:ea typeface="Arial"/>
                <a:cs typeface="Arial"/>
              </a:defRPr>
            </a:pPr>
            <a:r>
              <a:rPr sz="2175" b="0">
                <a:solidFill>
                  <a:srgbClr val="121212"/>
                </a:solidFill>
                <a:latin typeface="Arial"/>
                <a:ea typeface="Arial"/>
                <a:cs typeface="Arial"/>
              </a:rPr>
              <a:t>The project also addresses personal spending visibility through</a:t>
            </a:r>
          </a:p>
          <a:p xmlns:a="http://schemas.openxmlformats.org/drawingml/2006/main">
            <a:pPr>
              <a:defRPr sz="2175" b="0">
                <a:solidFill>
                  <a:srgbClr val="121212"/>
                </a:solidFill>
                <a:latin typeface="Arial"/>
                <a:ea typeface="Arial"/>
                <a:cs typeface="Arial"/>
              </a:defRPr>
            </a:pPr>
            <a:r>
              <a:rPr sz="2175" b="0">
                <a:solidFill>
                  <a:srgbClr val="121212"/>
                </a:solidFill>
                <a:latin typeface="Arial"/>
                <a:ea typeface="Arial"/>
                <a:cs typeface="Arial"/>
              </a:rPr>
              <a:t>wallet information and a monthly budget summary.</a:t>
            </a:r>
          </a:p>
        </p:txBody>
      </p:sp>
    </p:spTree>
    <p:extLst>
      <p:ext uri="{BB962C8B-B14F-4D97-AF65-F5344CB8AC3E}">
        <p14:creationId xmlns:p14="http://schemas.microsoft.com/office/powerpoint/2010/main" val="846826518"/>
      </p:ext>
    </p:extLst>
  </p:cSld>
</p:sld>
</file>

<file path=ppt/slides/slide3.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F8BF6DB-C152-487B-AAEC-A7990AF97032}"/>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Problem statement: local requirements</a:t>
            </a:r>
          </a:p>
        </p:txBody>
      </p:sp>
      <p:sp>
        <p:nvSpPr>
          <p:cNvPr id="2" name="">
            <a:extLst xmlns:a="http://schemas.openxmlformats.org/drawingml/2006/main">
              <a:ext uri="{FF2B5EF4-FFF2-40B4-BE49-F238E27FC236}">
                <a16:creationId xmlns:a16="http://schemas.microsoft.com/office/drawing/2014/main" id="{3DE0FBEC-980D-4395-AC60-CB9D958D6662}"/>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24327B18-ACBB-48E5-9D91-811BC0AAE29B}"/>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Meal selection</a:t>
            </a:r>
          </a:p>
        </p:txBody>
      </p:sp>
      <p:sp>
        <p:nvSpPr>
          <p:cNvPr id="4" name="">
            <a:extLst xmlns:a="http://schemas.openxmlformats.org/drawingml/2006/main">
              <a:ext uri="{FF2B5EF4-FFF2-40B4-BE49-F238E27FC236}">
                <a16:creationId xmlns:a16="http://schemas.microsoft.com/office/drawing/2014/main" id="{0E89D5A5-B9D3-4465-AFD7-D7D761322F80}"/>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Show dishes, portions, outlet names and the latest available stock.</a:t>
            </a:r>
          </a:p>
        </p:txBody>
      </p:sp>
      <p:sp>
        <p:nvSpPr>
          <p:cNvPr id="5" name="">
            <a:extLst xmlns:a="http://schemas.openxmlformats.org/drawingml/2006/main">
              <a:ext uri="{FF2B5EF4-FFF2-40B4-BE49-F238E27FC236}">
                <a16:creationId xmlns:a16="http://schemas.microsoft.com/office/drawing/2014/main" id="{1AB1C51B-0390-4A71-99B4-3B8E3C4771B5}"/>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Payment clarity</a:t>
            </a:r>
          </a:p>
        </p:txBody>
      </p:sp>
      <p:sp>
        <p:nvSpPr>
          <p:cNvPr id="6" name="">
            <a:extLst xmlns:a="http://schemas.openxmlformats.org/drawingml/2006/main">
              <a:ext uri="{FF2B5EF4-FFF2-40B4-BE49-F238E27FC236}">
                <a16:creationId xmlns:a16="http://schemas.microsoft.com/office/drawing/2014/main" id="{6512ADC9-DCAA-4568-A061-1F2CC9FD8C40}"/>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Show the cart total and explain how to handle uncertain payment.</a:t>
            </a:r>
          </a:p>
        </p:txBody>
      </p:sp>
      <p:sp>
        <p:nvSpPr>
          <p:cNvPr id="7" name="">
            <a:extLst xmlns:a="http://schemas.openxmlformats.org/drawingml/2006/main">
              <a:ext uri="{FF2B5EF4-FFF2-40B4-BE49-F238E27FC236}">
                <a16:creationId xmlns:a16="http://schemas.microsoft.com/office/drawing/2014/main" id="{BF6BC517-8386-4A0B-A34F-33DFA6B9CA0A}"/>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Collection</a:t>
            </a:r>
          </a:p>
        </p:txBody>
      </p:sp>
      <p:sp>
        <p:nvSpPr>
          <p:cNvPr id="8" name="">
            <a:extLst xmlns:a="http://schemas.openxmlformats.org/drawingml/2006/main">
              <a:ext uri="{FF2B5EF4-FFF2-40B4-BE49-F238E27FC236}">
                <a16:creationId xmlns:a16="http://schemas.microsoft.com/office/drawing/2014/main" id="{0E422DA4-6325-4C6A-B06D-C0C76FC93107}"/>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Provide an order reference and QR display for counter verification.</a:t>
            </a:r>
          </a:p>
        </p:txBody>
      </p:sp>
      <p:sp>
        <p:nvSpPr>
          <p:cNvPr id="9" name="">
            <a:extLst xmlns:a="http://schemas.openxmlformats.org/drawingml/2006/main">
              <a:ext uri="{FF2B5EF4-FFF2-40B4-BE49-F238E27FC236}">
                <a16:creationId xmlns:a16="http://schemas.microsoft.com/office/drawing/2014/main" id="{FC182CAF-CEC6-4D15-BB22-27A1886A7605}"/>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Spending awareness</a:t>
            </a:r>
          </a:p>
        </p:txBody>
      </p:sp>
      <p:sp>
        <p:nvSpPr>
          <p:cNvPr id="10" name="">
            <a:extLst xmlns:a="http://schemas.openxmlformats.org/drawingml/2006/main">
              <a:ext uri="{FF2B5EF4-FFF2-40B4-BE49-F238E27FC236}">
                <a16:creationId xmlns:a16="http://schemas.microsoft.com/office/drawing/2014/main" id="{BA20692B-76B6-4414-86CF-698E65E02853}"/>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Help students compare wallet funds with a personal monthly budget.</a:t>
            </a:r>
          </a:p>
        </p:txBody>
      </p:sp>
    </p:spTree>
    <p:extLst>
      <p:ext uri="{BB962C8B-B14F-4D97-AF65-F5344CB8AC3E}">
        <p14:creationId xmlns:p14="http://schemas.microsoft.com/office/powerpoint/2010/main" val="1692608499"/>
      </p:ext>
    </p:extLst>
  </p:cSld>
</p:sld>
</file>

<file path=ppt/slides/slide4.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EE49ED-9863-4A4B-87E9-FD227651F78F}"/>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Literature survey: ordering and queues</a:t>
            </a:r>
          </a:p>
        </p:txBody>
      </p:sp>
      <p:sp>
        <p:nvSpPr>
          <p:cNvPr id="2" name="">
            <a:extLst xmlns:a="http://schemas.openxmlformats.org/drawingml/2006/main">
              <a:ext uri="{FF2B5EF4-FFF2-40B4-BE49-F238E27FC236}">
                <a16:creationId xmlns:a16="http://schemas.microsoft.com/office/drawing/2014/main" id="{85B348E4-AB88-4401-B66A-365AF24DB849}"/>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977A4613-F401-496D-8827-FB3C1E0AC7ED}"/>
              </a:ext>
            </a:extLst>
          </p:cNvPr>
          <p:cNvGraphicFramePr/>
          <p:nvPr/>
        </p:nvGraphicFramePr>
        <p:xfrm>
          <a:off xmlns:a="http://schemas.openxmlformats.org/drawingml/2006/main" x="685800" y="1857375"/>
          <a:ext xmlns:a="http://schemas.openxmlformats.org/drawingml/2006/main" cx="10820400" cy="3333750"/>
        </p:xfrm>
        <a:graphic xmlns:a="http://schemas.openxmlformats.org/drawingml/2006/main">
          <a:graphicData uri="http://schemas.openxmlformats.org/drawingml/2006/table">
            <a:tbl>
              <a:tblPr/>
              <a:tblGrid>
                <a:gridCol w="2476500"/>
                <a:gridCol w="2628900"/>
                <a:gridCol w="2952750"/>
                <a:gridCol w="2762250"/>
              </a:tblGrid>
              <a:tr h="1111250">
                <a:tc>
                  <a:txBody>
                    <a:bodyPr lIns="114300" tIns="114300" rIns="114300" bIns="114300"/>
                    <a:lstStyle/>
                    <a:p>
                      <a:r>
                        <a:rPr sz="1800" b="1">
                          <a:solidFill>
                            <a:srgbClr val="FFFFFF"/>
                          </a:solidFill>
                          <a:latin typeface="Arial"/>
                          <a:ea typeface="Arial"/>
                          <a:cs typeface="Arial"/>
                        </a:rPr>
                        <a:t>Study</a:t>
                      </a:r>
                    </a:p>
                  </a:txBody>
                  <a:tcPr marL="91440" marR="91440" marT="45720" marB="45720">
                    <a:solidFill>
                      <a:srgbClr val="6740B3"/>
                    </a:solidFill>
                  </a:tcPr>
                </a:tc>
                <a:tc>
                  <a:txBody>
                    <a:bodyPr lIns="114300" tIns="114300" rIns="114300" bIns="114300"/>
                    <a:lstStyle/>
                    <a:p>
                      <a:r>
                        <a:rPr sz="1800" b="1">
                          <a:solidFill>
                            <a:srgbClr val="FFFFFF"/>
                          </a:solidFill>
                          <a:latin typeface="Arial"/>
                          <a:ea typeface="Arial"/>
                          <a:cs typeface="Arial"/>
                        </a:rPr>
                        <a:t>Approach</a:t>
                      </a:r>
                    </a:p>
                  </a:txBody>
                  <a:tcPr marL="91440" marR="91440" marT="45720" marB="45720">
                    <a:solidFill>
                      <a:srgbClr val="6740B3"/>
                    </a:solidFill>
                  </a:tcPr>
                </a:tc>
                <a:tc>
                  <a:txBody>
                    <a:bodyPr lIns="114300" tIns="114300" rIns="114300" bIns="114300"/>
                    <a:lstStyle/>
                    <a:p>
                      <a:r>
                        <a:rPr sz="1800" b="1">
                          <a:solidFill>
                            <a:srgbClr val="FFFFFF"/>
                          </a:solidFill>
                          <a:latin typeface="Arial"/>
                          <a:ea typeface="Arial"/>
                          <a:cs typeface="Arial"/>
                        </a:rPr>
                        <a:t>Relevant finding</a:t>
                      </a:r>
                    </a:p>
                  </a:txBody>
                  <a:tcPr marL="91440" marR="91440" marT="45720" marB="45720">
                    <a:solidFill>
                      <a:srgbClr val="6740B3"/>
                    </a:solidFill>
                  </a:tcPr>
                </a:tc>
                <a:tc>
                  <a:txBody>
                    <a:bodyPr lIns="114300" tIns="114300" rIns="114300" bIns="114300"/>
                    <a:lstStyle/>
                    <a:p>
                      <a:r>
                        <a:rPr sz="1800" b="1">
                          <a:solidFill>
                            <a:srgbClr val="FFFFFF"/>
                          </a:solidFill>
                          <a:latin typeface="Arial"/>
                          <a:ea typeface="Arial"/>
                          <a:cs typeface="Arial"/>
                        </a:rPr>
                        <a:t>VITeats implication</a:t>
                      </a:r>
                    </a:p>
                  </a:txBody>
                  <a:tcPr marL="91440" marR="91440" marT="45720" marB="45720">
                    <a:solidFill>
                      <a:srgbClr val="6740B3"/>
                    </a:solidFill>
                  </a:tcPr>
                </a:tc>
              </a:tr>
              <a:tr h="1111250">
                <a:tc>
                  <a:txBody>
                    <a:bodyPr lIns="114300" tIns="114300" rIns="114300" bIns="114300"/>
                    <a:lstStyle/>
                    <a:p>
                      <a:r>
                        <a:rPr sz="1800" b="0">
                          <a:solidFill>
                            <a:srgbClr val="121212"/>
                          </a:solidFill>
                          <a:latin typeface="Arial"/>
                          <a:ea typeface="Arial"/>
                          <a:cs typeface="Arial"/>
                        </a:rPr>
                        <a:t>Noordin and</a:t>
                      </a:r>
                    </a:p>
                    <a:p>
                      <a:r>
                        <a:rPr sz="1800" b="0">
                          <a:solidFill>
                            <a:srgbClr val="121212"/>
                          </a:solidFill>
                          <a:latin typeface="Arial"/>
                          <a:ea typeface="Arial"/>
                          <a:cs typeface="Arial"/>
                        </a:rPr>
                        <a:t>Mohd Zain</a:t>
                      </a:r>
                    </a:p>
                    <a:p>
                      <a:r>
                        <a:rPr sz="1800" b="0">
                          <a:solidFill>
                            <a:srgbClr val="121212"/>
                          </a:solidFill>
                          <a:latin typeface="Arial"/>
                          <a:ea typeface="Arial"/>
                          <a:cs typeface="Arial"/>
                        </a:rPr>
                        <a:t>2023 [1]</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Campus food app</a:t>
                      </a:r>
                    </a:p>
                    <a:p>
                      <a:r>
                        <a:rPr sz="1800" b="0">
                          <a:solidFill>
                            <a:srgbClr val="121212"/>
                          </a:solidFill>
                          <a:latin typeface="Arial"/>
                          <a:ea typeface="Arial"/>
                          <a:cs typeface="Arial"/>
                        </a:rPr>
                        <a:t>Function tests</a:t>
                      </a:r>
                    </a:p>
                    <a:p>
                      <a:r>
                        <a:rPr sz="1800" b="0">
                          <a:solidFill>
                            <a:srgbClr val="121212"/>
                          </a:solidFill>
                          <a:latin typeface="Arial"/>
                          <a:ea typeface="Arial"/>
                          <a:cs typeface="Arial"/>
                        </a:rPr>
                        <a:t>36 usability responses</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Campus-specific ordering</a:t>
                      </a:r>
                    </a:p>
                    <a:p>
                      <a:r>
                        <a:rPr sz="1800" b="0">
                          <a:solidFill>
                            <a:srgbClr val="121212"/>
                          </a:solidFill>
                          <a:latin typeface="Arial"/>
                          <a:ea typeface="Arial"/>
                          <a:cs typeface="Arial"/>
                        </a:rPr>
                        <a:t>and user evaluation</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Evaluate student tasks</a:t>
                      </a:r>
                    </a:p>
                    <a:p>
                      <a:r>
                        <a:rPr sz="1800" b="0">
                          <a:solidFill>
                            <a:srgbClr val="121212"/>
                          </a:solidFill>
                          <a:latin typeface="Arial"/>
                          <a:ea typeface="Arial"/>
                          <a:cs typeface="Arial"/>
                        </a:rPr>
                        <a:t>and usability locally</a:t>
                      </a:r>
                    </a:p>
                  </a:txBody>
                  <a:tcPr marL="91440" marR="91440" marT="45720" marB="45720">
                    <a:solidFill>
                      <a:srgbClr val="F0EBFA"/>
                    </a:solidFill>
                  </a:tcPr>
                </a:tc>
              </a:tr>
              <a:tr h="1111250">
                <a:tc>
                  <a:txBody>
                    <a:bodyPr lIns="114300" tIns="114300" rIns="114300" bIns="114300"/>
                    <a:lstStyle/>
                    <a:p>
                      <a:r>
                        <a:rPr sz="1800" b="0">
                          <a:solidFill>
                            <a:srgbClr val="121212"/>
                          </a:solidFill>
                          <a:latin typeface="Arial"/>
                          <a:ea typeface="Arial"/>
                          <a:cs typeface="Arial"/>
                        </a:rPr>
                        <a:t>Kambli et al.</a:t>
                      </a:r>
                    </a:p>
                    <a:p>
                      <a:r>
                        <a:rPr sz="1800" b="0">
                          <a:solidFill>
                            <a:srgbClr val="121212"/>
                          </a:solidFill>
                          <a:latin typeface="Arial"/>
                          <a:ea typeface="Arial"/>
                          <a:cs typeface="Arial"/>
                        </a:rPr>
                        <a:t>2020 [2]</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Dining-service</a:t>
                      </a:r>
                    </a:p>
                    <a:p>
                      <a:r>
                        <a:rPr sz="1800" b="0">
                          <a:solidFill>
                            <a:srgbClr val="121212"/>
                          </a:solidFill>
                          <a:latin typeface="Arial"/>
                          <a:ea typeface="Arial"/>
                          <a:cs typeface="Arial"/>
                        </a:rPr>
                        <a:t>capacity and queue</a:t>
                      </a:r>
                    </a:p>
                    <a:p>
                      <a:r>
                        <a:rPr sz="1800" b="0">
                          <a:solidFill>
                            <a:srgbClr val="121212"/>
                          </a:solidFill>
                          <a:latin typeface="Arial"/>
                          <a:ea typeface="Arial"/>
                          <a:cs typeface="Arial"/>
                        </a:rPr>
                        <a:t>simulation</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Examines staffing and</a:t>
                      </a:r>
                    </a:p>
                    <a:p>
                      <a:r>
                        <a:rPr sz="1800" b="0">
                          <a:solidFill>
                            <a:srgbClr val="121212"/>
                          </a:solidFill>
                          <a:latin typeface="Arial"/>
                          <a:ea typeface="Arial"/>
                          <a:cs typeface="Arial"/>
                        </a:rPr>
                        <a:t>collection flow alongside</a:t>
                      </a:r>
                    </a:p>
                    <a:p>
                      <a:r>
                        <a:rPr sz="1800" b="0">
                          <a:solidFill>
                            <a:srgbClr val="121212"/>
                          </a:solidFill>
                          <a:latin typeface="Arial"/>
                          <a:ea typeface="Arial"/>
                          <a:cs typeface="Arial"/>
                        </a:rPr>
                        <a:t>order placement</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Measure counter wait</a:t>
                      </a:r>
                    </a:p>
                    <a:p>
                      <a:r>
                        <a:rPr sz="1800" b="0">
                          <a:solidFill>
                            <a:srgbClr val="121212"/>
                          </a:solidFill>
                          <a:latin typeface="Arial"/>
                          <a:ea typeface="Arial"/>
                          <a:cs typeface="Arial"/>
                        </a:rPr>
                        <a:t>as well as app use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33635AF-F171-4BED-8BE4-8C4BAA51B468}"/>
              </a:ext>
            </a:extLst>
          </p:cNvPr>
          <p:cNvSpPr>
            <a:spLocks xmlns:a="http://schemas.openxmlformats.org/drawingml/2006/main" noGrp="1"/>
          </p:cNvSpPr>
          <p:nvPr/>
        </p:nvSpPr>
        <p:spPr>
          <a:xfrm xmlns:a="http://schemas.openxmlformats.org/drawingml/2006/main">
            <a:off x="685800" y="5572125"/>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1">
                <a:solidFill>
                  <a:srgbClr val="121212"/>
                </a:solidFill>
                <a:latin typeface="Arial"/>
                <a:ea typeface="Arial"/>
                <a:cs typeface="Arial"/>
              </a:defRPr>
            </a:defPPr>
          </a:lstStyle>
          <a:p xmlns:a="http://schemas.openxmlformats.org/drawingml/2006/main">
            <a:pPr>
              <a:defRPr sz="1800" b="1">
                <a:solidFill>
                  <a:srgbClr val="121212"/>
                </a:solidFill>
                <a:latin typeface="Arial"/>
                <a:ea typeface="Arial"/>
                <a:cs typeface="Arial"/>
              </a:defRPr>
            </a:pPr>
            <a:r>
              <a:rPr sz="1800" b="1">
                <a:solidFill>
                  <a:srgbClr val="121212"/>
                </a:solidFill>
                <a:latin typeface="Arial"/>
                <a:ea typeface="Arial"/>
                <a:cs typeface="Arial"/>
              </a:rPr>
              <a:t>Related studies inform the design. Their outcomes do not establish VITeats performance.</a:t>
            </a:r>
          </a:p>
        </p:txBody>
      </p:sp>
    </p:spTree>
    <p:extLst>
      <p:ext uri="{BB962C8B-B14F-4D97-AF65-F5344CB8AC3E}">
        <p14:creationId xmlns:p14="http://schemas.microsoft.com/office/powerpoint/2010/main" val="1654910311"/>
      </p:ext>
    </p:extLst>
  </p:cSld>
</p:sld>
</file>

<file path=ppt/slides/slide5.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5D4EFA-ACDD-4FB1-BEAF-FDC6794C0DBB}"/>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Literature survey: campus feedback</a:t>
            </a:r>
          </a:p>
        </p:txBody>
      </p:sp>
      <p:sp>
        <p:nvSpPr>
          <p:cNvPr id="2" name="">
            <a:extLst xmlns:a="http://schemas.openxmlformats.org/drawingml/2006/main">
              <a:ext uri="{FF2B5EF4-FFF2-40B4-BE49-F238E27FC236}">
                <a16:creationId xmlns:a16="http://schemas.microsoft.com/office/drawing/2014/main" id="{E976615B-EEC8-4B2E-80C2-90548FC9E87C}"/>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AD65292-5A70-4159-A7DA-12D2AF7E0BEC}"/>
              </a:ext>
            </a:extLst>
          </p:cNvPr>
          <p:cNvSpPr>
            <a:spLocks xmlns:a="http://schemas.openxmlformats.org/drawingml/2006/main" noGrp="1"/>
          </p:cNvSpPr>
          <p:nvPr/>
        </p:nvSpPr>
        <p:spPr>
          <a:xfrm xmlns:a="http://schemas.openxmlformats.org/drawingml/2006/main">
            <a:off x="685800" y="1876425"/>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550" b="1">
                <a:solidFill>
                  <a:srgbClr val="6740B3"/>
                </a:solidFill>
                <a:latin typeface="Arial"/>
                <a:ea typeface="Arial"/>
                <a:cs typeface="Arial"/>
              </a:defRPr>
            </a:defPPr>
          </a:lstStyle>
          <a:p xmlns:a="http://schemas.openxmlformats.org/drawingml/2006/main">
            <a:pPr>
              <a:defRPr sz="2550" b="1">
                <a:solidFill>
                  <a:srgbClr val="6740B3"/>
                </a:solidFill>
                <a:latin typeface="Arial"/>
                <a:ea typeface="Arial"/>
                <a:cs typeface="Arial"/>
              </a:defRPr>
            </a:pPr>
            <a:r>
              <a:rPr sz="2550" b="1">
                <a:solidFill>
                  <a:srgbClr val="6740B3"/>
                </a:solidFill>
                <a:latin typeface="Arial"/>
                <a:ea typeface="Arial"/>
                <a:cs typeface="Arial"/>
              </a:rPr>
              <a:t>FoodWise, Yu et al. (2023) [3]</a:t>
            </a:r>
          </a:p>
        </p:txBody>
      </p:sp>
      <p:sp>
        <p:nvSpPr>
          <p:cNvPr id="4" name="">
            <a:extLst xmlns:a="http://schemas.openxmlformats.org/drawingml/2006/main">
              <a:ext uri="{FF2B5EF4-FFF2-40B4-BE49-F238E27FC236}">
                <a16:creationId xmlns:a16="http://schemas.microsoft.com/office/drawing/2014/main" id="{107AA214-57A3-47AA-8645-C99E2ECEBF0E}"/>
              </a:ext>
            </a:extLst>
          </p:cNvPr>
          <p:cNvSpPr>
            <a:spLocks xmlns:a="http://schemas.openxmlformats.org/drawingml/2006/main" noGrp="1"/>
          </p:cNvSpPr>
          <p:nvPr/>
        </p:nvSpPr>
        <p:spPr>
          <a:xfrm xmlns:a="http://schemas.openxmlformats.org/drawingml/2006/main">
            <a:off x="685800" y="2714625"/>
            <a:ext cx="10477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121212"/>
                </a:solidFill>
                <a:latin typeface="Arial"/>
                <a:ea typeface="Arial"/>
                <a:cs typeface="Arial"/>
              </a:defRPr>
            </a:defPPr>
          </a:lstStyle>
          <a:p xmlns:a="http://schemas.openxmlformats.org/drawingml/2006/main">
            <a:pPr>
              <a:defRPr sz="2250" b="0">
                <a:solidFill>
                  <a:srgbClr val="121212"/>
                </a:solidFill>
                <a:latin typeface="Arial"/>
                <a:ea typeface="Arial"/>
                <a:cs typeface="Arial"/>
              </a:defRPr>
            </a:pPr>
            <a:r>
              <a:rPr sz="2250" b="0">
                <a:solidFill>
                  <a:srgbClr val="121212"/>
                </a:solidFill>
                <a:latin typeface="Arial"/>
                <a:ea typeface="Arial"/>
                <a:cs typeface="Arial"/>
              </a:rPr>
              <a:t>Campus dashboard and mobile web app used</a:t>
            </a:r>
          </a:p>
          <a:p xmlns:a="http://schemas.openxmlformats.org/drawingml/2006/main">
            <a:pPr>
              <a:defRPr sz="2250" b="0">
                <a:solidFill>
                  <a:srgbClr val="121212"/>
                </a:solidFill>
                <a:latin typeface="Arial"/>
                <a:ea typeface="Arial"/>
                <a:cs typeface="Arial"/>
              </a:defRPr>
            </a:pPr>
            <a:r>
              <a:rPr sz="2250" b="0">
                <a:solidFill>
                  <a:srgbClr val="121212"/>
                </a:solidFill>
                <a:latin typeface="Arial"/>
                <a:ea typeface="Arial"/>
                <a:cs typeface="Arial"/>
              </a:rPr>
              <a:t>feedback and rewards to encourage food-saving actions.</a:t>
            </a:r>
          </a:p>
        </p:txBody>
      </p:sp>
      <p:sp>
        <p:nvSpPr>
          <p:cNvPr id="5" name="">
            <a:extLst xmlns:a="http://schemas.openxmlformats.org/drawingml/2006/main">
              <a:ext uri="{FF2B5EF4-FFF2-40B4-BE49-F238E27FC236}">
                <a16:creationId xmlns:a16="http://schemas.microsoft.com/office/drawing/2014/main" id="{CBCF4786-6383-4595-8D1E-4262E233879C}"/>
              </a:ext>
            </a:extLst>
          </p:cNvPr>
          <p:cNvSpPr>
            <a:spLocks xmlns:a="http://schemas.openxmlformats.org/drawingml/2006/main" noGrp="1"/>
          </p:cNvSpPr>
          <p:nvPr/>
        </p:nvSpPr>
        <p:spPr>
          <a:xfrm xmlns:a="http://schemas.openxmlformats.org/drawingml/2006/main">
            <a:off x="685800" y="403860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025" b="1">
                <a:solidFill>
                  <a:srgbClr val="6740B3"/>
                </a:solidFill>
                <a:latin typeface="Arial"/>
                <a:ea typeface="Arial"/>
                <a:cs typeface="Arial"/>
              </a:defRPr>
            </a:defPPr>
          </a:lstStyle>
          <a:p xmlns:a="http://schemas.openxmlformats.org/drawingml/2006/main">
            <a:pPr>
              <a:defRPr sz="5025" b="1">
                <a:solidFill>
                  <a:srgbClr val="6740B3"/>
                </a:solidFill>
                <a:latin typeface="Arial"/>
                <a:ea typeface="Arial"/>
                <a:cs typeface="Arial"/>
              </a:defRPr>
            </a:pPr>
            <a:r>
              <a:rPr sz="5025" b="1">
                <a:solidFill>
                  <a:srgbClr val="6740B3"/>
                </a:solidFill>
                <a:latin typeface="Arial"/>
                <a:ea typeface="Arial"/>
                <a:cs typeface="Arial"/>
              </a:rPr>
              <a:t>200+</a:t>
            </a:r>
          </a:p>
        </p:txBody>
      </p:sp>
      <p:sp>
        <p:nvSpPr>
          <p:cNvPr id="6" name="">
            <a:extLst xmlns:a="http://schemas.openxmlformats.org/drawingml/2006/main">
              <a:ext uri="{FF2B5EF4-FFF2-40B4-BE49-F238E27FC236}">
                <a16:creationId xmlns:a16="http://schemas.microsoft.com/office/drawing/2014/main" id="{27B607BB-0C93-4030-A353-DF06056DD498}"/>
              </a:ext>
            </a:extLst>
          </p:cNvPr>
          <p:cNvSpPr>
            <a:spLocks xmlns:a="http://schemas.openxmlformats.org/drawingml/2006/main" noGrp="1"/>
          </p:cNvSpPr>
          <p:nvPr/>
        </p:nvSpPr>
        <p:spPr>
          <a:xfrm xmlns:a="http://schemas.openxmlformats.org/drawingml/2006/main">
            <a:off x="685800" y="4914900"/>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campaign participants</a:t>
            </a:r>
          </a:p>
        </p:txBody>
      </p:sp>
      <p:sp>
        <p:nvSpPr>
          <p:cNvPr id="7" name="">
            <a:extLst xmlns:a="http://schemas.openxmlformats.org/drawingml/2006/main">
              <a:ext uri="{FF2B5EF4-FFF2-40B4-BE49-F238E27FC236}">
                <a16:creationId xmlns:a16="http://schemas.microsoft.com/office/drawing/2014/main" id="{6AE89B85-8767-4B0C-8EBD-1CDFBE6EA34F}"/>
              </a:ext>
            </a:extLst>
          </p:cNvPr>
          <p:cNvSpPr>
            <a:spLocks xmlns:a="http://schemas.openxmlformats.org/drawingml/2006/main" noGrp="1"/>
          </p:cNvSpPr>
          <p:nvPr/>
        </p:nvSpPr>
        <p:spPr>
          <a:xfrm xmlns:a="http://schemas.openxmlformats.org/drawingml/2006/main">
            <a:off x="6496050" y="403860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025" b="1">
                <a:solidFill>
                  <a:srgbClr val="6740B3"/>
                </a:solidFill>
                <a:latin typeface="Arial"/>
                <a:ea typeface="Arial"/>
                <a:cs typeface="Arial"/>
              </a:defRPr>
            </a:defPPr>
          </a:lstStyle>
          <a:p xmlns:a="http://schemas.openxmlformats.org/drawingml/2006/main">
            <a:pPr>
              <a:defRPr sz="5025" b="1">
                <a:solidFill>
                  <a:srgbClr val="6740B3"/>
                </a:solidFill>
                <a:latin typeface="Arial"/>
                <a:ea typeface="Arial"/>
                <a:cs typeface="Arial"/>
              </a:defRPr>
            </a:pPr>
            <a:r>
              <a:rPr sz="5025" b="1">
                <a:solidFill>
                  <a:srgbClr val="6740B3"/>
                </a:solidFill>
                <a:latin typeface="Arial"/>
                <a:ea typeface="Arial"/>
                <a:cs typeface="Arial"/>
              </a:rPr>
              <a:t>800+</a:t>
            </a:r>
          </a:p>
        </p:txBody>
      </p:sp>
      <p:sp>
        <p:nvSpPr>
          <p:cNvPr id="8" name="">
            <a:extLst xmlns:a="http://schemas.openxmlformats.org/drawingml/2006/main">
              <a:ext uri="{FF2B5EF4-FFF2-40B4-BE49-F238E27FC236}">
                <a16:creationId xmlns:a16="http://schemas.microsoft.com/office/drawing/2014/main" id="{F6DF4A0E-62B3-4A99-85D4-3F798F267288}"/>
              </a:ext>
            </a:extLst>
          </p:cNvPr>
          <p:cNvSpPr>
            <a:spLocks xmlns:a="http://schemas.openxmlformats.org/drawingml/2006/main" noGrp="1"/>
          </p:cNvSpPr>
          <p:nvPr/>
        </p:nvSpPr>
        <p:spPr>
          <a:xfrm xmlns:a="http://schemas.openxmlformats.org/drawingml/2006/main">
            <a:off x="6496050" y="4914900"/>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daily actions logged</a:t>
            </a:r>
          </a:p>
        </p:txBody>
      </p:sp>
      <p:sp>
        <p:nvSpPr>
          <p:cNvPr id="9" name="">
            <a:extLst xmlns:a="http://schemas.openxmlformats.org/drawingml/2006/main">
              <a:ext uri="{FF2B5EF4-FFF2-40B4-BE49-F238E27FC236}">
                <a16:creationId xmlns:a16="http://schemas.microsoft.com/office/drawing/2014/main" id="{92F35D85-9FD9-483A-95BC-3FBBA1944BAF}"/>
              </a:ext>
            </a:extLst>
          </p:cNvPr>
          <p:cNvSpPr>
            <a:spLocks xmlns:a="http://schemas.openxmlformats.org/drawingml/2006/main" noGrp="1"/>
          </p:cNvSpPr>
          <p:nvPr/>
        </p:nvSpPr>
        <p:spPr>
          <a:xfrm xmlns:a="http://schemas.openxmlformats.org/drawingml/2006/main">
            <a:off x="685800" y="56197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1">
                <a:solidFill>
                  <a:srgbClr val="121212"/>
                </a:solidFill>
                <a:latin typeface="Arial"/>
                <a:ea typeface="Arial"/>
                <a:cs typeface="Arial"/>
              </a:defRPr>
            </a:defPPr>
          </a:lstStyle>
          <a:p xmlns:a="http://schemas.openxmlformats.org/drawingml/2006/main">
            <a:pPr>
              <a:defRPr sz="1800" b="1">
                <a:solidFill>
                  <a:srgbClr val="121212"/>
                </a:solidFill>
                <a:latin typeface="Arial"/>
                <a:ea typeface="Arial"/>
                <a:cs typeface="Arial"/>
              </a:defRPr>
            </a:pPr>
            <a:r>
              <a:rPr sz="1800" b="1">
                <a:solidFill>
                  <a:srgbClr val="121212"/>
                </a:solidFill>
                <a:latin typeface="Arial"/>
                <a:ea typeface="Arial"/>
                <a:cs typeface="Arial"/>
              </a:rPr>
              <a:t>Relevance: clear feedback can support engagement. VITeats applies feedback to spending.</a:t>
            </a:r>
          </a:p>
        </p:txBody>
      </p:sp>
    </p:spTree>
    <p:extLst>
      <p:ext uri="{BB962C8B-B14F-4D97-AF65-F5344CB8AC3E}">
        <p14:creationId xmlns:p14="http://schemas.microsoft.com/office/powerpoint/2010/main" val="356724005"/>
      </p:ext>
    </p:extLst>
  </p:cSld>
</p:sld>
</file>

<file path=ppt/slides/slide6.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A372A2-AFB1-478D-9B1B-C253434DAB98}"/>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Research gap</a:t>
            </a:r>
          </a:p>
        </p:txBody>
      </p:sp>
      <p:sp>
        <p:nvSpPr>
          <p:cNvPr id="2" name="">
            <a:extLst xmlns:a="http://schemas.openxmlformats.org/drawingml/2006/main">
              <a:ext uri="{FF2B5EF4-FFF2-40B4-BE49-F238E27FC236}">
                <a16:creationId xmlns:a16="http://schemas.microsoft.com/office/drawing/2014/main" id="{9B10A5FB-5837-431E-874C-A284271A597D}"/>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7AA22C3-9CFD-44DA-9477-029A6D6C1B08}"/>
              </a:ext>
            </a:extLst>
          </p:cNvPr>
          <p:cNvSpPr>
            <a:spLocks xmlns:a="http://schemas.openxmlformats.org/drawingml/2006/main" noGrp="1"/>
          </p:cNvSpPr>
          <p:nvPr/>
        </p:nvSpPr>
        <p:spPr>
          <a:xfrm xmlns:a="http://schemas.openxmlformats.org/drawingml/2006/main">
            <a:off x="685800" y="20955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Integration gap</a:t>
            </a:r>
          </a:p>
        </p:txBody>
      </p:sp>
      <p:sp>
        <p:nvSpPr>
          <p:cNvPr id="4" name="">
            <a:extLst xmlns:a="http://schemas.openxmlformats.org/drawingml/2006/main">
              <a:ext uri="{FF2B5EF4-FFF2-40B4-BE49-F238E27FC236}">
                <a16:creationId xmlns:a16="http://schemas.microsoft.com/office/drawing/2014/main" id="{E377A305-7B26-46A7-809D-2D260EB2D68E}"/>
              </a:ext>
            </a:extLst>
          </p:cNvPr>
          <p:cNvSpPr>
            <a:spLocks xmlns:a="http://schemas.openxmlformats.org/drawingml/2006/main" noGrp="1"/>
          </p:cNvSpPr>
          <p:nvPr/>
        </p:nvSpPr>
        <p:spPr>
          <a:xfrm xmlns:a="http://schemas.openxmlformats.org/drawingml/2006/main">
            <a:off x="4076700" y="20955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The reviewed work does not validate this app’s Proodle account and payment flow.</a:t>
            </a:r>
          </a:p>
        </p:txBody>
      </p:sp>
      <p:sp>
        <p:nvSpPr>
          <p:cNvPr id="5" name="">
            <a:extLst xmlns:a="http://schemas.openxmlformats.org/drawingml/2006/main">
              <a:ext uri="{FF2B5EF4-FFF2-40B4-BE49-F238E27FC236}">
                <a16:creationId xmlns:a16="http://schemas.microsoft.com/office/drawing/2014/main" id="{5DA2B16E-5995-4EF6-8822-24BAE045FA20}"/>
              </a:ext>
            </a:extLst>
          </p:cNvPr>
          <p:cNvSpPr>
            <a:spLocks xmlns:a="http://schemas.openxmlformats.org/drawingml/2006/main" noGrp="1"/>
          </p:cNvSpPr>
          <p:nvPr/>
        </p:nvSpPr>
        <p:spPr>
          <a:xfrm xmlns:a="http://schemas.openxmlformats.org/drawingml/2006/main">
            <a:off x="685800" y="30765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Experience gap</a:t>
            </a:r>
          </a:p>
        </p:txBody>
      </p:sp>
      <p:sp>
        <p:nvSpPr>
          <p:cNvPr id="6" name="">
            <a:extLst xmlns:a="http://schemas.openxmlformats.org/drawingml/2006/main">
              <a:ext uri="{FF2B5EF4-FFF2-40B4-BE49-F238E27FC236}">
                <a16:creationId xmlns:a16="http://schemas.microsoft.com/office/drawing/2014/main" id="{8952A58A-74CB-4B34-96A4-6BEA00125FEF}"/>
              </a:ext>
            </a:extLst>
          </p:cNvPr>
          <p:cNvSpPr>
            <a:spLocks xmlns:a="http://schemas.openxmlformats.org/drawingml/2006/main" noGrp="1"/>
          </p:cNvSpPr>
          <p:nvPr/>
        </p:nvSpPr>
        <p:spPr>
          <a:xfrm xmlns:a="http://schemas.openxmlformats.org/drawingml/2006/main">
            <a:off x="4076700" y="30765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VITeats combines meal ordering, QR retrieval and personal budget feedback.</a:t>
            </a:r>
          </a:p>
        </p:txBody>
      </p:sp>
      <p:sp>
        <p:nvSpPr>
          <p:cNvPr id="7" name="">
            <a:extLst xmlns:a="http://schemas.openxmlformats.org/drawingml/2006/main">
              <a:ext uri="{FF2B5EF4-FFF2-40B4-BE49-F238E27FC236}">
                <a16:creationId xmlns:a16="http://schemas.microsoft.com/office/drawing/2014/main" id="{873331C1-BCA9-4F41-994D-B964BE402816}"/>
              </a:ext>
            </a:extLst>
          </p:cNvPr>
          <p:cNvSpPr>
            <a:spLocks xmlns:a="http://schemas.openxmlformats.org/drawingml/2006/main" noGrp="1"/>
          </p:cNvSpPr>
          <p:nvPr/>
        </p:nvSpPr>
        <p:spPr>
          <a:xfrm xmlns:a="http://schemas.openxmlformats.org/drawingml/2006/main">
            <a:off x="685800" y="40576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Evidence gap</a:t>
            </a:r>
          </a:p>
        </p:txBody>
      </p:sp>
      <p:sp>
        <p:nvSpPr>
          <p:cNvPr id="8" name="">
            <a:extLst xmlns:a="http://schemas.openxmlformats.org/drawingml/2006/main">
              <a:ext uri="{FF2B5EF4-FFF2-40B4-BE49-F238E27FC236}">
                <a16:creationId xmlns:a16="http://schemas.microsoft.com/office/drawing/2014/main" id="{4D5BCE4B-F742-43C6-9019-42DDC27580BE}"/>
              </a:ext>
            </a:extLst>
          </p:cNvPr>
          <p:cNvSpPr>
            <a:spLocks xmlns:a="http://schemas.openxmlformats.org/drawingml/2006/main" noGrp="1"/>
          </p:cNvSpPr>
          <p:nvPr/>
        </p:nvSpPr>
        <p:spPr>
          <a:xfrm xmlns:a="http://schemas.openxmlformats.org/drawingml/2006/main">
            <a:off x="4076700" y="40576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Local usability, payment reliability and counter performance need evaluation.</a:t>
            </a:r>
          </a:p>
        </p:txBody>
      </p:sp>
      <p:sp>
        <p:nvSpPr>
          <p:cNvPr id="9" name="">
            <a:extLst xmlns:a="http://schemas.openxmlformats.org/drawingml/2006/main">
              <a:ext uri="{FF2B5EF4-FFF2-40B4-BE49-F238E27FC236}">
                <a16:creationId xmlns:a16="http://schemas.microsoft.com/office/drawing/2014/main" id="{FB610036-E2C0-4457-87A3-6871396A5E10}"/>
              </a:ext>
            </a:extLst>
          </p:cNvPr>
          <p:cNvSpPr>
            <a:spLocks xmlns:a="http://schemas.openxmlformats.org/drawingml/2006/main" noGrp="1"/>
          </p:cNvSpPr>
          <p:nvPr/>
        </p:nvSpPr>
        <p:spPr>
          <a:xfrm xmlns:a="http://schemas.openxmlformats.org/drawingml/2006/main">
            <a:off x="685800" y="546735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6740B3"/>
                </a:solidFill>
                <a:latin typeface="Arial"/>
                <a:ea typeface="Arial"/>
                <a:cs typeface="Arial"/>
              </a:defRPr>
            </a:defPPr>
          </a:lstStyle>
          <a:p xmlns:a="http://schemas.openxmlformats.org/drawingml/2006/main">
            <a:pPr>
              <a:defRPr sz="2025" b="1">
                <a:solidFill>
                  <a:srgbClr val="6740B3"/>
                </a:solidFill>
                <a:latin typeface="Arial"/>
                <a:ea typeface="Arial"/>
                <a:cs typeface="Arial"/>
              </a:defRPr>
            </a:pPr>
            <a:r>
              <a:rPr sz="2025" b="1">
                <a:solidFill>
                  <a:srgbClr val="6740B3"/>
                </a:solidFill>
                <a:latin typeface="Arial"/>
                <a:ea typeface="Arial"/>
                <a:cs typeface="Arial"/>
              </a:rPr>
              <a:t>Contribution: an integrated Android prototype plus a plan for local validation.</a:t>
            </a:r>
          </a:p>
        </p:txBody>
      </p:sp>
    </p:spTree>
    <p:extLst>
      <p:ext uri="{BB962C8B-B14F-4D97-AF65-F5344CB8AC3E}">
        <p14:creationId xmlns:p14="http://schemas.microsoft.com/office/powerpoint/2010/main" val="1037638035"/>
      </p:ext>
    </p:extLst>
  </p:cSld>
</p:sld>
</file>

<file path=ppt/slides/slide7.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1EE50A-5C5F-4DCD-8643-B4A67A406466}"/>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Objectives</a:t>
            </a:r>
          </a:p>
        </p:txBody>
      </p:sp>
      <p:sp>
        <p:nvSpPr>
          <p:cNvPr id="2" name="">
            <a:extLst xmlns:a="http://schemas.openxmlformats.org/drawingml/2006/main">
              <a:ext uri="{FF2B5EF4-FFF2-40B4-BE49-F238E27FC236}">
                <a16:creationId xmlns:a16="http://schemas.microsoft.com/office/drawing/2014/main" id="{772F6EFD-1870-4554-9B42-836614E86011}"/>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84955D72-93B3-4D4A-9B87-99B3CC93A073}"/>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Student workflow</a:t>
            </a:r>
          </a:p>
        </p:txBody>
      </p:sp>
      <p:sp>
        <p:nvSpPr>
          <p:cNvPr id="4" name="">
            <a:extLst xmlns:a="http://schemas.openxmlformats.org/drawingml/2006/main">
              <a:ext uri="{FF2B5EF4-FFF2-40B4-BE49-F238E27FC236}">
                <a16:creationId xmlns:a16="http://schemas.microsoft.com/office/drawing/2014/main" id="{B9661245-965F-4754-BD8B-453592F00E49}"/>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Provide login, searchable menus, favourites and cart management.</a:t>
            </a:r>
          </a:p>
        </p:txBody>
      </p:sp>
      <p:sp>
        <p:nvSpPr>
          <p:cNvPr id="5" name="">
            <a:extLst xmlns:a="http://schemas.openxmlformats.org/drawingml/2006/main">
              <a:ext uri="{FF2B5EF4-FFF2-40B4-BE49-F238E27FC236}">
                <a16:creationId xmlns:a16="http://schemas.microsoft.com/office/drawing/2014/main" id="{7FCA418A-1F92-4E1F-AD51-E9FCCF295C30}"/>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Order access</a:t>
            </a:r>
          </a:p>
        </p:txBody>
      </p:sp>
      <p:sp>
        <p:nvSpPr>
          <p:cNvPr id="6" name="">
            <a:extLst xmlns:a="http://schemas.openxmlformats.org/drawingml/2006/main">
              <a:ext uri="{FF2B5EF4-FFF2-40B4-BE49-F238E27FC236}">
                <a16:creationId xmlns:a16="http://schemas.microsoft.com/office/drawing/2014/main" id="{9EFCA1B5-93C3-4F53-84F5-CDDA0617152D}"/>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Integrate wallet checkout, order history and QR retrieval.</a:t>
            </a:r>
          </a:p>
        </p:txBody>
      </p:sp>
      <p:sp>
        <p:nvSpPr>
          <p:cNvPr id="7" name="">
            <a:extLst xmlns:a="http://schemas.openxmlformats.org/drawingml/2006/main">
              <a:ext uri="{FF2B5EF4-FFF2-40B4-BE49-F238E27FC236}">
                <a16:creationId xmlns:a16="http://schemas.microsoft.com/office/drawing/2014/main" id="{7FEC88B1-A23B-4840-9D8A-74A2050A839D}"/>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Budget feedback</a:t>
            </a:r>
          </a:p>
        </p:txBody>
      </p:sp>
      <p:sp>
        <p:nvSpPr>
          <p:cNvPr id="8" name="">
            <a:extLst xmlns:a="http://schemas.openxmlformats.org/drawingml/2006/main">
              <a:ext uri="{FF2B5EF4-FFF2-40B4-BE49-F238E27FC236}">
                <a16:creationId xmlns:a16="http://schemas.microsoft.com/office/drawing/2014/main" id="{1C446024-B77D-4817-8497-1DCA4D7EEFB4}"/>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Show wallet funds, monthly spending and daily allowance guidance.</a:t>
            </a:r>
          </a:p>
        </p:txBody>
      </p:sp>
      <p:sp>
        <p:nvSpPr>
          <p:cNvPr id="9" name="">
            <a:extLst xmlns:a="http://schemas.openxmlformats.org/drawingml/2006/main">
              <a:ext uri="{FF2B5EF4-FFF2-40B4-BE49-F238E27FC236}">
                <a16:creationId xmlns:a16="http://schemas.microsoft.com/office/drawing/2014/main" id="{31ACF172-2CEA-4383-8ED8-ED5285D022E7}"/>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Reliable adoption</a:t>
            </a:r>
          </a:p>
        </p:txBody>
      </p:sp>
      <p:sp>
        <p:nvSpPr>
          <p:cNvPr id="10" name="">
            <a:extLst xmlns:a="http://schemas.openxmlformats.org/drawingml/2006/main">
              <a:ext uri="{FF2B5EF4-FFF2-40B4-BE49-F238E27FC236}">
                <a16:creationId xmlns:a16="http://schemas.microsoft.com/office/drawing/2014/main" id="{91520685-EFD5-4F95-9423-D66F59CFDB8D}"/>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Verify integration and usability before broader hostel implementation.</a:t>
            </a:r>
          </a:p>
        </p:txBody>
      </p:sp>
    </p:spTree>
    <p:extLst>
      <p:ext uri="{BB962C8B-B14F-4D97-AF65-F5344CB8AC3E}">
        <p14:creationId xmlns:p14="http://schemas.microsoft.com/office/powerpoint/2010/main" val="490830187"/>
      </p:ext>
    </p:extLst>
  </p:cSld>
</p:sld>
</file>

<file path=ppt/slides/slide8.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90F901-E703-4916-8EC4-6373ED745566}"/>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Methodology: engineering approach</a:t>
            </a:r>
          </a:p>
        </p:txBody>
      </p:sp>
      <p:sp>
        <p:nvSpPr>
          <p:cNvPr id="2" name="">
            <a:extLst xmlns:a="http://schemas.openxmlformats.org/drawingml/2006/main">
              <a:ext uri="{FF2B5EF4-FFF2-40B4-BE49-F238E27FC236}">
                <a16:creationId xmlns:a16="http://schemas.microsoft.com/office/drawing/2014/main" id="{60DCFFA0-A6C5-4B53-914F-890A6E417A7D}"/>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998ED091-0187-4F29-9F2E-63975BA78291}"/>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Requirements</a:t>
            </a:r>
          </a:p>
        </p:txBody>
      </p:sp>
      <p:sp>
        <p:nvSpPr>
          <p:cNvPr id="4" name="">
            <a:extLst xmlns:a="http://schemas.openxmlformats.org/drawingml/2006/main">
              <a:ext uri="{FF2B5EF4-FFF2-40B4-BE49-F238E27FC236}">
                <a16:creationId xmlns:a16="http://schemas.microsoft.com/office/drawing/2014/main" id="{72F1BEE3-D563-48BE-905B-1DF32CC34721}"/>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Map student tasks to the existing meal-service API.</a:t>
            </a:r>
          </a:p>
        </p:txBody>
      </p:sp>
      <p:sp>
        <p:nvSpPr>
          <p:cNvPr id="5" name="">
            <a:extLst xmlns:a="http://schemas.openxmlformats.org/drawingml/2006/main">
              <a:ext uri="{FF2B5EF4-FFF2-40B4-BE49-F238E27FC236}">
                <a16:creationId xmlns:a16="http://schemas.microsoft.com/office/drawing/2014/main" id="{E1E257BF-3365-4E4B-A13C-2A9D2210B38E}"/>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Design</a:t>
            </a:r>
          </a:p>
        </p:txBody>
      </p:sp>
      <p:sp>
        <p:nvSpPr>
          <p:cNvPr id="6" name="">
            <a:extLst xmlns:a="http://schemas.openxmlformats.org/drawingml/2006/main">
              <a:ext uri="{FF2B5EF4-FFF2-40B4-BE49-F238E27FC236}">
                <a16:creationId xmlns:a16="http://schemas.microsoft.com/office/drawing/2014/main" id="{C98F563A-98DD-4CB3-A258-3DF96EEE2500}"/>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Separate Compose screens, ViewModels and data repositories.</a:t>
            </a:r>
          </a:p>
        </p:txBody>
      </p:sp>
      <p:sp>
        <p:nvSpPr>
          <p:cNvPr id="7" name="">
            <a:extLst xmlns:a="http://schemas.openxmlformats.org/drawingml/2006/main">
              <a:ext uri="{FF2B5EF4-FFF2-40B4-BE49-F238E27FC236}">
                <a16:creationId xmlns:a16="http://schemas.microsoft.com/office/drawing/2014/main" id="{2C2189F9-73EF-49E6-AE8F-B6B171C991D2}"/>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Implementation</a:t>
            </a:r>
          </a:p>
        </p:txBody>
      </p:sp>
      <p:sp>
        <p:nvSpPr>
          <p:cNvPr id="8" name="">
            <a:extLst xmlns:a="http://schemas.openxmlformats.org/drawingml/2006/main">
              <a:ext uri="{FF2B5EF4-FFF2-40B4-BE49-F238E27FC236}">
                <a16:creationId xmlns:a16="http://schemas.microsoft.com/office/drawing/2014/main" id="{74AEC9B0-24E5-416B-8872-A4E4295CC207}"/>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Connect account, menu, payment and order endpoints over HTTPS.</a:t>
            </a:r>
          </a:p>
        </p:txBody>
      </p:sp>
      <p:sp>
        <p:nvSpPr>
          <p:cNvPr id="9" name="">
            <a:extLst xmlns:a="http://schemas.openxmlformats.org/drawingml/2006/main">
              <a:ext uri="{FF2B5EF4-FFF2-40B4-BE49-F238E27FC236}">
                <a16:creationId xmlns:a16="http://schemas.microsoft.com/office/drawing/2014/main" id="{95597CC8-0052-4AD7-B93A-830DF4FB11B2}"/>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Verification</a:t>
            </a:r>
          </a:p>
        </p:txBody>
      </p:sp>
      <p:sp>
        <p:nvSpPr>
          <p:cNvPr id="10" name="">
            <a:extLst xmlns:a="http://schemas.openxmlformats.org/drawingml/2006/main">
              <a:ext uri="{FF2B5EF4-FFF2-40B4-BE49-F238E27FC236}">
                <a16:creationId xmlns:a16="http://schemas.microsoft.com/office/drawing/2014/main" id="{726C7842-DCD8-40C9-AD73-99B3F87706CB}"/>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Check local calculations and state behaviour with unit tests.</a:t>
            </a:r>
          </a:p>
        </p:txBody>
      </p:sp>
    </p:spTree>
    <p:extLst>
      <p:ext uri="{BB962C8B-B14F-4D97-AF65-F5344CB8AC3E}">
        <p14:creationId xmlns:p14="http://schemas.microsoft.com/office/powerpoint/2010/main" val="597453061"/>
      </p:ext>
    </p:extLst>
  </p:cSld>
</p:sld>
</file>

<file path=ppt/slides/slide9.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D4886F-2641-4C34-A74E-D720196F3502}"/>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Methodology: system architecture</a:t>
            </a:r>
          </a:p>
        </p:txBody>
      </p:sp>
      <p:sp>
        <p:nvSpPr>
          <p:cNvPr id="2" name="">
            <a:extLst xmlns:a="http://schemas.openxmlformats.org/drawingml/2006/main">
              <a:ext uri="{FF2B5EF4-FFF2-40B4-BE49-F238E27FC236}">
                <a16:creationId xmlns:a16="http://schemas.microsoft.com/office/drawing/2014/main" id="{0C70F495-9EED-43E5-8A81-F1D7ECA3F1A1}"/>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62967960-03F1-4501-B127-BFBBC54B104F}"/>
              </a:ext>
            </a:extLst>
          </p:cNvPr>
          <p:cNvSpPr>
            <a:spLocks xmlns:a="http://schemas.openxmlformats.org/drawingml/2006/main" noGrp="1"/>
          </p:cNvSpPr>
          <p:nvPr/>
        </p:nvSpPr>
        <p:spPr>
          <a:xfrm xmlns:a="http://schemas.openxmlformats.org/drawingml/2006/main">
            <a:off x="685800" y="19431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Android application</a:t>
            </a:r>
          </a:p>
        </p:txBody>
      </p:sp>
      <p:sp>
        <p:nvSpPr>
          <p:cNvPr id="4" name="">
            <a:extLst xmlns:a="http://schemas.openxmlformats.org/drawingml/2006/main">
              <a:ext uri="{FF2B5EF4-FFF2-40B4-BE49-F238E27FC236}">
                <a16:creationId xmlns:a16="http://schemas.microsoft.com/office/drawing/2014/main" id="{229A7A11-033F-4173-9D61-70603137FE39}"/>
              </a:ext>
            </a:extLst>
          </p:cNvPr>
          <p:cNvSpPr>
            <a:spLocks xmlns:a="http://schemas.openxmlformats.org/drawingml/2006/main" noGrp="1"/>
          </p:cNvSpPr>
          <p:nvPr/>
        </p:nvSpPr>
        <p:spPr>
          <a:xfrm xmlns:a="http://schemas.openxmlformats.org/drawingml/2006/main">
            <a:off x="685800" y="26003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Kotlin and Jetpack Compose screens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ViewModels and repositories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Local budget and encrypted session data</a:t>
            </a:r>
          </a:p>
        </p:txBody>
      </p:sp>
      <p:sp>
        <p:nvSpPr>
          <p:cNvPr id="5" name="">
            <a:extLst xmlns:a="http://schemas.openxmlformats.org/drawingml/2006/main">
              <a:ext uri="{FF2B5EF4-FFF2-40B4-BE49-F238E27FC236}">
                <a16:creationId xmlns:a16="http://schemas.microsoft.com/office/drawing/2014/main" id="{80851294-72AF-46BC-9940-D2C61F4B6D52}"/>
              </a:ext>
            </a:extLst>
          </p:cNvPr>
          <p:cNvSpPr>
            <a:spLocks xmlns:a="http://schemas.openxmlformats.org/drawingml/2006/main" noGrp="1"/>
          </p:cNvSpPr>
          <p:nvPr/>
        </p:nvSpPr>
        <p:spPr>
          <a:xfrm xmlns:a="http://schemas.openxmlformats.org/drawingml/2006/main">
            <a:off x="6496050" y="194310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Existing Proodle service</a:t>
            </a:r>
          </a:p>
        </p:txBody>
      </p:sp>
      <p:sp>
        <p:nvSpPr>
          <p:cNvPr id="6" name="">
            <a:extLst xmlns:a="http://schemas.openxmlformats.org/drawingml/2006/main">
              <a:ext uri="{FF2B5EF4-FFF2-40B4-BE49-F238E27FC236}">
                <a16:creationId xmlns:a16="http://schemas.microsoft.com/office/drawing/2014/main" id="{D0875639-8374-4436-A4B1-D32B579A997F}"/>
              </a:ext>
            </a:extLst>
          </p:cNvPr>
          <p:cNvSpPr>
            <a:spLocks xmlns:a="http://schemas.openxmlformats.org/drawingml/2006/main" noGrp="1"/>
          </p:cNvSpPr>
          <p:nvPr/>
        </p:nvSpPr>
        <p:spPr>
          <a:xfrm xmlns:a="http://schemas.openxmlformats.org/drawingml/2006/main">
            <a:off x="6496050" y="2600325"/>
            <a:ext cx="50101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Student identity and wallet information</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Menu, order and payment APIs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Order history and QR data</a:t>
            </a:r>
          </a:p>
        </p:txBody>
      </p:sp>
      <p:sp>
        <p:nvSpPr>
          <p:cNvPr id="7" name="">
            <a:extLst xmlns:a="http://schemas.openxmlformats.org/drawingml/2006/main">
              <a:ext uri="{FF2B5EF4-FFF2-40B4-BE49-F238E27FC236}">
                <a16:creationId xmlns:a16="http://schemas.microsoft.com/office/drawing/2014/main" id="{027123C4-91CA-45BF-85B7-7C81BE21EF26}"/>
              </a:ext>
            </a:extLst>
          </p:cNvPr>
          <p:cNvSpPr>
            <a:spLocks xmlns:a="http://schemas.openxmlformats.org/drawingml/2006/main" noGrp="1"/>
          </p:cNvSpPr>
          <p:nvPr/>
        </p:nvSpPr>
        <p:spPr>
          <a:xfrm xmlns:a="http://schemas.openxmlformats.org/drawingml/2006/main">
            <a:off x="685800" y="5619750"/>
            <a:ext cx="10820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1">
                <a:solidFill>
                  <a:srgbClr val="121212"/>
                </a:solidFill>
                <a:latin typeface="Arial"/>
                <a:ea typeface="Arial"/>
                <a:cs typeface="Arial"/>
              </a:defRPr>
            </a:defPPr>
          </a:lstStyle>
          <a:p xmlns:a="http://schemas.openxmlformats.org/drawingml/2006/main">
            <a:pPr>
              <a:defRPr sz="1950" b="1">
                <a:solidFill>
                  <a:srgbClr val="121212"/>
                </a:solidFill>
                <a:latin typeface="Arial"/>
                <a:ea typeface="Arial"/>
                <a:cs typeface="Arial"/>
              </a:defRPr>
            </a:pPr>
            <a:r>
              <a:rPr sz="1950" b="1">
                <a:solidFill>
                  <a:srgbClr val="121212"/>
                </a:solidFill>
                <a:latin typeface="Arial"/>
                <a:ea typeface="Arial"/>
                <a:cs typeface="Arial"/>
              </a:rPr>
              <a:t>Retrofit and OkHttp connect the app to the service over HTTPS.</a:t>
            </a:r>
          </a:p>
        </p:txBody>
      </p:sp>
    </p:spTree>
    <p:extLst>
      <p:ext uri="{BB962C8B-B14F-4D97-AF65-F5344CB8AC3E}">
        <p14:creationId xmlns:p14="http://schemas.microsoft.com/office/powerpoint/2010/main" val="1141997813"/>
      </p:ext>
    </p:extLst>
  </p:cSld>
</p:sld>
</file>

<file path=ppt/slides/slide10.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169B9F-6416-48D7-9BBB-A5F5D5A301E1}"/>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Methodology: order workflow</a:t>
            </a:r>
          </a:p>
        </p:txBody>
      </p:sp>
      <p:sp>
        <p:nvSpPr>
          <p:cNvPr id="2" name="">
            <a:extLst xmlns:a="http://schemas.openxmlformats.org/drawingml/2006/main">
              <a:ext uri="{FF2B5EF4-FFF2-40B4-BE49-F238E27FC236}">
                <a16:creationId xmlns:a16="http://schemas.microsoft.com/office/drawing/2014/main" id="{089B3888-5F2D-4DAC-AD5A-1A241C145060}"/>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B5E356B-FC5A-46AD-BFFE-FF962A4E5FEB}"/>
              </a:ext>
            </a:extLst>
          </p:cNvPr>
          <p:cNvSpPr>
            <a:spLocks xmlns:a="http://schemas.openxmlformats.org/drawingml/2006/main" noGrp="1"/>
          </p:cNvSpPr>
          <p:nvPr/>
        </p:nvSpPr>
        <p:spPr>
          <a:xfrm xmlns:a="http://schemas.openxmlformats.org/drawingml/2006/main">
            <a:off x="685800" y="21145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475" b="1">
                <a:solidFill>
                  <a:srgbClr val="6740B3"/>
                </a:solidFill>
                <a:latin typeface="Arial"/>
                <a:ea typeface="Arial"/>
                <a:cs typeface="Arial"/>
              </a:defRPr>
            </a:defPPr>
          </a:lstStyle>
          <a:p xmlns:a="http://schemas.openxmlformats.org/drawingml/2006/main">
            <a:pPr>
              <a:defRPr sz="5475" b="1">
                <a:solidFill>
                  <a:srgbClr val="6740B3"/>
                </a:solidFill>
                <a:latin typeface="Arial"/>
                <a:ea typeface="Arial"/>
                <a:cs typeface="Arial"/>
              </a:defRPr>
            </a:pPr>
            <a:r>
              <a:rPr sz="5475" b="1">
                <a:solidFill>
                  <a:srgbClr val="6740B3"/>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65EFDC00-96E2-43EE-9A70-9FD60C6877CE}"/>
              </a:ext>
            </a:extLst>
          </p:cNvPr>
          <p:cNvSpPr>
            <a:spLocks xmlns:a="http://schemas.openxmlformats.org/drawingml/2006/main" noGrp="1"/>
          </p:cNvSpPr>
          <p:nvPr/>
        </p:nvSpPr>
        <p:spPr>
          <a:xfrm xmlns:a="http://schemas.openxmlformats.org/drawingml/2006/main">
            <a:off x="685800" y="33718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Browse</a:t>
            </a:r>
          </a:p>
        </p:txBody>
      </p:sp>
      <p:sp>
        <p:nvSpPr>
          <p:cNvPr id="5" name="">
            <a:extLst xmlns:a="http://schemas.openxmlformats.org/drawingml/2006/main">
              <a:ext uri="{FF2B5EF4-FFF2-40B4-BE49-F238E27FC236}">
                <a16:creationId xmlns:a16="http://schemas.microsoft.com/office/drawing/2014/main" id="{72DFDE83-F2E6-4E4B-9734-20319E8FF5B9}"/>
              </a:ext>
            </a:extLst>
          </p:cNvPr>
          <p:cNvSpPr>
            <a:spLocks xmlns:a="http://schemas.openxmlformats.org/drawingml/2006/main" noGrp="1"/>
          </p:cNvSpPr>
          <p:nvPr/>
        </p:nvSpPr>
        <p:spPr>
          <a:xfrm xmlns:a="http://schemas.openxmlformats.org/drawingml/2006/main">
            <a:off x="685800" y="4143375"/>
            <a:ext cx="240982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Select outlet,</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items and quantities</a:t>
            </a:r>
          </a:p>
        </p:txBody>
      </p:sp>
      <p:sp>
        <p:nvSpPr>
          <p:cNvPr id="6" name="">
            <a:extLst xmlns:a="http://schemas.openxmlformats.org/drawingml/2006/main">
              <a:ext uri="{FF2B5EF4-FFF2-40B4-BE49-F238E27FC236}">
                <a16:creationId xmlns:a16="http://schemas.microsoft.com/office/drawing/2014/main" id="{88A65FA9-7FB1-4141-9029-89DD1D2251D9}"/>
              </a:ext>
            </a:extLst>
          </p:cNvPr>
          <p:cNvSpPr>
            <a:spLocks xmlns:a="http://schemas.openxmlformats.org/drawingml/2006/main" noGrp="1"/>
          </p:cNvSpPr>
          <p:nvPr/>
        </p:nvSpPr>
        <p:spPr>
          <a:xfrm xmlns:a="http://schemas.openxmlformats.org/drawingml/2006/main">
            <a:off x="3467100" y="21145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475" b="1">
                <a:solidFill>
                  <a:srgbClr val="6740B3"/>
                </a:solidFill>
                <a:latin typeface="Arial"/>
                <a:ea typeface="Arial"/>
                <a:cs typeface="Arial"/>
              </a:defRPr>
            </a:defPPr>
          </a:lstStyle>
          <a:p xmlns:a="http://schemas.openxmlformats.org/drawingml/2006/main">
            <a:pPr>
              <a:defRPr sz="5475" b="1">
                <a:solidFill>
                  <a:srgbClr val="6740B3"/>
                </a:solidFill>
                <a:latin typeface="Arial"/>
                <a:ea typeface="Arial"/>
                <a:cs typeface="Arial"/>
              </a:defRPr>
            </a:pPr>
            <a:r>
              <a:rPr sz="5475" b="1">
                <a:solidFill>
                  <a:srgbClr val="6740B3"/>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B9999DB-BB02-4FF7-910B-65C493569782}"/>
              </a:ext>
            </a:extLst>
          </p:cNvPr>
          <p:cNvSpPr>
            <a:spLocks xmlns:a="http://schemas.openxmlformats.org/drawingml/2006/main" noGrp="1"/>
          </p:cNvSpPr>
          <p:nvPr/>
        </p:nvSpPr>
        <p:spPr>
          <a:xfrm xmlns:a="http://schemas.openxmlformats.org/drawingml/2006/main">
            <a:off x="3467100" y="33718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Review</a:t>
            </a:r>
          </a:p>
        </p:txBody>
      </p:sp>
      <p:sp>
        <p:nvSpPr>
          <p:cNvPr id="8" name="">
            <a:extLst xmlns:a="http://schemas.openxmlformats.org/drawingml/2006/main">
              <a:ext uri="{FF2B5EF4-FFF2-40B4-BE49-F238E27FC236}">
                <a16:creationId xmlns:a16="http://schemas.microsoft.com/office/drawing/2014/main" id="{76065CBA-17F2-4E3F-B31A-DE725FCC55B5}"/>
              </a:ext>
            </a:extLst>
          </p:cNvPr>
          <p:cNvSpPr>
            <a:spLocks xmlns:a="http://schemas.openxmlformats.org/drawingml/2006/main" noGrp="1"/>
          </p:cNvSpPr>
          <p:nvPr/>
        </p:nvSpPr>
        <p:spPr>
          <a:xfrm xmlns:a="http://schemas.openxmlformats.org/drawingml/2006/main">
            <a:off x="3467100" y="4143375"/>
            <a:ext cx="240982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Check cart total</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and confirm PIN</a:t>
            </a:r>
          </a:p>
        </p:txBody>
      </p:sp>
      <p:sp>
        <p:nvSpPr>
          <p:cNvPr id="9" name="">
            <a:extLst xmlns:a="http://schemas.openxmlformats.org/drawingml/2006/main">
              <a:ext uri="{FF2B5EF4-FFF2-40B4-BE49-F238E27FC236}">
                <a16:creationId xmlns:a16="http://schemas.microsoft.com/office/drawing/2014/main" id="{216752A8-34F3-471B-A790-9A375343ADBA}"/>
              </a:ext>
            </a:extLst>
          </p:cNvPr>
          <p:cNvSpPr>
            <a:spLocks xmlns:a="http://schemas.openxmlformats.org/drawingml/2006/main" noGrp="1"/>
          </p:cNvSpPr>
          <p:nvPr/>
        </p:nvSpPr>
        <p:spPr>
          <a:xfrm xmlns:a="http://schemas.openxmlformats.org/drawingml/2006/main">
            <a:off x="6248400" y="21145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475" b="1">
                <a:solidFill>
                  <a:srgbClr val="6740B3"/>
                </a:solidFill>
                <a:latin typeface="Arial"/>
                <a:ea typeface="Arial"/>
                <a:cs typeface="Arial"/>
              </a:defRPr>
            </a:defPPr>
          </a:lstStyle>
          <a:p xmlns:a="http://schemas.openxmlformats.org/drawingml/2006/main">
            <a:pPr>
              <a:defRPr sz="5475" b="1">
                <a:solidFill>
                  <a:srgbClr val="6740B3"/>
                </a:solidFill>
                <a:latin typeface="Arial"/>
                <a:ea typeface="Arial"/>
                <a:cs typeface="Arial"/>
              </a:defRPr>
            </a:pPr>
            <a:r>
              <a:rPr sz="5475" b="1">
                <a:solidFill>
                  <a:srgbClr val="6740B3"/>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B6FF424-812B-44E0-A702-0CDA0361D56C}"/>
              </a:ext>
            </a:extLst>
          </p:cNvPr>
          <p:cNvSpPr>
            <a:spLocks xmlns:a="http://schemas.openxmlformats.org/drawingml/2006/main" noGrp="1"/>
          </p:cNvSpPr>
          <p:nvPr/>
        </p:nvSpPr>
        <p:spPr>
          <a:xfrm xmlns:a="http://schemas.openxmlformats.org/drawingml/2006/main">
            <a:off x="6248400" y="33718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Submit</a:t>
            </a:r>
          </a:p>
        </p:txBody>
      </p:sp>
      <p:sp>
        <p:nvSpPr>
          <p:cNvPr id="11" name="">
            <a:extLst xmlns:a="http://schemas.openxmlformats.org/drawingml/2006/main">
              <a:ext uri="{FF2B5EF4-FFF2-40B4-BE49-F238E27FC236}">
                <a16:creationId xmlns:a16="http://schemas.microsoft.com/office/drawing/2014/main" id="{BA249052-8444-403E-80FF-4291D6DAB3D3}"/>
              </a:ext>
            </a:extLst>
          </p:cNvPr>
          <p:cNvSpPr>
            <a:spLocks xmlns:a="http://schemas.openxmlformats.org/drawingml/2006/main" noGrp="1"/>
          </p:cNvSpPr>
          <p:nvPr/>
        </p:nvSpPr>
        <p:spPr>
          <a:xfrm xmlns:a="http://schemas.openxmlformats.org/drawingml/2006/main">
            <a:off x="6248400" y="4143375"/>
            <a:ext cx="240982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Create order and</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authorize payment</a:t>
            </a:r>
          </a:p>
        </p:txBody>
      </p:sp>
      <p:sp>
        <p:nvSpPr>
          <p:cNvPr id="12" name="">
            <a:extLst xmlns:a="http://schemas.openxmlformats.org/drawingml/2006/main">
              <a:ext uri="{FF2B5EF4-FFF2-40B4-BE49-F238E27FC236}">
                <a16:creationId xmlns:a16="http://schemas.microsoft.com/office/drawing/2014/main" id="{31EAECB6-E4DC-4907-936C-E6FA998774ED}"/>
              </a:ext>
            </a:extLst>
          </p:cNvPr>
          <p:cNvSpPr>
            <a:spLocks xmlns:a="http://schemas.openxmlformats.org/drawingml/2006/main" noGrp="1"/>
          </p:cNvSpPr>
          <p:nvPr/>
        </p:nvSpPr>
        <p:spPr>
          <a:xfrm xmlns:a="http://schemas.openxmlformats.org/drawingml/2006/main">
            <a:off x="9029700" y="2114550"/>
            <a:ext cx="228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475" b="1">
                <a:solidFill>
                  <a:srgbClr val="6740B3"/>
                </a:solidFill>
                <a:latin typeface="Arial"/>
                <a:ea typeface="Arial"/>
                <a:cs typeface="Arial"/>
              </a:defRPr>
            </a:defPPr>
          </a:lstStyle>
          <a:p xmlns:a="http://schemas.openxmlformats.org/drawingml/2006/main">
            <a:pPr>
              <a:defRPr sz="5475" b="1">
                <a:solidFill>
                  <a:srgbClr val="6740B3"/>
                </a:solidFill>
                <a:latin typeface="Arial"/>
                <a:ea typeface="Arial"/>
                <a:cs typeface="Arial"/>
              </a:defRPr>
            </a:pPr>
            <a:r>
              <a:rPr sz="5475" b="1">
                <a:solidFill>
                  <a:srgbClr val="6740B3"/>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1ADF0E51-CB6C-459A-A572-C4E904B6BDEE}"/>
              </a:ext>
            </a:extLst>
          </p:cNvPr>
          <p:cNvSpPr>
            <a:spLocks xmlns:a="http://schemas.openxmlformats.org/drawingml/2006/main" noGrp="1"/>
          </p:cNvSpPr>
          <p:nvPr/>
        </p:nvSpPr>
        <p:spPr>
          <a:xfrm xmlns:a="http://schemas.openxmlformats.org/drawingml/2006/main">
            <a:off x="9029700" y="33718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Collect</a:t>
            </a:r>
          </a:p>
        </p:txBody>
      </p:sp>
      <p:sp>
        <p:nvSpPr>
          <p:cNvPr id="14" name="">
            <a:extLst xmlns:a="http://schemas.openxmlformats.org/drawingml/2006/main">
              <a:ext uri="{FF2B5EF4-FFF2-40B4-BE49-F238E27FC236}">
                <a16:creationId xmlns:a16="http://schemas.microsoft.com/office/drawing/2014/main" id="{257AFE43-55F8-46A6-9600-D712C3DE8E24}"/>
              </a:ext>
            </a:extLst>
          </p:cNvPr>
          <p:cNvSpPr>
            <a:spLocks xmlns:a="http://schemas.openxmlformats.org/drawingml/2006/main" noGrp="1"/>
          </p:cNvSpPr>
          <p:nvPr/>
        </p:nvSpPr>
        <p:spPr>
          <a:xfrm xmlns:a="http://schemas.openxmlformats.org/drawingml/2006/main">
            <a:off x="9029700" y="4143375"/>
            <a:ext cx="2409825" cy="1152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21212"/>
                </a:solidFill>
                <a:latin typeface="Arial"/>
                <a:ea typeface="Arial"/>
                <a:cs typeface="Arial"/>
              </a:defRPr>
            </a:defPPr>
          </a:lstStyle>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Open order QR</a:t>
            </a:r>
          </a:p>
          <a:p xmlns:a="http://schemas.openxmlformats.org/drawingml/2006/main">
            <a:pPr>
              <a:defRPr sz="1950" b="0">
                <a:solidFill>
                  <a:srgbClr val="121212"/>
                </a:solidFill>
                <a:latin typeface="Arial"/>
                <a:ea typeface="Arial"/>
                <a:cs typeface="Arial"/>
              </a:defRPr>
            </a:pPr>
            <a:r>
              <a:rPr sz="1950" b="0">
                <a:solidFill>
                  <a:srgbClr val="121212"/>
                </a:solidFill>
                <a:latin typeface="Arial"/>
                <a:ea typeface="Arial"/>
                <a:cs typeface="Arial"/>
              </a:rPr>
              <a:t>for counter verification</a:t>
            </a:r>
          </a:p>
        </p:txBody>
      </p:sp>
      <p:sp>
        <p:nvSpPr>
          <p:cNvPr id="15" name="">
            <a:extLst xmlns:a="http://schemas.openxmlformats.org/drawingml/2006/main">
              <a:ext uri="{FF2B5EF4-FFF2-40B4-BE49-F238E27FC236}">
                <a16:creationId xmlns:a16="http://schemas.microsoft.com/office/drawing/2014/main" id="{6549E7D6-813F-4F6C-A6F3-0C5A8423C0DF}"/>
              </a:ext>
            </a:extLst>
          </p:cNvPr>
          <p:cNvSpPr>
            <a:spLocks xmlns:a="http://schemas.openxmlformats.org/drawingml/2006/main" noGrp="1"/>
          </p:cNvSpPr>
          <p:nvPr/>
        </p:nvSpPr>
        <p:spPr>
          <a:xfrm xmlns:a="http://schemas.openxmlformats.org/drawingml/2006/main">
            <a:off x="685800" y="5629275"/>
            <a:ext cx="108204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An uncertain payment requires checking the order and wallet before retrying.</a:t>
            </a:r>
          </a:p>
        </p:txBody>
      </p:sp>
    </p:spTree>
    <p:extLst>
      <p:ext uri="{BB962C8B-B14F-4D97-AF65-F5344CB8AC3E}">
        <p14:creationId xmlns:p14="http://schemas.microsoft.com/office/powerpoint/2010/main" val="1402115431"/>
      </p:ext>
    </p:extLst>
  </p:cSld>
</p:sld>
</file>

<file path=ppt/slides/slide11.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149300-BD5C-4B8F-A903-F865D8F1AA3E}"/>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Results: implemented prototype</a:t>
            </a:r>
          </a:p>
        </p:txBody>
      </p:sp>
      <p:sp>
        <p:nvSpPr>
          <p:cNvPr id="2" name="">
            <a:extLst xmlns:a="http://schemas.openxmlformats.org/drawingml/2006/main">
              <a:ext uri="{FF2B5EF4-FFF2-40B4-BE49-F238E27FC236}">
                <a16:creationId xmlns:a16="http://schemas.microsoft.com/office/drawing/2014/main" id="{3C59BC09-1440-4030-987A-8DF70632B793}"/>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BBCFEE28-C0FF-47A0-994F-9121BD7247CA}"/>
              </a:ext>
            </a:extLst>
          </p:cNvPr>
          <p:cNvSpPr>
            <a:spLocks xmlns:a="http://schemas.openxmlformats.org/drawingml/2006/main" noGrp="1"/>
          </p:cNvSpPr>
          <p:nvPr/>
        </p:nvSpPr>
        <p:spPr>
          <a:xfrm xmlns:a="http://schemas.openxmlformats.org/drawingml/2006/main">
            <a:off x="685800" y="192405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Meal selection</a:t>
            </a:r>
          </a:p>
        </p:txBody>
      </p:sp>
      <p:sp>
        <p:nvSpPr>
          <p:cNvPr id="4" name="">
            <a:extLst xmlns:a="http://schemas.openxmlformats.org/drawingml/2006/main">
              <a:ext uri="{FF2B5EF4-FFF2-40B4-BE49-F238E27FC236}">
                <a16:creationId xmlns:a16="http://schemas.microsoft.com/office/drawing/2014/main" id="{5A07A5D1-8F32-4C35-9FB0-179E1DA18635}"/>
              </a:ext>
            </a:extLst>
          </p:cNvPr>
          <p:cNvSpPr>
            <a:spLocks xmlns:a="http://schemas.openxmlformats.org/drawingml/2006/main" noGrp="1"/>
          </p:cNvSpPr>
          <p:nvPr/>
        </p:nvSpPr>
        <p:spPr>
          <a:xfrm xmlns:a="http://schemas.openxmlformats.org/drawingml/2006/main">
            <a:off x="4076700" y="192405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Search, outlet filtering, favourites, stock labels and cart controls.</a:t>
            </a:r>
          </a:p>
        </p:txBody>
      </p:sp>
      <p:sp>
        <p:nvSpPr>
          <p:cNvPr id="5" name="">
            <a:extLst xmlns:a="http://schemas.openxmlformats.org/drawingml/2006/main">
              <a:ext uri="{FF2B5EF4-FFF2-40B4-BE49-F238E27FC236}">
                <a16:creationId xmlns:a16="http://schemas.microsoft.com/office/drawing/2014/main" id="{D2BA17E3-F9AC-4576-B8AD-A0125E2E6252}"/>
              </a:ext>
            </a:extLst>
          </p:cNvPr>
          <p:cNvSpPr>
            <a:spLocks xmlns:a="http://schemas.openxmlformats.org/drawingml/2006/main" noGrp="1"/>
          </p:cNvSpPr>
          <p:nvPr/>
        </p:nvSpPr>
        <p:spPr>
          <a:xfrm xmlns:a="http://schemas.openxmlformats.org/drawingml/2006/main">
            <a:off x="685800" y="290512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Ordering</a:t>
            </a:r>
          </a:p>
        </p:txBody>
      </p:sp>
      <p:sp>
        <p:nvSpPr>
          <p:cNvPr id="6" name="">
            <a:extLst xmlns:a="http://schemas.openxmlformats.org/drawingml/2006/main">
              <a:ext uri="{FF2B5EF4-FFF2-40B4-BE49-F238E27FC236}">
                <a16:creationId xmlns:a16="http://schemas.microsoft.com/office/drawing/2014/main" id="{41AAF954-EEF5-4609-A488-62992E56B397}"/>
              </a:ext>
            </a:extLst>
          </p:cNvPr>
          <p:cNvSpPr>
            <a:spLocks xmlns:a="http://schemas.openxmlformats.org/drawingml/2006/main" noGrp="1"/>
          </p:cNvSpPr>
          <p:nvPr/>
        </p:nvSpPr>
        <p:spPr>
          <a:xfrm xmlns:a="http://schemas.openxmlformats.org/drawingml/2006/main">
            <a:off x="4076700" y="290512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Wallet authorization flow, history display and order QR retrieval.</a:t>
            </a:r>
          </a:p>
        </p:txBody>
      </p:sp>
      <p:sp>
        <p:nvSpPr>
          <p:cNvPr id="7" name="">
            <a:extLst xmlns:a="http://schemas.openxmlformats.org/drawingml/2006/main">
              <a:ext uri="{FF2B5EF4-FFF2-40B4-BE49-F238E27FC236}">
                <a16:creationId xmlns:a16="http://schemas.microsoft.com/office/drawing/2014/main" id="{9F0A995E-B110-4CEA-92F9-9D6F9F0B1A1A}"/>
              </a:ext>
            </a:extLst>
          </p:cNvPr>
          <p:cNvSpPr>
            <a:spLocks xmlns:a="http://schemas.openxmlformats.org/drawingml/2006/main" noGrp="1"/>
          </p:cNvSpPr>
          <p:nvPr/>
        </p:nvSpPr>
        <p:spPr>
          <a:xfrm xmlns:a="http://schemas.openxmlformats.org/drawingml/2006/main">
            <a:off x="685800" y="3886200"/>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Personal finance</a:t>
            </a:r>
          </a:p>
        </p:txBody>
      </p:sp>
      <p:sp>
        <p:nvSpPr>
          <p:cNvPr id="8" name="">
            <a:extLst xmlns:a="http://schemas.openxmlformats.org/drawingml/2006/main">
              <a:ext uri="{FF2B5EF4-FFF2-40B4-BE49-F238E27FC236}">
                <a16:creationId xmlns:a16="http://schemas.microsoft.com/office/drawing/2014/main" id="{219A0443-D2C1-4C22-9995-F4F61F90F8F1}"/>
              </a:ext>
            </a:extLst>
          </p:cNvPr>
          <p:cNvSpPr>
            <a:spLocks xmlns:a="http://schemas.openxmlformats.org/drawingml/2006/main" noGrp="1"/>
          </p:cNvSpPr>
          <p:nvPr/>
        </p:nvSpPr>
        <p:spPr>
          <a:xfrm xmlns:a="http://schemas.openxmlformats.org/drawingml/2006/main">
            <a:off x="4076700" y="3886200"/>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Monthly budget, expense categories and daily allowance calculation.</a:t>
            </a:r>
          </a:p>
        </p:txBody>
      </p:sp>
      <p:sp>
        <p:nvSpPr>
          <p:cNvPr id="9" name="">
            <a:extLst xmlns:a="http://schemas.openxmlformats.org/drawingml/2006/main">
              <a:ext uri="{FF2B5EF4-FFF2-40B4-BE49-F238E27FC236}">
                <a16:creationId xmlns:a16="http://schemas.microsoft.com/office/drawing/2014/main" id="{4BA76C64-BAC1-468A-B1A8-1F88875BDAEE}"/>
              </a:ext>
            </a:extLst>
          </p:cNvPr>
          <p:cNvSpPr>
            <a:spLocks xmlns:a="http://schemas.openxmlformats.org/drawingml/2006/main" noGrp="1"/>
          </p:cNvSpPr>
          <p:nvPr/>
        </p:nvSpPr>
        <p:spPr>
          <a:xfrm xmlns:a="http://schemas.openxmlformats.org/drawingml/2006/main">
            <a:off x="685800" y="4867275"/>
            <a:ext cx="3067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1">
                <a:solidFill>
                  <a:srgbClr val="6740B3"/>
                </a:solidFill>
                <a:latin typeface="Arial"/>
                <a:ea typeface="Arial"/>
                <a:cs typeface="Arial"/>
              </a:defRPr>
            </a:defPPr>
          </a:lstStyle>
          <a:p xmlns:a="http://schemas.openxmlformats.org/drawingml/2006/main">
            <a:pPr>
              <a:defRPr sz="2100" b="1">
                <a:solidFill>
                  <a:srgbClr val="6740B3"/>
                </a:solidFill>
                <a:latin typeface="Arial"/>
                <a:ea typeface="Arial"/>
                <a:cs typeface="Arial"/>
              </a:defRPr>
            </a:pPr>
            <a:r>
              <a:rPr sz="2100" b="1">
                <a:solidFill>
                  <a:srgbClr val="6740B3"/>
                </a:solidFill>
                <a:latin typeface="Arial"/>
                <a:ea typeface="Arial"/>
                <a:cs typeface="Arial"/>
              </a:rPr>
              <a:t>Android interface</a:t>
            </a:r>
          </a:p>
        </p:txBody>
      </p:sp>
      <p:sp>
        <p:nvSpPr>
          <p:cNvPr id="10" name="">
            <a:extLst xmlns:a="http://schemas.openxmlformats.org/drawingml/2006/main">
              <a:ext uri="{FF2B5EF4-FFF2-40B4-BE49-F238E27FC236}">
                <a16:creationId xmlns:a16="http://schemas.microsoft.com/office/drawing/2014/main" id="{44F6003C-C3F5-4DF0-AA55-78DA1B1F1083}"/>
              </a:ext>
            </a:extLst>
          </p:cNvPr>
          <p:cNvSpPr>
            <a:spLocks xmlns:a="http://schemas.openxmlformats.org/drawingml/2006/main" noGrp="1"/>
          </p:cNvSpPr>
          <p:nvPr/>
        </p:nvSpPr>
        <p:spPr>
          <a:xfrm xmlns:a="http://schemas.openxmlformats.org/drawingml/2006/main">
            <a:off x="4076700" y="4867275"/>
            <a:ext cx="7429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Light and dark themes, session handling and a generated debug APK.</a:t>
            </a:r>
          </a:p>
        </p:txBody>
      </p:sp>
    </p:spTree>
    <p:extLst>
      <p:ext uri="{BB962C8B-B14F-4D97-AF65-F5344CB8AC3E}">
        <p14:creationId xmlns:p14="http://schemas.microsoft.com/office/powerpoint/2010/main" val="635838052"/>
      </p:ext>
    </p:extLst>
  </p:cSld>
</p:sld>
</file>

<file path=ppt/slides/slide12.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BC987F-2F44-4E33-8DE6-0BED4613E77B}"/>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Results: recorded unit tests</a:t>
            </a:r>
          </a:p>
        </p:txBody>
      </p:sp>
      <p:sp>
        <p:nvSpPr>
          <p:cNvPr id="2" name="">
            <a:extLst xmlns:a="http://schemas.openxmlformats.org/drawingml/2006/main">
              <a:ext uri="{FF2B5EF4-FFF2-40B4-BE49-F238E27FC236}">
                <a16:creationId xmlns:a16="http://schemas.microsoft.com/office/drawing/2014/main" id="{A4433C0B-455C-4ABF-8D6A-4630DF827E66}"/>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262DF06-8BA8-493D-9036-AF4BBE11D9CA}"/>
              </a:ext>
            </a:extLst>
          </p:cNvPr>
          <p:cNvSpPr>
            <a:spLocks xmlns:a="http://schemas.openxmlformats.org/drawingml/2006/main" noGrp="1"/>
          </p:cNvSpPr>
          <p:nvPr/>
        </p:nvSpPr>
        <p:spPr>
          <a:xfrm xmlns:a="http://schemas.openxmlformats.org/drawingml/2006/main">
            <a:off x="685800" y="1962150"/>
            <a:ext cx="37528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5100" b="1">
                <a:solidFill>
                  <a:srgbClr val="6740B3"/>
                </a:solidFill>
                <a:latin typeface="Arial"/>
                <a:ea typeface="Arial"/>
                <a:cs typeface="Arial"/>
              </a:defRPr>
            </a:defPPr>
          </a:lstStyle>
          <a:p xmlns:a="http://schemas.openxmlformats.org/drawingml/2006/main">
            <a:pPr>
              <a:defRPr sz="5100" b="1">
                <a:solidFill>
                  <a:srgbClr val="6740B3"/>
                </a:solidFill>
                <a:latin typeface="Arial"/>
                <a:ea typeface="Arial"/>
                <a:cs typeface="Arial"/>
              </a:defRPr>
            </a:pPr>
            <a:r>
              <a:rPr sz="5100" b="1">
                <a:solidFill>
                  <a:srgbClr val="6740B3"/>
                </a:solidFill>
                <a:latin typeface="Arial"/>
                <a:ea typeface="Arial"/>
                <a:cs typeface="Arial"/>
              </a:rPr>
              <a:t>23 / 23</a:t>
            </a:r>
          </a:p>
        </p:txBody>
      </p:sp>
      <p:sp>
        <p:nvSpPr>
          <p:cNvPr id="4" name="">
            <a:extLst xmlns:a="http://schemas.openxmlformats.org/drawingml/2006/main">
              <a:ext uri="{FF2B5EF4-FFF2-40B4-BE49-F238E27FC236}">
                <a16:creationId xmlns:a16="http://schemas.microsoft.com/office/drawing/2014/main" id="{A00A2A3E-757F-4193-9EC4-FE88CBC076D3}"/>
              </a:ext>
            </a:extLst>
          </p:cNvPr>
          <p:cNvSpPr>
            <a:spLocks xmlns:a="http://schemas.openxmlformats.org/drawingml/2006/main" noGrp="1"/>
          </p:cNvSpPr>
          <p:nvPr/>
        </p:nvSpPr>
        <p:spPr>
          <a:xfrm xmlns:a="http://schemas.openxmlformats.org/drawingml/2006/main">
            <a:off x="685800" y="3171825"/>
            <a:ext cx="3524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21212"/>
                </a:solidFill>
                <a:latin typeface="Arial"/>
                <a:ea typeface="Arial"/>
                <a:cs typeface="Arial"/>
              </a:defRPr>
            </a:defPPr>
          </a:lstStyle>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tests passed in the</a:t>
            </a:r>
          </a:p>
          <a:p xmlns:a="http://schemas.openxmlformats.org/drawingml/2006/main">
            <a:pPr>
              <a:defRPr sz="2325" b="1">
                <a:solidFill>
                  <a:srgbClr val="121212"/>
                </a:solidFill>
                <a:latin typeface="Arial"/>
                <a:ea typeface="Arial"/>
                <a:cs typeface="Arial"/>
              </a:defRPr>
            </a:pPr>
            <a:r>
              <a:rPr sz="2325" b="1">
                <a:solidFill>
                  <a:srgbClr val="121212"/>
                </a:solidFill>
                <a:latin typeface="Arial"/>
                <a:ea typeface="Arial"/>
                <a:cs typeface="Arial"/>
              </a:rPr>
              <a:t>recorded run</a:t>
            </a:r>
          </a:p>
        </p:txBody>
      </p:sp>
      <p:sp>
        <p:nvSpPr>
          <p:cNvPr id="5" name="">
            <a:extLst xmlns:a="http://schemas.openxmlformats.org/drawingml/2006/main">
              <a:ext uri="{FF2B5EF4-FFF2-40B4-BE49-F238E27FC236}">
                <a16:creationId xmlns:a16="http://schemas.microsoft.com/office/drawing/2014/main" id="{5003FE67-52B0-4CEA-9F63-A134DF2D7081}"/>
              </a:ext>
            </a:extLst>
          </p:cNvPr>
          <p:cNvSpPr>
            <a:spLocks xmlns:a="http://schemas.openxmlformats.org/drawingml/2006/main" noGrp="1"/>
          </p:cNvSpPr>
          <p:nvPr/>
        </p:nvSpPr>
        <p:spPr>
          <a:xfrm xmlns:a="http://schemas.openxmlformats.org/drawingml/2006/main">
            <a:off x="685800" y="4676775"/>
            <a:ext cx="3524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21212"/>
                </a:solidFill>
                <a:latin typeface="Arial"/>
                <a:ea typeface="Arial"/>
                <a:cs typeface="Arial"/>
              </a:defRPr>
            </a:defPPr>
          </a:lstStyle>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0 failures or errors</a:t>
            </a:r>
          </a:p>
          <a:p xmlns:a="http://schemas.openxmlformats.org/drawingml/2006/main">
            <a:pPr>
              <a:defRPr sz="2025" b="0">
                <a:solidFill>
                  <a:srgbClr val="121212"/>
                </a:solidFill>
                <a:latin typeface="Arial"/>
                <a:ea typeface="Arial"/>
                <a:cs typeface="Arial"/>
              </a:defRPr>
            </a:pPr>
            <a:r>
              <a:rPr sz="2025" b="0">
                <a:solidFill>
                  <a:srgbClr val="121212"/>
                </a:solidFill>
                <a:latin typeface="Arial"/>
                <a:ea typeface="Arial"/>
                <a:cs typeface="Arial"/>
              </a:rPr>
              <a:t>8 October 2026</a:t>
            </a:r>
          </a:p>
        </p:txBody>
      </p:sp>
      <p:graphicFrame>
        <p:nvGraphicFramePr>
          <p:cNvPr id="6" name="">
            <a:extLst xmlns:a="http://schemas.openxmlformats.org/drawingml/2006/main">
              <a:ext uri="{FF2B5EF4-FFF2-40B4-BE49-F238E27FC236}">
                <a16:creationId xmlns:a16="http://schemas.microsoft.com/office/drawing/2014/main" id="{01DD23F5-ACA1-45D1-B863-01F641098037}"/>
              </a:ext>
            </a:extLst>
          </p:cNvPr>
          <p:cNvGraphicFramePr/>
          <p:nvPr/>
        </p:nvGraphicFramePr>
        <p:xfrm>
          <a:off xmlns:a="http://schemas.openxmlformats.org/drawingml/2006/main" x="4810125" y="1857375"/>
          <a:ext xmlns:a="http://schemas.openxmlformats.org/drawingml/2006/main" cx="6696075" cy="3829050"/>
        </p:xfrm>
        <a:graphic xmlns:a="http://schemas.openxmlformats.org/drawingml/2006/main">
          <a:graphicData uri="http://schemas.openxmlformats.org/drawingml/2006/table">
            <a:tbl>
              <a:tblPr/>
              <a:tblGrid>
                <a:gridCol w="5162550"/>
                <a:gridCol w="1533525"/>
              </a:tblGrid>
              <a:tr h="547007">
                <a:tc>
                  <a:txBody>
                    <a:bodyPr lIns="114300" tIns="114300" rIns="114300" bIns="114300"/>
                    <a:lstStyle/>
                    <a:p>
                      <a:r>
                        <a:rPr sz="1800" b="1">
                          <a:solidFill>
                            <a:srgbClr val="FFFFFF"/>
                          </a:solidFill>
                          <a:latin typeface="Arial"/>
                          <a:ea typeface="Arial"/>
                          <a:cs typeface="Arial"/>
                        </a:rPr>
                        <a:t>Test suite</a:t>
                      </a:r>
                    </a:p>
                  </a:txBody>
                  <a:tcPr marL="91440" marR="91440" marT="45720" marB="45720">
                    <a:solidFill>
                      <a:srgbClr val="6740B3"/>
                    </a:solidFill>
                  </a:tcPr>
                </a:tc>
                <a:tc>
                  <a:txBody>
                    <a:bodyPr lIns="114300" tIns="114300" rIns="114300" bIns="114300"/>
                    <a:lstStyle/>
                    <a:p>
                      <a:r>
                        <a:rPr sz="1800" b="1">
                          <a:solidFill>
                            <a:srgbClr val="FFFFFF"/>
                          </a:solidFill>
                          <a:latin typeface="Arial"/>
                          <a:ea typeface="Arial"/>
                          <a:cs typeface="Arial"/>
                        </a:rPr>
                        <a:t>Passed</a:t>
                      </a:r>
                    </a:p>
                  </a:txBody>
                  <a:tcPr marL="91440" marR="91440" marT="45720" marB="45720">
                    <a:solidFill>
                      <a:srgbClr val="6740B3"/>
                    </a:solidFill>
                  </a:tcPr>
                </a:tc>
              </a:tr>
              <a:tr h="547007">
                <a:tc>
                  <a:txBody>
                    <a:bodyPr lIns="114300" tIns="114300" rIns="114300" bIns="114300"/>
                    <a:lstStyle/>
                    <a:p>
                      <a:r>
                        <a:rPr sz="1800" b="0">
                          <a:solidFill>
                            <a:srgbClr val="121212"/>
                          </a:solidFill>
                          <a:latin typeface="Arial"/>
                          <a:ea typeface="Arial"/>
                          <a:cs typeface="Arial"/>
                        </a:rPr>
                        <a:t>Student ViewModel</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10</a:t>
                      </a:r>
                    </a:p>
                  </a:txBody>
                  <a:tcPr marL="91440" marR="91440" marT="45720" marB="45720">
                    <a:solidFill>
                      <a:srgbClr val="F0EBFA"/>
                    </a:solidFill>
                  </a:tcPr>
                </a:tc>
              </a:tr>
              <a:tr h="547007">
                <a:tc>
                  <a:txBody>
                    <a:bodyPr lIns="114300" tIns="114300" rIns="114300" bIns="114300"/>
                    <a:lstStyle/>
                    <a:p>
                      <a:r>
                        <a:rPr sz="1800" b="0">
                          <a:solidFill>
                            <a:srgbClr val="121212"/>
                          </a:solidFill>
                          <a:latin typeface="Arial"/>
                          <a:ea typeface="Arial"/>
                          <a:cs typeface="Arial"/>
                        </a:rPr>
                        <a:t>Budget summary</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4</a:t>
                      </a:r>
                    </a:p>
                  </a:txBody>
                  <a:tcPr marL="91440" marR="91440" marT="45720" marB="45720">
                    <a:solidFill>
                      <a:srgbClr val="FFFFFF"/>
                    </a:solidFill>
                  </a:tcPr>
                </a:tc>
              </a:tr>
              <a:tr h="547007">
                <a:tc>
                  <a:txBody>
                    <a:bodyPr lIns="114300" tIns="114300" rIns="114300" bIns="114300"/>
                    <a:lstStyle/>
                    <a:p>
                      <a:r>
                        <a:rPr sz="1800" b="0">
                          <a:solidFill>
                            <a:srgbClr val="121212"/>
                          </a:solidFill>
                          <a:latin typeface="Arial"/>
                          <a:ea typeface="Arial"/>
                          <a:cs typeface="Arial"/>
                        </a:rPr>
                        <a:t>Cart and meal helpers</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4</a:t>
                      </a:r>
                    </a:p>
                  </a:txBody>
                  <a:tcPr marL="91440" marR="91440" marT="45720" marB="45720">
                    <a:solidFill>
                      <a:srgbClr val="F0EBFA"/>
                    </a:solidFill>
                  </a:tcPr>
                </a:tc>
              </a:tr>
              <a:tr h="547007">
                <a:tc>
                  <a:txBody>
                    <a:bodyPr lIns="114300" tIns="114300" rIns="114300" bIns="114300"/>
                    <a:lstStyle/>
                    <a:p>
                      <a:r>
                        <a:rPr sz="1800" b="0">
                          <a:solidFill>
                            <a:srgbClr val="121212"/>
                          </a:solidFill>
                          <a:latin typeface="Arial"/>
                          <a:ea typeface="Arial"/>
                          <a:cs typeface="Arial"/>
                        </a:rPr>
                        <a:t>Theme preferences</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3</a:t>
                      </a:r>
                    </a:p>
                  </a:txBody>
                  <a:tcPr marL="91440" marR="91440" marT="45720" marB="45720">
                    <a:solidFill>
                      <a:srgbClr val="FFFFFF"/>
                    </a:solidFill>
                  </a:tcPr>
                </a:tc>
              </a:tr>
              <a:tr h="547007">
                <a:tc>
                  <a:txBody>
                    <a:bodyPr lIns="114300" tIns="114300" rIns="114300" bIns="114300"/>
                    <a:lstStyle/>
                    <a:p>
                      <a:r>
                        <a:rPr sz="1800" b="0">
                          <a:solidFill>
                            <a:srgbClr val="121212"/>
                          </a:solidFill>
                          <a:latin typeface="Arial"/>
                          <a:ea typeface="Arial"/>
                          <a:cs typeface="Arial"/>
                        </a:rPr>
                        <a:t>Menu item model</a:t>
                      </a:r>
                    </a:p>
                  </a:txBody>
                  <a:tcPr marL="91440" marR="91440" marT="45720" marB="45720">
                    <a:solidFill>
                      <a:srgbClr val="F0EBFA"/>
                    </a:solidFill>
                  </a:tcPr>
                </a:tc>
                <a:tc>
                  <a:txBody>
                    <a:bodyPr lIns="114300" tIns="114300" rIns="114300" bIns="114300"/>
                    <a:lstStyle/>
                    <a:p>
                      <a:r>
                        <a:rPr sz="1800" b="0">
                          <a:solidFill>
                            <a:srgbClr val="121212"/>
                          </a:solidFill>
                          <a:latin typeface="Arial"/>
                          <a:ea typeface="Arial"/>
                          <a:cs typeface="Arial"/>
                        </a:rPr>
                        <a:t>1</a:t>
                      </a:r>
                    </a:p>
                  </a:txBody>
                  <a:tcPr marL="91440" marR="91440" marT="45720" marB="45720">
                    <a:solidFill>
                      <a:srgbClr val="F0EBFA"/>
                    </a:solidFill>
                  </a:tcPr>
                </a:tc>
              </a:tr>
              <a:tr h="547007">
                <a:tc>
                  <a:txBody>
                    <a:bodyPr lIns="114300" tIns="114300" rIns="114300" bIns="114300"/>
                    <a:lstStyle/>
                    <a:p>
                      <a:r>
                        <a:rPr sz="1800" b="0">
                          <a:solidFill>
                            <a:srgbClr val="121212"/>
                          </a:solidFill>
                          <a:latin typeface="Arial"/>
                          <a:ea typeface="Arial"/>
                          <a:cs typeface="Arial"/>
                        </a:rPr>
                        <a:t>Template arithmetic</a:t>
                      </a:r>
                    </a:p>
                  </a:txBody>
                  <a:tcPr marL="91440" marR="91440" marT="45720" marB="45720">
                    <a:solidFill>
                      <a:srgbClr val="FFFFFF"/>
                    </a:solidFill>
                  </a:tcPr>
                </a:tc>
                <a:tc>
                  <a:txBody>
                    <a:bodyPr lIns="114300" tIns="114300" rIns="114300" bIns="114300"/>
                    <a:lstStyle/>
                    <a:p>
                      <a:r>
                        <a:rPr sz="1800" b="0">
                          <a:solidFill>
                            <a:srgbClr val="121212"/>
                          </a:solidFill>
                          <a:latin typeface="Arial"/>
                          <a:ea typeface="Arial"/>
                          <a:cs typeface="Arial"/>
                        </a:rPr>
                        <a:t>1</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4BDA262-854A-435B-9058-82C53B7ADA6C}"/>
              </a:ext>
            </a:extLst>
          </p:cNvPr>
          <p:cNvSpPr>
            <a:spLocks xmlns:a="http://schemas.openxmlformats.org/drawingml/2006/main" noGrp="1"/>
          </p:cNvSpPr>
          <p:nvPr/>
        </p:nvSpPr>
        <p:spPr>
          <a:xfrm xmlns:a="http://schemas.openxmlformats.org/drawingml/2006/main">
            <a:off x="685800" y="5905500"/>
            <a:ext cx="10477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1">
                <a:solidFill>
                  <a:srgbClr val="121212"/>
                </a:solidFill>
                <a:latin typeface="Arial"/>
                <a:ea typeface="Arial"/>
                <a:cs typeface="Arial"/>
              </a:defRPr>
            </a:defPPr>
          </a:lstStyle>
          <a:p xmlns:a="http://schemas.openxmlformats.org/drawingml/2006/main">
            <a:pPr>
              <a:defRPr sz="1725" b="1">
                <a:solidFill>
                  <a:srgbClr val="121212"/>
                </a:solidFill>
                <a:latin typeface="Arial"/>
                <a:ea typeface="Arial"/>
                <a:cs typeface="Arial"/>
              </a:defRPr>
            </a:pPr>
            <a:r>
              <a:rPr sz="1725" b="1">
                <a:solidFill>
                  <a:srgbClr val="121212"/>
                </a:solidFill>
                <a:latin typeface="Arial"/>
                <a:ea typeface="Arial"/>
                <a:cs typeface="Arial"/>
              </a:rPr>
              <a:t>These tests cover local logic. Live payment, collection and load testing remain necessary.</a:t>
            </a:r>
          </a:p>
        </p:txBody>
      </p:sp>
    </p:spTree>
    <p:extLst>
      <p:ext uri="{BB962C8B-B14F-4D97-AF65-F5344CB8AC3E}">
        <p14:creationId xmlns:p14="http://schemas.microsoft.com/office/powerpoint/2010/main" val="1163015013"/>
      </p:ext>
    </p:extLst>
  </p:cSld>
</p:sld>
</file>

<file path=ppt/slides/slide13.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428967-B048-4DE5-8AE1-94DA991BF6A0}"/>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Results: scope and next evaluation</a:t>
            </a:r>
          </a:p>
        </p:txBody>
      </p:sp>
      <p:sp>
        <p:nvSpPr>
          <p:cNvPr id="2" name="">
            <a:extLst xmlns:a="http://schemas.openxmlformats.org/drawingml/2006/main">
              <a:ext uri="{FF2B5EF4-FFF2-40B4-BE49-F238E27FC236}">
                <a16:creationId xmlns:a16="http://schemas.microsoft.com/office/drawing/2014/main" id="{A8571491-A683-43E8-B1BA-7EACEA2243C7}"/>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47630B5-7F45-4500-9F32-F9462BD6A400}"/>
              </a:ext>
            </a:extLst>
          </p:cNvPr>
          <p:cNvSpPr>
            <a:spLocks xmlns:a="http://schemas.openxmlformats.org/drawingml/2006/main" noGrp="1"/>
          </p:cNvSpPr>
          <p:nvPr/>
        </p:nvSpPr>
        <p:spPr>
          <a:xfrm xmlns:a="http://schemas.openxmlformats.org/drawingml/2006/main">
            <a:off x="685800" y="194310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Current evidence</a:t>
            </a:r>
          </a:p>
        </p:txBody>
      </p:sp>
      <p:sp>
        <p:nvSpPr>
          <p:cNvPr id="4" name="">
            <a:extLst xmlns:a="http://schemas.openxmlformats.org/drawingml/2006/main">
              <a:ext uri="{FF2B5EF4-FFF2-40B4-BE49-F238E27FC236}">
                <a16:creationId xmlns:a16="http://schemas.microsoft.com/office/drawing/2014/main" id="{E2B788CC-96EA-4ACE-8F1B-7624178FECF5}"/>
              </a:ext>
            </a:extLst>
          </p:cNvPr>
          <p:cNvSpPr>
            <a:spLocks xmlns:a="http://schemas.openxmlformats.org/drawingml/2006/main" noGrp="1"/>
          </p:cNvSpPr>
          <p:nvPr/>
        </p:nvSpPr>
        <p:spPr>
          <a:xfrm xmlns:a="http://schemas.openxmlformats.org/drawingml/2006/main">
            <a:off x="685800" y="2600325"/>
            <a:ext cx="48577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Android prototype and recorded unit tests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No measured campus wait-time reduction</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No completed usability or scale study</a:t>
            </a:r>
          </a:p>
        </p:txBody>
      </p:sp>
      <p:sp>
        <p:nvSpPr>
          <p:cNvPr id="5" name="">
            <a:extLst xmlns:a="http://schemas.openxmlformats.org/drawingml/2006/main">
              <a:ext uri="{FF2B5EF4-FFF2-40B4-BE49-F238E27FC236}">
                <a16:creationId xmlns:a16="http://schemas.microsoft.com/office/drawing/2014/main" id="{FECDC309-6EB0-4BBB-92DC-39DA3B43A03E}"/>
              </a:ext>
            </a:extLst>
          </p:cNvPr>
          <p:cNvSpPr>
            <a:spLocks xmlns:a="http://schemas.openxmlformats.org/drawingml/2006/main" noGrp="1"/>
          </p:cNvSpPr>
          <p:nvPr/>
        </p:nvSpPr>
        <p:spPr>
          <a:xfrm xmlns:a="http://schemas.openxmlformats.org/drawingml/2006/main">
            <a:off x="6496050" y="1943100"/>
            <a:ext cx="5010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1">
                <a:solidFill>
                  <a:srgbClr val="6740B3"/>
                </a:solidFill>
                <a:latin typeface="Arial"/>
                <a:ea typeface="Arial"/>
                <a:cs typeface="Arial"/>
              </a:defRPr>
            </a:defPPr>
          </a:lstStyle>
          <a:p xmlns:a="http://schemas.openxmlformats.org/drawingml/2006/main">
            <a:pPr>
              <a:defRPr sz="2250" b="1">
                <a:solidFill>
                  <a:srgbClr val="6740B3"/>
                </a:solidFill>
                <a:latin typeface="Arial"/>
                <a:ea typeface="Arial"/>
                <a:cs typeface="Arial"/>
              </a:defRPr>
            </a:pPr>
            <a:r>
              <a:rPr sz="2250" b="1">
                <a:solidFill>
                  <a:srgbClr val="6740B3"/>
                </a:solidFill>
                <a:latin typeface="Arial"/>
                <a:ea typeface="Arial"/>
                <a:cs typeface="Arial"/>
              </a:rPr>
              <a:t>Proposed local evaluation</a:t>
            </a:r>
          </a:p>
        </p:txBody>
      </p:sp>
      <p:sp>
        <p:nvSpPr>
          <p:cNvPr id="6" name="">
            <a:extLst xmlns:a="http://schemas.openxmlformats.org/drawingml/2006/main">
              <a:ext uri="{FF2B5EF4-FFF2-40B4-BE49-F238E27FC236}">
                <a16:creationId xmlns:a16="http://schemas.microsoft.com/office/drawing/2014/main" id="{948E9B93-DDAB-45CF-A977-5B79C6D09F60}"/>
              </a:ext>
            </a:extLst>
          </p:cNvPr>
          <p:cNvSpPr>
            <a:spLocks xmlns:a="http://schemas.openxmlformats.org/drawingml/2006/main" noGrp="1"/>
          </p:cNvSpPr>
          <p:nvPr/>
        </p:nvSpPr>
        <p:spPr>
          <a:xfrm xmlns:a="http://schemas.openxmlformats.org/drawingml/2006/main">
            <a:off x="6496050" y="2600325"/>
            <a:ext cx="501015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21212"/>
                </a:solidFill>
                <a:latin typeface="Arial"/>
                <a:ea typeface="Arial"/>
                <a:cs typeface="Arial"/>
              </a:defRPr>
            </a:defPPr>
          </a:lstStyle>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Supervised pilot with approved users</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Reconcile wallet, order and collection data</a:t>
            </a:r>
          </a:p>
          <a:p xmlns:a="http://schemas.openxmlformats.org/drawingml/2006/main">
            <a:r>
              <a:t/>
            </a:r>
          </a:p>
          <a:p xmlns:a="http://schemas.openxmlformats.org/drawingml/2006/main">
            <a:pPr>
              <a:defRPr sz="2100" b="0">
                <a:solidFill>
                  <a:srgbClr val="121212"/>
                </a:solidFill>
                <a:latin typeface="Arial"/>
                <a:ea typeface="Arial"/>
                <a:cs typeface="Arial"/>
              </a:defRPr>
            </a:pPr>
            <a:r>
              <a:rPr sz="2100" b="0">
                <a:solidFill>
                  <a:srgbClr val="121212"/>
                </a:solidFill>
                <a:latin typeface="Arial"/>
                <a:ea typeface="Arial"/>
                <a:cs typeface="Arial"/>
              </a:rPr>
              <a:t>Measure usability and peak-period waits</a:t>
            </a:r>
          </a:p>
        </p:txBody>
      </p:sp>
      <p:sp>
        <p:nvSpPr>
          <p:cNvPr id="7" name="">
            <a:extLst xmlns:a="http://schemas.openxmlformats.org/drawingml/2006/main">
              <a:ext uri="{FF2B5EF4-FFF2-40B4-BE49-F238E27FC236}">
                <a16:creationId xmlns:a16="http://schemas.microsoft.com/office/drawing/2014/main" id="{6363372F-10D7-40AA-905A-736862C744FB}"/>
              </a:ext>
            </a:extLst>
          </p:cNvPr>
          <p:cNvSpPr>
            <a:spLocks xmlns:a="http://schemas.openxmlformats.org/drawingml/2006/main" noGrp="1"/>
          </p:cNvSpPr>
          <p:nvPr/>
        </p:nvSpPr>
        <p:spPr>
          <a:xfrm xmlns:a="http://schemas.openxmlformats.org/drawingml/2006/main">
            <a:off x="685800" y="561975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1">
                <a:solidFill>
                  <a:srgbClr val="121212"/>
                </a:solidFill>
                <a:latin typeface="Arial"/>
                <a:ea typeface="Arial"/>
                <a:cs typeface="Arial"/>
              </a:defRPr>
            </a:defPPr>
          </a:lstStyle>
          <a:p xmlns:a="http://schemas.openxmlformats.org/drawingml/2006/main">
            <a:pPr>
              <a:defRPr sz="1875" b="1">
                <a:solidFill>
                  <a:srgbClr val="121212"/>
                </a:solidFill>
                <a:latin typeface="Arial"/>
                <a:ea typeface="Arial"/>
                <a:cs typeface="Arial"/>
              </a:defRPr>
            </a:pPr>
            <a:r>
              <a:rPr sz="1875" b="1">
                <a:solidFill>
                  <a:srgbClr val="121212"/>
                </a:solidFill>
                <a:latin typeface="Arial"/>
                <a:ea typeface="Arial"/>
                <a:cs typeface="Arial"/>
              </a:rPr>
              <a:t>Before expansion: confirm outlet/session rules, QR behaviour and safe payment recovery.</a:t>
            </a:r>
          </a:p>
        </p:txBody>
      </p:sp>
    </p:spTree>
    <p:extLst>
      <p:ext uri="{BB962C8B-B14F-4D97-AF65-F5344CB8AC3E}">
        <p14:creationId xmlns:p14="http://schemas.microsoft.com/office/powerpoint/2010/main" val="1934920230"/>
      </p:ext>
    </p:extLst>
  </p:cSld>
</p:sld>
</file>

<file path=ppt/slides/slide14.xml><?xml version="1.0" encoding="utf-8"?>
<p:sld xmlns:p="http://schemas.openxmlformats.org/presentationml/2006/main">
  <p:cSld>
    <p:bg>
      <p:bgPr>
        <a:solidFill xmlns:a="http://schemas.openxmlformats.org/drawingml/2006/main">
          <a:srgbClr val="F8F6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B36AF6-4B41-4174-B0AD-5E28A8807C3C}"/>
              </a:ext>
            </a:extLst>
          </p:cNvPr>
          <p:cNvSpPr>
            <a:spLocks xmlns:a="http://schemas.openxmlformats.org/drawingml/2006/main" noGrp="1"/>
          </p:cNvSpPr>
          <p:nvPr/>
        </p:nvSpPr>
        <p:spPr>
          <a:xfrm xmlns:a="http://schemas.openxmlformats.org/drawingml/2006/main">
            <a:off x="685800" y="590550"/>
            <a:ext cx="10820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3300" b="1">
                <a:solidFill>
                  <a:srgbClr val="121212"/>
                </a:solidFill>
                <a:latin typeface="Arial"/>
                <a:ea typeface="Arial"/>
                <a:cs typeface="Arial"/>
              </a:defRPr>
            </a:defPPr>
          </a:lstStyle>
          <a:p xmlns:a="http://schemas.openxmlformats.org/drawingml/2006/main">
            <a:pPr>
              <a:defRPr sz="3300" b="1">
                <a:solidFill>
                  <a:srgbClr val="121212"/>
                </a:solidFill>
                <a:latin typeface="Arial"/>
                <a:ea typeface="Arial"/>
                <a:cs typeface="Arial"/>
              </a:defRPr>
            </a:pPr>
            <a:r>
              <a:rPr sz="3300" b="1">
                <a:solidFill>
                  <a:srgbClr val="121212"/>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24BD2372-A754-432F-A79B-6E304EAE5153}"/>
              </a:ext>
            </a:extLst>
          </p:cNvPr>
          <p:cNvSpPr>
            <a:spLocks xmlns:a="http://schemas.openxmlformats.org/drawingml/2006/main" noGrp="1"/>
          </p:cNvSpPr>
          <p:nvPr/>
        </p:nvSpPr>
        <p:spPr>
          <a:xfrm xmlns:a="http://schemas.openxmlformats.org/drawingml/2006/main">
            <a:off x="10858500" y="6267450"/>
            <a:ext cx="64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350" b="0">
                <a:solidFill>
                  <a:srgbClr val="4B5563"/>
                </a:solidFill>
                <a:latin typeface="Arial"/>
                <a:ea typeface="Arial"/>
                <a:cs typeface="Arial"/>
              </a:defRPr>
            </a:defPPr>
          </a:lstStyle>
          <a:p xmlns:a="http://schemas.openxmlformats.org/drawingml/2006/main">
            <a:pPr>
              <a:defRPr sz="1350" b="0">
                <a:solidFill>
                  <a:srgbClr val="4B5563"/>
                </a:solidFill>
                <a:latin typeface="Arial"/>
                <a:ea typeface="Arial"/>
                <a:cs typeface="Arial"/>
              </a:defRPr>
            </a:pPr>
            <a:r>
              <a:rPr sz="1350" b="0">
                <a:solidFill>
                  <a:srgbClr val="4B5563"/>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D79EC347-8BC0-4304-A6A1-FC09981F00EB}"/>
              </a:ext>
            </a:extLst>
          </p:cNvPr>
          <p:cNvSpPr>
            <a:spLocks xmlns:a="http://schemas.openxmlformats.org/drawingml/2006/main" noGrp="1"/>
          </p:cNvSpPr>
          <p:nvPr/>
        </p:nvSpPr>
        <p:spPr>
          <a:xfrm xmlns:a="http://schemas.openxmlformats.org/drawingml/2006/main">
            <a:off x="685800" y="18478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6740B3"/>
                </a:solidFill>
                <a:latin typeface="Arial"/>
                <a:ea typeface="Arial"/>
                <a:cs typeface="Arial"/>
              </a:defRPr>
            </a:defPPr>
          </a:lstStyle>
          <a:p xmlns:a="http://schemas.openxmlformats.org/drawingml/2006/main">
            <a:pPr>
              <a:defRPr sz="2025" b="1">
                <a:solidFill>
                  <a:srgbClr val="6740B3"/>
                </a:solidFill>
                <a:latin typeface="Arial"/>
                <a:ea typeface="Arial"/>
                <a:cs typeface="Arial"/>
              </a:defRPr>
            </a:pPr>
            <a:r>
              <a:rPr sz="2025" b="1">
                <a:solidFill>
                  <a:srgbClr val="6740B3"/>
                </a:solidFill>
                <a:latin typeface="Arial"/>
                <a:ea typeface="Arial"/>
                <a:cs typeface="Arial"/>
              </a:rPr>
              <a:t>[1] Noordin and Mohd Zain (2023)</a:t>
            </a:r>
          </a:p>
        </p:txBody>
      </p:sp>
      <p:sp>
        <p:nvSpPr>
          <p:cNvPr id="4" name="">
            <a:extLst xmlns:a="http://schemas.openxmlformats.org/drawingml/2006/main">
              <a:ext uri="{FF2B5EF4-FFF2-40B4-BE49-F238E27FC236}">
                <a16:creationId xmlns:a16="http://schemas.microsoft.com/office/drawing/2014/main" id="{D7C41170-4FC1-456E-8BE9-7762F75F8901}"/>
              </a:ext>
            </a:extLst>
          </p:cNvPr>
          <p:cNvSpPr>
            <a:spLocks xmlns:a="http://schemas.openxmlformats.org/drawingml/2006/main" noGrp="1"/>
          </p:cNvSpPr>
          <p:nvPr/>
        </p:nvSpPr>
        <p:spPr>
          <a:xfrm xmlns:a="http://schemas.openxmlformats.org/drawingml/2006/main">
            <a:off x="685800" y="2286000"/>
            <a:ext cx="10820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21212"/>
                </a:solidFill>
                <a:latin typeface="Arial"/>
                <a:ea typeface="Arial"/>
                <a:cs typeface="Arial"/>
              </a:defRPr>
            </a:defPPr>
          </a:lstStyle>
          <a:p xmlns:a="http://schemas.openxmlformats.org/drawingml/2006/main">
            <a:pPr>
              <a:defRPr sz="1800" b="0">
                <a:solidFill>
                  <a:srgbClr val="121212"/>
                </a:solidFill>
                <a:latin typeface="Arial"/>
                <a:ea typeface="Arial"/>
                <a:cs typeface="Arial"/>
              </a:defRPr>
            </a:pPr>
            <a:r>
              <a:rPr sz="1800" b="0">
                <a:solidFill>
                  <a:srgbClr val="121212"/>
                </a:solidFill>
                <a:latin typeface="Arial"/>
                <a:ea typeface="Arial"/>
                <a:cs typeface="Arial"/>
              </a:rPr>
              <a:t>Mobile application for ordering food from UiTM Arau Campus cafeteria</a:t>
            </a:r>
          </a:p>
          <a:p xmlns:a="http://schemas.openxmlformats.org/drawingml/2006/main">
            <a:pPr>
              <a:defRPr sz="1800" b="0">
                <a:solidFill>
                  <a:srgbClr val="121212"/>
                </a:solidFill>
                <a:latin typeface="Arial"/>
                <a:ea typeface="Arial"/>
                <a:cs typeface="Arial"/>
              </a:defRPr>
            </a:pPr>
            <a:r>
              <a:rPr sz="1800" b="0">
                <a:solidFill>
                  <a:srgbClr val="121212"/>
                </a:solidFill>
                <a:latin typeface="Arial"/>
                <a:ea typeface="Arial"/>
                <a:cs typeface="Arial"/>
              </a:rPr>
              <a:t>REMACS 5.0, pp. 225-226. ir.uitm.edu.my/id/eprint/100569/</a:t>
            </a:r>
          </a:p>
        </p:txBody>
      </p:sp>
      <p:sp>
        <p:nvSpPr>
          <p:cNvPr id="5" name="">
            <a:extLst xmlns:a="http://schemas.openxmlformats.org/drawingml/2006/main">
              <a:ext uri="{FF2B5EF4-FFF2-40B4-BE49-F238E27FC236}">
                <a16:creationId xmlns:a16="http://schemas.microsoft.com/office/drawing/2014/main" id="{3A0DA209-0C60-49DA-9EEE-4A6CDED58B21}"/>
              </a:ext>
            </a:extLst>
          </p:cNvPr>
          <p:cNvSpPr>
            <a:spLocks xmlns:a="http://schemas.openxmlformats.org/drawingml/2006/main" noGrp="1"/>
          </p:cNvSpPr>
          <p:nvPr/>
        </p:nvSpPr>
        <p:spPr>
          <a:xfrm xmlns:a="http://schemas.openxmlformats.org/drawingml/2006/main">
            <a:off x="685800" y="325755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6740B3"/>
                </a:solidFill>
                <a:latin typeface="Arial"/>
                <a:ea typeface="Arial"/>
                <a:cs typeface="Arial"/>
              </a:defRPr>
            </a:defPPr>
          </a:lstStyle>
          <a:p xmlns:a="http://schemas.openxmlformats.org/drawingml/2006/main">
            <a:pPr>
              <a:defRPr sz="2025" b="1">
                <a:solidFill>
                  <a:srgbClr val="6740B3"/>
                </a:solidFill>
                <a:latin typeface="Arial"/>
                <a:ea typeface="Arial"/>
                <a:cs typeface="Arial"/>
              </a:defRPr>
            </a:pPr>
            <a:r>
              <a:rPr sz="2025" b="1">
                <a:solidFill>
                  <a:srgbClr val="6740B3"/>
                </a:solidFill>
                <a:latin typeface="Arial"/>
                <a:ea typeface="Arial"/>
                <a:cs typeface="Arial"/>
              </a:rPr>
              <a:t>[2] Kambli, Sinha and Srinivas (2020)</a:t>
            </a:r>
          </a:p>
        </p:txBody>
      </p:sp>
      <p:sp>
        <p:nvSpPr>
          <p:cNvPr id="6" name="">
            <a:extLst xmlns:a="http://schemas.openxmlformats.org/drawingml/2006/main">
              <a:ext uri="{FF2B5EF4-FFF2-40B4-BE49-F238E27FC236}">
                <a16:creationId xmlns:a16="http://schemas.microsoft.com/office/drawing/2014/main" id="{2806DED7-F495-4A06-AFF9-E4EC016C78D8}"/>
              </a:ext>
            </a:extLst>
          </p:cNvPr>
          <p:cNvSpPr>
            <a:spLocks xmlns:a="http://schemas.openxmlformats.org/drawingml/2006/main" noGrp="1"/>
          </p:cNvSpPr>
          <p:nvPr/>
        </p:nvSpPr>
        <p:spPr>
          <a:xfrm xmlns:a="http://schemas.openxmlformats.org/drawingml/2006/main">
            <a:off x="685800" y="3695700"/>
            <a:ext cx="108204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121212"/>
                </a:solidFill>
                <a:latin typeface="Arial"/>
                <a:ea typeface="Arial"/>
                <a:cs typeface="Arial"/>
              </a:defRPr>
            </a:defPPr>
          </a:lstStyle>
          <a:p xmlns:a="http://schemas.openxmlformats.org/drawingml/2006/main">
            <a:pPr>
              <a:defRPr sz="1800" b="0">
                <a:solidFill>
                  <a:srgbClr val="121212"/>
                </a:solidFill>
                <a:latin typeface="Arial"/>
                <a:ea typeface="Arial"/>
                <a:cs typeface="Arial"/>
              </a:defRPr>
            </a:pPr>
            <a:r>
              <a:rPr sz="1800" b="0">
                <a:solidFill>
                  <a:srgbClr val="121212"/>
                </a:solidFill>
                <a:latin typeface="Arial"/>
                <a:ea typeface="Arial"/>
                <a:cs typeface="Arial"/>
              </a:rPr>
              <a:t>Improving campus dining operations using capacity and queue management</a:t>
            </a:r>
          </a:p>
          <a:p xmlns:a="http://schemas.openxmlformats.org/drawingml/2006/main">
            <a:pPr>
              <a:defRPr sz="1800" b="0">
                <a:solidFill>
                  <a:srgbClr val="121212"/>
                </a:solidFill>
                <a:latin typeface="Arial"/>
                <a:ea typeface="Arial"/>
                <a:cs typeface="Arial"/>
              </a:defRPr>
            </a:pPr>
            <a:r>
              <a:rPr sz="1800" b="0">
                <a:solidFill>
                  <a:srgbClr val="121212"/>
                </a:solidFill>
                <a:latin typeface="Arial"/>
                <a:ea typeface="Arial"/>
                <a:cs typeface="Arial"/>
              </a:rPr>
              <a:t>Journal of Hospitality and Tourism Management, 43, 62-70</a:t>
            </a:r>
          </a:p>
          <a:p xmlns:a="http://schemas.openxmlformats.org/drawingml/2006/main">
            <a:pPr>
              <a:defRPr sz="1800" b="0">
                <a:solidFill>
                  <a:srgbClr val="121212"/>
                </a:solidFill>
                <a:latin typeface="Arial"/>
                <a:ea typeface="Arial"/>
                <a:cs typeface="Arial"/>
              </a:defRPr>
            </a:pPr>
            <a:r>
              <a:rPr sz="1800" b="0">
                <a:solidFill>
                  <a:srgbClr val="121212"/>
                </a:solidFill>
                <a:latin typeface="Arial"/>
                <a:ea typeface="Arial"/>
                <a:cs typeface="Arial"/>
              </a:rPr>
              <a:t>DOI: 10.1016/j.jhtm.2020.02.008</a:t>
            </a:r>
          </a:p>
        </p:txBody>
      </p:sp>
      <p:sp>
        <p:nvSpPr>
          <p:cNvPr id="7" name="">
            <a:extLst xmlns:a="http://schemas.openxmlformats.org/drawingml/2006/main">
              <a:ext uri="{FF2B5EF4-FFF2-40B4-BE49-F238E27FC236}">
                <a16:creationId xmlns:a16="http://schemas.microsoft.com/office/drawing/2014/main" id="{FF1DDEDF-5EEA-47CC-94C7-8DB25C9378D6}"/>
              </a:ext>
            </a:extLst>
          </p:cNvPr>
          <p:cNvSpPr>
            <a:spLocks xmlns:a="http://schemas.openxmlformats.org/drawingml/2006/main" noGrp="1"/>
          </p:cNvSpPr>
          <p:nvPr/>
        </p:nvSpPr>
        <p:spPr>
          <a:xfrm xmlns:a="http://schemas.openxmlformats.org/drawingml/2006/main">
            <a:off x="685800" y="49149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1">
                <a:solidFill>
                  <a:srgbClr val="6740B3"/>
                </a:solidFill>
                <a:latin typeface="Arial"/>
                <a:ea typeface="Arial"/>
                <a:cs typeface="Arial"/>
              </a:defRPr>
            </a:defPPr>
          </a:lstStyle>
          <a:p xmlns:a="http://schemas.openxmlformats.org/drawingml/2006/main">
            <a:pPr>
              <a:defRPr sz="2025" b="1">
                <a:solidFill>
                  <a:srgbClr val="6740B3"/>
                </a:solidFill>
                <a:latin typeface="Arial"/>
                <a:ea typeface="Arial"/>
                <a:cs typeface="Arial"/>
              </a:defRPr>
            </a:pPr>
            <a:r>
              <a:rPr sz="2025" b="1">
                <a:solidFill>
                  <a:srgbClr val="6740B3"/>
                </a:solidFill>
                <a:latin typeface="Arial"/>
                <a:ea typeface="Arial"/>
                <a:cs typeface="Arial"/>
              </a:rPr>
              <a:t>[3] Yu et al. (2023)</a:t>
            </a:r>
          </a:p>
        </p:txBody>
      </p:sp>
      <p:sp>
        <p:nvSpPr>
          <p:cNvPr id="8" name="">
            <a:extLst xmlns:a="http://schemas.openxmlformats.org/drawingml/2006/main">
              <a:ext uri="{FF2B5EF4-FFF2-40B4-BE49-F238E27FC236}">
                <a16:creationId xmlns:a16="http://schemas.microsoft.com/office/drawing/2014/main" id="{9B1A4236-4385-40A1-B8FD-ADB6D8E98BDB}"/>
              </a:ext>
            </a:extLst>
          </p:cNvPr>
          <p:cNvSpPr>
            <a:spLocks xmlns:a="http://schemas.openxmlformats.org/drawingml/2006/main" noGrp="1"/>
          </p:cNvSpPr>
          <p:nvPr/>
        </p:nvSpPr>
        <p:spPr>
          <a:xfrm xmlns:a="http://schemas.openxmlformats.org/drawingml/2006/main">
            <a:off x="685800" y="5353050"/>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725" b="0">
                <a:solidFill>
                  <a:srgbClr val="121212"/>
                </a:solidFill>
                <a:latin typeface="Arial"/>
                <a:ea typeface="Arial"/>
                <a:cs typeface="Arial"/>
              </a:defRPr>
            </a:defPPr>
          </a:lstStyle>
          <a:p xmlns:a="http://schemas.openxmlformats.org/drawingml/2006/main">
            <a:pPr>
              <a:defRPr sz="1725" b="0">
                <a:solidFill>
                  <a:srgbClr val="121212"/>
                </a:solidFill>
                <a:latin typeface="Arial"/>
                <a:ea typeface="Arial"/>
                <a:cs typeface="Arial"/>
              </a:defRPr>
            </a:pPr>
            <a:r>
              <a:rPr sz="1725" b="0">
                <a:solidFill>
                  <a:srgbClr val="121212"/>
                </a:solidFill>
                <a:latin typeface="Arial"/>
                <a:ea typeface="Arial"/>
                <a:cs typeface="Arial"/>
              </a:rPr>
              <a:t>FoodWise: Food Waste Reduction and Behavior Change on Campus</a:t>
            </a:r>
          </a:p>
          <a:p xmlns:a="http://schemas.openxmlformats.org/drawingml/2006/main">
            <a:pPr>
              <a:defRPr sz="1725" b="0">
                <a:solidFill>
                  <a:srgbClr val="121212"/>
                </a:solidFill>
                <a:latin typeface="Arial"/>
                <a:ea typeface="Arial"/>
                <a:cs typeface="Arial"/>
              </a:defRPr>
            </a:pPr>
            <a:r>
              <a:rPr sz="1725" b="0">
                <a:solidFill>
                  <a:srgbClr val="121212"/>
                </a:solidFill>
                <a:latin typeface="Arial"/>
                <a:ea typeface="Arial"/>
                <a:cs typeface="Arial"/>
              </a:rPr>
              <a:t>with Data Visualization and Gamification. COMPASS 2023</a:t>
            </a:r>
          </a:p>
          <a:p xmlns:a="http://schemas.openxmlformats.org/drawingml/2006/main">
            <a:pPr>
              <a:defRPr sz="1725" b="0">
                <a:solidFill>
                  <a:srgbClr val="121212"/>
                </a:solidFill>
                <a:latin typeface="Arial"/>
                <a:ea typeface="Arial"/>
                <a:cs typeface="Arial"/>
              </a:defRPr>
            </a:pPr>
            <a:r>
              <a:rPr sz="1725" b="0">
                <a:solidFill>
                  <a:srgbClr val="121212"/>
                </a:solidFill>
                <a:latin typeface="Arial"/>
                <a:ea typeface="Arial"/>
                <a:cs typeface="Arial"/>
              </a:rPr>
              <a:t>DOI: 10.1145/3588001.3609364. arxiv.org/abs/2307.12882</a:t>
            </a:r>
          </a:p>
        </p:txBody>
      </p:sp>
    </p:spTree>
    <p:extLst>
      <p:ext uri="{BB962C8B-B14F-4D97-AF65-F5344CB8AC3E}">
        <p14:creationId xmlns:p14="http://schemas.microsoft.com/office/powerpoint/2010/main" val="1639452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2026-10-08T15:15:12.9930000Z</dcterms:created>
  <dcterms:modified xsi:type="dcterms:W3CDTF">2026-10-08T15:15:12.9930000Z</dcterms:modified>
</coreProperties>
</file>