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b22035fa044705" /><Relationship Type="http://schemas.openxmlformats.org/officeDocument/2006/relationships/extended-properties" Target="/docProps/app.xml" Id="R80e97f6eb5814e1c" /><Relationship Type="http://schemas.openxmlformats.org/officeDocument/2006/relationships/officeDocument" Target="/ppt/presentation.xml" Id="R05fc4f8695e54e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bbbc18cd494376"/>
  </p:sldMasterIdLst>
  <p:notesMasterIdLst>
    <p:notesMasterId xmlns:r="http://schemas.openxmlformats.org/officeDocument/2006/relationships" r:id="Rf19f02444a8644f7"/>
  </p:notesMasterIdLst>
  <p:sldIdLst>
    <p:sldId xmlns:r="http://schemas.openxmlformats.org/officeDocument/2006/relationships" id="256" r:id="R939dd1561a8f4160"/>
    <p:sldId xmlns:r="http://schemas.openxmlformats.org/officeDocument/2006/relationships" id="257" r:id="R53ba2414c79d4c3d"/>
    <p:sldId xmlns:r="http://schemas.openxmlformats.org/officeDocument/2006/relationships" id="258" r:id="Rb729fa2d247b4511"/>
    <p:sldId xmlns:r="http://schemas.openxmlformats.org/officeDocument/2006/relationships" id="259" r:id="R44bae4c0f250400e"/>
    <p:sldId xmlns:r="http://schemas.openxmlformats.org/officeDocument/2006/relationships" id="260" r:id="Re78d5da08fe14695"/>
    <p:sldId xmlns:r="http://schemas.openxmlformats.org/officeDocument/2006/relationships" id="261" r:id="Ref8d5c9aa78f4ada"/>
    <p:sldId xmlns:r="http://schemas.openxmlformats.org/officeDocument/2006/relationships" id="262" r:id="R1b78dd2d674d4466"/>
    <p:sldId xmlns:r="http://schemas.openxmlformats.org/officeDocument/2006/relationships" id="263" r:id="Re9e1b8fb24d94867"/>
    <p:sldId xmlns:r="http://schemas.openxmlformats.org/officeDocument/2006/relationships" id="264" r:id="R92872a2b5d2645c5"/>
    <p:sldId xmlns:r="http://schemas.openxmlformats.org/officeDocument/2006/relationships" id="265" r:id="Ree5284f5e4224567"/>
    <p:sldId xmlns:r="http://schemas.openxmlformats.org/officeDocument/2006/relationships" id="266" r:id="Re8ef11dc3dac4a38"/>
    <p:sldId xmlns:r="http://schemas.openxmlformats.org/officeDocument/2006/relationships" id="267" r:id="Rad806b76ab4f4a9c"/>
    <p:sldId xmlns:r="http://schemas.openxmlformats.org/officeDocument/2006/relationships" id="268" r:id="R30e6c06dda484578"/>
    <p:sldId xmlns:r="http://schemas.openxmlformats.org/officeDocument/2006/relationships" id="269" r:id="R34f1c3cac96547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e114b48954623" /><Relationship Type="http://schemas.openxmlformats.org/officeDocument/2006/relationships/slideMaster" Target="/ppt/slideMasters/slideMaster1.xml" Id="Redbbbc18cd494376" /><Relationship Type="http://schemas.openxmlformats.org/officeDocument/2006/relationships/notesMaster" Target="/ppt/notesMasters/notesMaster1.xml" Id="Rf19f02444a8644f7" /><Relationship Type="http://schemas.openxmlformats.org/officeDocument/2006/relationships/presProps" Target="/ppt/presProps.xml" Id="R2163e48d7f124195" /><Relationship Type="http://schemas.openxmlformats.org/officeDocument/2006/relationships/tableStyles" Target="/ppt/tableStyles.xml" Id="R9f9c3316095b4379" /><Relationship Type="http://schemas.openxmlformats.org/officeDocument/2006/relationships/slide" Target="/ppt/slides/slide1.xml" Id="R939dd1561a8f4160" /><Relationship Type="http://schemas.openxmlformats.org/officeDocument/2006/relationships/slide" Target="/ppt/slides/slide2.xml" Id="R53ba2414c79d4c3d" /><Relationship Type="http://schemas.openxmlformats.org/officeDocument/2006/relationships/slide" Target="/ppt/slides/slide3.xml" Id="Rb729fa2d247b4511" /><Relationship Type="http://schemas.openxmlformats.org/officeDocument/2006/relationships/slide" Target="/ppt/slides/slide4.xml" Id="R44bae4c0f250400e" /><Relationship Type="http://schemas.openxmlformats.org/officeDocument/2006/relationships/slide" Target="/ppt/slides/slide5.xml" Id="Re78d5da08fe14695" /><Relationship Type="http://schemas.openxmlformats.org/officeDocument/2006/relationships/slide" Target="/ppt/slides/slide6.xml" Id="Ref8d5c9aa78f4ada" /><Relationship Type="http://schemas.openxmlformats.org/officeDocument/2006/relationships/slide" Target="/ppt/slides/slide7.xml" Id="R1b78dd2d674d4466" /><Relationship Type="http://schemas.openxmlformats.org/officeDocument/2006/relationships/slide" Target="/ppt/slides/slide8.xml" Id="Re9e1b8fb24d94867" /><Relationship Type="http://schemas.openxmlformats.org/officeDocument/2006/relationships/slide" Target="/ppt/slides/slide9.xml" Id="R92872a2b5d2645c5" /><Relationship Type="http://schemas.openxmlformats.org/officeDocument/2006/relationships/slide" Target="/ppt/slides/slide10.xml" Id="Ree5284f5e4224567" /><Relationship Type="http://schemas.openxmlformats.org/officeDocument/2006/relationships/slide" Target="/ppt/slides/slide11.xml" Id="Re8ef11dc3dac4a38" /><Relationship Type="http://schemas.openxmlformats.org/officeDocument/2006/relationships/slide" Target="/ppt/slides/slide12.xml" Id="Rad806b76ab4f4a9c" /><Relationship Type="http://schemas.openxmlformats.org/officeDocument/2006/relationships/slide" Target="/ppt/slides/slide13.xml" Id="R30e6c06dda484578" /><Relationship Type="http://schemas.openxmlformats.org/officeDocument/2006/relationships/slide" Target="/ppt/slides/slide14.xml" Id="R34f1c3cac965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549fc42423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7b3df5e8b48a2" /><Relationship Type="http://schemas.openxmlformats.org/officeDocument/2006/relationships/notesMaster" Target="/ppt/notesMasters/notesMaster1.xml" Id="R5a5ad4764f4748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ba6585894f43e0" /><Relationship Type="http://schemas.openxmlformats.org/officeDocument/2006/relationships/notesMaster" Target="/ppt/notesMasters/notesMaster1.xml" Id="R4f74c7fec05943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7f449a55094cd4" /><Relationship Type="http://schemas.openxmlformats.org/officeDocument/2006/relationships/notesMaster" Target="/ppt/notesMasters/notesMaster1.xml" Id="R205db05994e145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fa77250324b3f" /><Relationship Type="http://schemas.openxmlformats.org/officeDocument/2006/relationships/notesMaster" Target="/ppt/notesMasters/notesMaster1.xml" Id="Red5655ddfdb348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bde9ceda3140b2" /><Relationship Type="http://schemas.openxmlformats.org/officeDocument/2006/relationships/notesMaster" Target="/ppt/notesMasters/notesMaster1.xml" Id="R1e695a39fa434a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8211c801e740d9" /><Relationship Type="http://schemas.openxmlformats.org/officeDocument/2006/relationships/notesMaster" Target="/ppt/notesMasters/notesMaster1.xml" Id="Re30057eb73d841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acfc10c6c04152" /><Relationship Type="http://schemas.openxmlformats.org/officeDocument/2006/relationships/notesMaster" Target="/ppt/notesMasters/notesMaster1.xml" Id="R8f9c2b6cbd0d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c54d832ff6444d" /><Relationship Type="http://schemas.openxmlformats.org/officeDocument/2006/relationships/notesMaster" Target="/ppt/notesMasters/notesMaster1.xml" Id="R6ab1aa0744474a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06ce0d26f74416" /><Relationship Type="http://schemas.openxmlformats.org/officeDocument/2006/relationships/notesMaster" Target="/ppt/notesMasters/notesMaster1.xml" Id="R7bee8cfa791c4a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46ea63eddb4b82" /><Relationship Type="http://schemas.openxmlformats.org/officeDocument/2006/relationships/notesMaster" Target="/ppt/notesMasters/notesMaster1.xml" Id="Rcf71bc47e17f40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c279b20c024959" /><Relationship Type="http://schemas.openxmlformats.org/officeDocument/2006/relationships/notesMaster" Target="/ppt/notesMasters/notesMaster1.xml" Id="R6b1c3927595844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68069a7b8d4d0e" /><Relationship Type="http://schemas.openxmlformats.org/officeDocument/2006/relationships/notesMaster" Target="/ppt/notesMasters/notesMaster1.xml" Id="Rc52c8bff69b046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22509e7afc42f9" /><Relationship Type="http://schemas.openxmlformats.org/officeDocument/2006/relationships/notesMaster" Target="/ppt/notesMasters/notesMaster1.xml" Id="R4d2f8352419b49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c14ba6a2d649bc" /><Relationship Type="http://schemas.openxmlformats.org/officeDocument/2006/relationships/notesMaster" Target="/ppt/notesMasters/notesMaster1.xml" Id="R2824bfecf3fd40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Team names and IDs from page 1. Review 2 builds on the Review 1 project rather than claiming a new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1-3 describe the team’s observations of Foodpark usability, meal labelling, connectivity and lack of budget/quick-order tools. These observations are project motivation, not a measured campus-wide survey or verified current competitor capability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5-6 document authentication, home/student information, menus, order data and networking. The two images are original Review 1 screenshots from page 6 and do not represent the current Review 2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2-3 compare Proodle, Rassence, Swiggy and Zomato. This slide preserves that historical comparison at a general level. It does not assert current pricing, service availability or measured shortcomings. Integration across all VIT outlets remains an aspiration rather than a completed capability.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N. Noordin and N. Mohd Zain (2023). Mobile application for ordering food from UiTM Arau Campus cafeteria. REMACS 5.0, pp. 225-226. https://ir.uitm.edu.my/id/eprint/100569/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A. Kambli, A. A. Sinha and S. Srinivas (2020). Improving campus dining operations using capacity and queue management: A simulation-based case study. Journal of Hospitality and Tourism Management, 43, 62-70. https://doi.org/10.1016/j.jhtm.2020.02.008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Y. Yu et al. (2023). FoodWise: Food Waste Reduction and Behavior Change on Campus with Data Visualization and Gamification. COMPASS 2023. https://arxiv.org/abs/2307.12882; https://doi.org/10.1145/3588001.3609364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 2 extends the Review 1 product comparison with academic work. Noordin/Mohd Zain use functional testing and 36 usability responses. Kambli et al. study capacity and queue management using simulation. FoodWise combines campus feedback and engagement with a dashboard and mobile app. These outcomes do not establish VITeats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2-3 establish a campus-specific usability gap. The three studies provide examples rather than exhaustive coverage. Current source code confirms Proodle-only integration, online QR retrieval and advisory budget calculations. The research gap is scoped to this project and local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Objectives preserve the original direction, while status is shown later. Offline QR caching, safe current-menu reordering and wider institutional adoption are targets rather than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 4 supplies the original architecture image, reproduced without changes. Current implementation extends local preferences to budget/favourites and uses Android Keystore for encrypted session values. No dedicated local database or durable offline QR cache is present. Sources: SessionManager.kt, security/CryptoManager.kt, BudgetManager.kt and FavouritesManager.kt.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The Review 1 cart/checkout plan on pages 7-8 now maps to CartRepository, CartViewModel, CartScreen and OrderRepository. Source checkout obtains an order number, inserts items and processes wallet payment. It expects a 1|reference response. Backend payment and QR semantics require live acceptance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7-8 listed these items as pending deliverables. Current code contains the listed capabilities. Implemented means present in the repository, not production accepted. Sources: CryptoManager.kt, AuthScreen.kt, MenuScreen.kt, FavouritesManager.kt, CartRepository.kt, CartScreen.kt, OrderRepository.kt, BudgetManager.kt, StudentViewModel.kt, SettingsScreen.kt and ThemeManager.kt.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1-2 promise offline QR caching and budget enforcement. Current OrdersViewModel fetches QR from the API and stores temporary state only. OrderDetailsScreen renders it. Reorder code can create a fallback product when matching fails. BudgetSummary calculates guidance but checkout has no budget gate. Wider integration beyond Proodle is not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app/build/test-results/testDebugUnitTest/TEST-*.xml, recorded 8 October 2026 at 14:58:33Z. 23 tests passed, including 22 application-focused tests and 1 template arithmetic test, with zero failures/errors/skips. These reports are existing evidence and were not freshly rerun for this presentation. They do not verify live backend integration, offline QR, capacity or UAT.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 Pages 7-8 identify integration testing, UAT, documentation and release APK as remaining milestones. Source review also shows missing persistent QR caching, reorder fallback issues, fixed meal-session/outlet mappings and no date/meal filtering or dedicated receipt workflow. Existing usage DOCX and presentations are support documentation, not a final approved academic report or release sign-off.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C:/Users/hardi/Downloads/Project-Review1-1.pdf. Review 1 is the historical project baseline. Its proposed features are not evidence of completed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[1] N. Noordin and N. Mohd Zain (2023). Mobile application for ordering food from UiTM Arau Campus cafeteria. REMACS 5.0, pp. 225-226. https://ir.uitm.edu.my/id/eprint/100569/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[2] A. Kambli, A. A. Sinha and S. Srinivas (2020). Improving campus dining operations using capacity and queue management: A simulation-based case study. Journal of Hospitality and Tourism Management, 43, 62-70. https://doi.org/10.1016/j.jhtm.2020.02.008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Y. Yu et al. (2023). FoodWise: Food Waste Reduction and Behavior Change on Campus with Data Visualization and Gamification. COMPASS 2023. https://arxiv.org/abs/2307.12882; https://doi.org/10.1145/3588001.3609364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Implementation evidence: current VITeats source and existing unit-test XML reports. Review 1 screenshots and architecture image are reproduced as historical baseline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82bcbba3c49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a2ccd915d4f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095f3f83742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36d3e15ae42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f7302ff514f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c0b27cd1449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20EC4E-5412-490C-9249-4254AC4343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629A58-27F4-4F5B-A44C-FFD9B602FC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155DB5-FB60-46BA-976C-F23D04E2B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A45A2-AC01-43D0-A537-B73C95458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608824-0C95-4AE1-9D68-8C12594DAC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C373AF-7511-49B2-92BA-BA7D76BD8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9D418-8BF0-45E1-A1FE-E2077FEA8A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8E5B1A-D628-4136-ACC4-2A380BFF84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43444F-125A-46B0-ACFB-D3E0A03BA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25D9B3-C08B-47BE-8097-8B91751F74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658be412e140ff" /><Relationship Type="http://schemas.openxmlformats.org/officeDocument/2006/relationships/slideLayout" Target="/ppt/slideLayouts/slideLayout1.xml" Id="Ra156624a355e4a74" /><Relationship Type="http://schemas.openxmlformats.org/officeDocument/2006/relationships/slideLayout" Target="/ppt/slideLayouts/slideLayout2.xml" Id="Rb0959055de314e78" /><Relationship Type="http://schemas.openxmlformats.org/officeDocument/2006/relationships/slideLayout" Target="/ppt/slideLayouts/slideLayout3.xml" Id="R0291d7dd9c2a4ff9" /><Relationship Type="http://schemas.openxmlformats.org/officeDocument/2006/relationships/slideLayout" Target="/ppt/slideLayouts/slideLayout4.xml" Id="R0b2cd6a024284263" /><Relationship Type="http://schemas.openxmlformats.org/officeDocument/2006/relationships/slideLayout" Target="/ppt/slideLayouts/slideLayout5.xml" Id="R1d685eac305d4b38" /><Relationship Type="http://schemas.openxmlformats.org/officeDocument/2006/relationships/slideLayout" Target="/ppt/slideLayouts/slideLayout6.xml" Id="R0187d0522f3c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6624a355e4a74"/>
    <p:sldLayoutId xmlns:r="http://schemas.openxmlformats.org/officeDocument/2006/relationships" id="2147483650" r:id="Rb0959055de314e78"/>
    <p:sldLayoutId xmlns:r="http://schemas.openxmlformats.org/officeDocument/2006/relationships" id="2147483651" r:id="R0291d7dd9c2a4ff9"/>
    <p:sldLayoutId xmlns:r="http://schemas.openxmlformats.org/officeDocument/2006/relationships" id="2147483652" r:id="R0b2cd6a024284263"/>
    <p:sldLayoutId xmlns:r="http://schemas.openxmlformats.org/officeDocument/2006/relationships" id="2147483653" r:id="R1d685eac305d4b38"/>
    <p:sldLayoutId xmlns:r="http://schemas.openxmlformats.org/officeDocument/2006/relationships" id="2147483654" r:id="R0187d0522f3c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d2c397ffb45f9" /><Relationship Type="http://schemas.openxmlformats.org/officeDocument/2006/relationships/image" Target="/ppt/media/image.png" Id="R6d9ad64479c141cd" /><Relationship Type="http://schemas.openxmlformats.org/officeDocument/2006/relationships/notesSlide" Target="/ppt/notesSlides/notesSlide1.xml" Id="R6c0b179c82724e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a3368d85440a6" /><Relationship Type="http://schemas.openxmlformats.org/officeDocument/2006/relationships/notesSlide" Target="/ppt/notesSlides/notesSlide2.xml" Id="Rba2f0c21c5c740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5ab3f344804e5e" /><Relationship Type="http://schemas.openxmlformats.org/officeDocument/2006/relationships/image" Target="/ppt/media/image.jpeg" Id="R507b82043bb447bf" /><Relationship Type="http://schemas.openxmlformats.org/officeDocument/2006/relationships/image" Target="/ppt/media/image2.jpeg" Id="R5208e6daf5f84f28" /><Relationship Type="http://schemas.openxmlformats.org/officeDocument/2006/relationships/notesSlide" Target="/ppt/notesSlides/notesSlide3.xml" Id="R7dde4b000abe4e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b26620056435a" /><Relationship Type="http://schemas.openxmlformats.org/officeDocument/2006/relationships/notesSlide" Target="/ppt/notesSlides/notesSlide4.xml" Id="R3d05921cc60d42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a1d3e9a4064be3" /><Relationship Type="http://schemas.openxmlformats.org/officeDocument/2006/relationships/notesSlide" Target="/ppt/notesSlides/notesSlide5.xml" Id="R81c9c7984d8b43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4f80376f34359" /><Relationship Type="http://schemas.openxmlformats.org/officeDocument/2006/relationships/notesSlide" Target="/ppt/notesSlides/notesSlide6.xml" Id="R50c74c47133845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bf43f590fb47f8" /><Relationship Type="http://schemas.openxmlformats.org/officeDocument/2006/relationships/notesSlide" Target="/ppt/notesSlides/notesSlide7.xml" Id="Ref21e273e4084e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5eed1a2ee422a" /><Relationship Type="http://schemas.openxmlformats.org/officeDocument/2006/relationships/image" Target="/ppt/media/image3.jpeg" Id="R79b70748b8654af6" /><Relationship Type="http://schemas.openxmlformats.org/officeDocument/2006/relationships/notesSlide" Target="/ppt/notesSlides/notesSlide8.xml" Id="Rf02199648f0c47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08da381904705" /><Relationship Type="http://schemas.openxmlformats.org/officeDocument/2006/relationships/notesSlide" Target="/ppt/notesSlides/notesSlide9.xml" Id="R34a2280bbe1e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fe31b12db475b" /><Relationship Type="http://schemas.openxmlformats.org/officeDocument/2006/relationships/notesSlide" Target="/ppt/notesSlides/notesSlide10.xml" Id="R6e3e425e16fa40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8ebd333d3d4325" /><Relationship Type="http://schemas.openxmlformats.org/officeDocument/2006/relationships/notesSlide" Target="/ppt/notesSlides/notesSlide11.xml" Id="R5b5fb60e07e549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96c50fb1884b56" /><Relationship Type="http://schemas.openxmlformats.org/officeDocument/2006/relationships/notesSlide" Target="/ppt/notesSlides/notesSlide12.xml" Id="R50b7e2d7cb3f4e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ba3f93a1d4db1" /><Relationship Type="http://schemas.openxmlformats.org/officeDocument/2006/relationships/notesSlide" Target="/ppt/notesSlides/notesSlide13.xml" Id="R7a59f220d5ed45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9992e91f54c1f" /><Relationship Type="http://schemas.openxmlformats.org/officeDocument/2006/relationships/notesSlide" Target="/ppt/notesSlides/notesSlide14.xml" Id="R31358409b8c44d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7D510-ACE8-4C75-9FD8-D1CE7DBA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VITeats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378EF-776E-4BB1-A66D-F66F3D63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AAAA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AAA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F5248-6F3E-41EA-B167-9521AB2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048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Software Engineering</a:t>
            </a:r>
          </a:p>
          <a:p xmlns:a="http://schemas.openxmlformats.org/drawingml/2006/main">
            <a:pPr>
              <a:defRPr sz="3600" b="1">
                <a:solidFill>
                  <a:srgbClr val="FEF08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EF08A"/>
                </a:solidFill>
                <a:latin typeface="Arial"/>
                <a:ea typeface="Arial"/>
                <a:cs typeface="Arial"/>
              </a:rPr>
              <a:t>Project Review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7FBEE-95CE-48B4-8B5D-27D6F4F5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067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Hrishikesh D. Nayak   24BDS1007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Hardik Lalla   24BDS1010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275F2-2116-45E5-A346-84A05136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8 October 2026</a:t>
            </a:r>
          </a:p>
          <a:p xmlns:a="http://schemas.openxmlformats.org/drawingml/2006/main">
            <a:pPr>
              <a:defRPr sz="1650" b="0">
                <a:solidFill>
                  <a:srgbClr val="C9C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C9C9"/>
                </a:solidFill>
                <a:latin typeface="Arial"/>
                <a:ea typeface="Arial"/>
                <a:cs typeface="Arial"/>
              </a:rPr>
              <a:t>github.com/Caust2c/VITeats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7D865-256E-4DA8-9EE7-79C1F43FF7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ad64479c141cd"/>
          <a:stretch xmlns:a="http://schemas.openxmlformats.org/drawingml/2006/main"/>
        </p:blipFill>
        <p:spPr>
          <a:xfrm xmlns:a="http://schemas.openxmlformats.org/drawingml/2006/main">
            <a:off x="8267700" y="1857375"/>
            <a:ext cx="3028950" cy="302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21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58AAF-5218-4C63-876F-E7A659B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800F3-0CC7-4B98-AE95-CB5EF63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72036-4A70-47C8-A084-694384D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identified four student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09819-EA58-4E3F-9C4D-AF04F7E7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Meal-time clarity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B023C-3661-4075-84DC-5AC5513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860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Make the current meal and available menu easier to identify.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0E9F7-B76D-4B43-9292-39C1033A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Reliable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BE7F0-1406-49CB-AC28-31E38C8C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671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Keep order QR information accessible when campus Wi-Fi is weak.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3F96A-D032-40E4-855F-4B596AA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Frequent ordering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96529-EF4A-4CEA-8D22-B626A3C4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482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Reduce repeated browsing with search, favourites and quick orders.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D1010-E701-4BD5-8AC2-1CD6A374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Spending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F7DA5-ED7C-48B7-A3B6-21D47A6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6292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Help students track expenditure against a personal monthly budget.</a:t>
            </a:r>
          </a:p>
        </p:txBody>
      </p:sp>
    </p:spTree>
    <p:extLst>
      <p:ext uri="{BB962C8B-B14F-4D97-AF65-F5344CB8AC3E}">
        <p14:creationId xmlns:p14="http://schemas.microsoft.com/office/powerpoint/2010/main" val="1786473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CBE8C-9BF5-4728-98A3-6BB08F7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1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32F7-87A7-47B5-8732-D39C606C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CF870-863F-4DAD-B6F6-33CE1BDD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Foundation already established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4504C-995D-474B-8456-7CDDD236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512445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Login and session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Home and student information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Live menu and order-data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Compose UI and repository structure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40D29-ACEE-449B-800D-BF8934F65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b82043bb447bf"/>
          <a:stretch xmlns:a="http://schemas.openxmlformats.org/drawingml/2006/main"/>
        </p:blipFill>
        <p:spPr>
          <a:xfrm xmlns:a="http://schemas.openxmlformats.org/drawingml/2006/main">
            <a:off x="6673580" y="1828800"/>
            <a:ext cx="1902365" cy="4000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4F4D4-C47E-4CE1-9D88-5391E56A01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8e6daf5f84f28"/>
          <a:stretch xmlns:a="http://schemas.openxmlformats.org/drawingml/2006/main"/>
        </p:blipFill>
        <p:spPr>
          <a:xfrm xmlns:a="http://schemas.openxmlformats.org/drawingml/2006/main">
            <a:off x="9238492" y="1828800"/>
            <a:ext cx="1973191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F06A5-7505-4F1B-86D8-0852D3EC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9626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E5732-A624-44F7-A00B-B121713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62650"/>
            <a:ext cx="2162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5A1B0-9705-4889-B7A1-9FD71904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Original screenshots from Review 1</a:t>
            </a:r>
          </a:p>
        </p:txBody>
      </p:sp>
    </p:spTree>
    <p:extLst>
      <p:ext uri="{BB962C8B-B14F-4D97-AF65-F5344CB8AC3E}">
        <p14:creationId xmlns:p14="http://schemas.microsoft.com/office/powerpoint/2010/main" val="114431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7A65E-C8B5-40C5-A402-F24AC137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survey: Review 1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8D52B-535C-4627-848C-302E4EEE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CDC80-B547-4630-BC48-FB4AA2AAE1D5}"/>
              </a:ext>
            </a:extLst>
          </p:cNvPr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3571875"/>
                <a:gridCol w="4714875"/>
              </a:tblGrid>
              <a:tr h="73152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 reviewed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1 context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lesson for VITeats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Proodle / Foodpark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Existing institutional backend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Reuse account, menu and order services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Rassence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Outlet-specific campus application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Explore a common campus interface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Swiggy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food-ordering marketplace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Borrow familiar search and order-history patterns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73152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Zomato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General food-discovery marketplace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Focus the workflow on campus collection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F7CE3-DE64-47F3-A206-4D8921FC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2 retains the Proodle backend and focuses on the student Android client.</a:t>
            </a:r>
          </a:p>
        </p:txBody>
      </p:sp>
    </p:spTree>
    <p:extLst>
      <p:ext uri="{BB962C8B-B14F-4D97-AF65-F5344CB8AC3E}">
        <p14:creationId xmlns:p14="http://schemas.microsoft.com/office/powerpoint/2010/main" val="1786029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45E94-7325-4512-8267-7E4BB09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Literature survey: research extension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26880-3607-43CE-B6BB-D5CEFDAE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3B38B-488F-46AB-97F8-3D157AC901F2}"/>
              </a:ext>
            </a:extLst>
          </p:cNvPr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476625"/>
                <a:gridCol w="4248150"/>
              </a:tblGrid>
              <a:tr h="883444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 / focus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Application to Review 2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</a:tr>
              <a:tr h="883444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Noordin and Mohd Zain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2023 [1]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Campus ordering app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36 usability responses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Test student tasks and ease of use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883444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Kambli et al.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2020 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Dining capacity and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queue simulation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Measure counter waiting as well as ordering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3444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Yu et al., FoodWise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2023 [3]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Campus feedback and</a:t>
                      </a:r>
                    </a:p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behaviour engagement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Evaluate whether spending feedback helps users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834D5-A24D-4DF4-B681-FB5BAFED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The survey supports a local evaluation plan rather than assumed efficiency gains.</a:t>
            </a:r>
          </a:p>
        </p:txBody>
      </p:sp>
    </p:spTree>
    <p:extLst>
      <p:ext uri="{BB962C8B-B14F-4D97-AF65-F5344CB8AC3E}">
        <p14:creationId xmlns:p14="http://schemas.microsoft.com/office/powerpoint/2010/main" val="20008604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B4E74-0836-4C70-9100-87C574C1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Research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2C3D4-42F3-4CE1-9561-FD7EA665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81807-9845-4ADB-81AD-52AD249A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586BE-2D47-454F-BF6E-36A2EE20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 student workflow must reflect VIT meal sessions and collection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BA280-07F6-4659-9A02-A1BF0D4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Combined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E457-3B69-4750-AA16-EB665F18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051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Ordering, favourites and budget feedback need a coherent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FCBE3-F0EF-412B-AD37-78E9276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Connectivity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8BAA9-0EB3-4226-B934-4467C8E4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 1’s offline QR objective still needs persistent local storage.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289E8-3FE9-436A-8C0F-E0978081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Local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7D72C-73E2-4F6A-A3B9-76C23C12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672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Usability and payment/collection reliability need testing with Foodpark users.</a:t>
            </a:r>
          </a:p>
        </p:txBody>
      </p:sp>
    </p:spTree>
    <p:extLst>
      <p:ext uri="{BB962C8B-B14F-4D97-AF65-F5344CB8AC3E}">
        <p14:creationId xmlns:p14="http://schemas.microsoft.com/office/powerpoint/2010/main" val="2032417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39B45-D5B2-4C2D-8081-C51A4EA5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DC343-92ED-43F8-AF4A-A8D5947D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F6C6B-19FD-4F3A-A894-E6106CAC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daily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3CECB-4D0F-42A8-8A54-D0A9A45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Offer meal-time information, menu search and favourite dishes.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A02B7-BCFD-46C1-B36E-807B5DB6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ordering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11A94-CD02-46D1-A7D5-5888C0D3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051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Provide cart review, PIN authorization, history and order QR display.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AB4F-4ED1-4AAC-9EBE-93213418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Support spending plans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85851-2617-4D01-9635-5C4BEFA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Show monthly spending, remaining budget and daily allowance guidance.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9520C-4A09-4383-BCD0-F3F086C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Improve resilience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EE1E7-DCC9-4AB1-B164-62513DF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672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Complete offline QR access and validate the app with campus users.</a:t>
            </a:r>
          </a:p>
        </p:txBody>
      </p:sp>
    </p:spTree>
    <p:extLst>
      <p:ext uri="{BB962C8B-B14F-4D97-AF65-F5344CB8AC3E}">
        <p14:creationId xmlns:p14="http://schemas.microsoft.com/office/powerpoint/2010/main" val="2004913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5AB7D-C190-49F4-B8E2-D7FD2BE3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7C8A5-E5C4-46D0-88EF-B11DA56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8BA08-7403-4C98-84EB-2DF49FC9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5305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1 architecture retained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DADE3-5526-49C0-AF9F-90AFC2B0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53625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Compose screens and ViewModels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Repositories separate UI and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Retrofit, OkHttp and Gson connect</a:t>
            </a:r>
          </a:p>
          <a:p xmlns:a="http://schemas.openxmlformats.org/drawingml/2006/main">
            <a:pPr>
              <a:defRPr sz="210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to the existing Proodle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F6E0E-92A5-4411-9172-00B1D133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Review 2 adds encrypted session values</a:t>
            </a:r>
          </a:p>
          <a:p xmlns:a="http://schemas.openxmlformats.org/drawingml/2006/main">
            <a:pPr>
              <a:defRPr sz="18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and local budget / favourite preferences.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84E7F-7EDA-4C1B-909B-EBE3FF7E18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0748b8654af6"/>
          <a:stretch xmlns:a="http://schemas.openxmlformats.org/drawingml/2006/main"/>
        </p:blipFill>
        <p:spPr>
          <a:xfrm xmlns:a="http://schemas.openxmlformats.org/drawingml/2006/main">
            <a:off x="6610350" y="1711033"/>
            <a:ext cx="4895850" cy="44455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164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1F1CD8-2B11-4C7B-A6DB-C3D2EBA4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Methodology: order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F3E7-9480-4ABD-A55D-13AF8FF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2C416-22DD-44DC-A8F1-F5F04C1F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8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A71B-11DE-44FE-AD05-CA072CE4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2253F-808A-456C-B92A-19BC443C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438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Search the menu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choose quantities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B70CA-4B53-49C5-AD79-C4F5E4C9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28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66C3E-1EFE-4890-ABAA-F79FEDD5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528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7AFB5-5761-4377-9953-1C6D2985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2438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Check the total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confirm the PIN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E38BD-34C9-4911-BEB3-1A81EF59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28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ED089-F032-40A1-B0FF-B9DD62FC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1E6B2-CFCF-43DD-8BFC-F3EF1EC1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2438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Create the order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and request payment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47D0E-26AD-44C7-BA07-D0278B1B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286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7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61D1C-CF0C-41FB-83E7-4BD51C5C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5280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8C4D9-6439-4278-8E3E-DA041067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2438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Retrieve the order QR</a:t>
            </a:r>
          </a:p>
          <a:p xmlns:a="http://schemas.openxmlformats.org/drawingml/2006/main">
            <a:pPr>
              <a:defRPr sz="1950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for counter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88976-49A0-4815-B536-B837DDE2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After an uncertain payment, check order history and wallet before retrying.</a:t>
            </a:r>
          </a:p>
        </p:txBody>
      </p:sp>
    </p:spTree>
    <p:extLst>
      <p:ext uri="{BB962C8B-B14F-4D97-AF65-F5344CB8AC3E}">
        <p14:creationId xmlns:p14="http://schemas.microsoft.com/office/powerpoint/2010/main" val="16913665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30254-2DF0-4756-8758-B09E505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progress since Review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9EF7BF-B27A-42EF-85BD-7208537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910F-A5FE-4DD1-9C94-91A45F801E17}"/>
              </a:ext>
            </a:extLst>
          </p:cNvPr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105650"/>
              </a:tblGrid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1 deliverable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2 implementation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</a:tr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Secure PIN storage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Android Keystore encryption for saved session values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Menu search and favourites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Dish/outlet search and locally saved favourite 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Cart and checkout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Quantity controls, total review and PIN payment flow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Budget management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Monthly allocation, spending summary and daily allowance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and personalization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Settings screen with persistent dark-mode preference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A2F53-4D7A-4037-BBC9-44AE13B4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Implementation evidence now extends beyond the Review 1 foundation.</a:t>
            </a:r>
          </a:p>
        </p:txBody>
      </p:sp>
    </p:spTree>
    <p:extLst>
      <p:ext uri="{BB962C8B-B14F-4D97-AF65-F5344CB8AC3E}">
        <p14:creationId xmlns:p14="http://schemas.microsoft.com/office/powerpoint/2010/main" val="1932302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9DD02-185E-4096-B8B8-C3A8DDB2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partially completed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1A0C2-60E2-4D20-AB2B-EF49C95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1752-0EBF-4A3F-9530-3BFEA7B7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Order QR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54D58-9CFC-4972-9096-25E09C6B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Retrieval and rendering exist. Persistent offline caching remains pending.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B7A97-37F2-43C3-BAA3-9B282B2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Quick reorder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9EBEC-0A45-4926-9D7A-4801E53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051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Shortcut exists. Current-menu matching needs correction and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99DFA-686A-4EF5-B216-A6E18156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Budget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C075D-C1BC-4B2D-A048-E019D85F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Spending feedback exists. Checkout does not enforce a spending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1E64-286B-4016-BE9F-D76B23D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Campus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BD015-6FB1-483A-BAA4-3E1E864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672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The client integrates Proodle. Support for other systems remains future scope.</a:t>
            </a:r>
          </a:p>
        </p:txBody>
      </p:sp>
    </p:spTree>
    <p:extLst>
      <p:ext uri="{BB962C8B-B14F-4D97-AF65-F5344CB8AC3E}">
        <p14:creationId xmlns:p14="http://schemas.microsoft.com/office/powerpoint/2010/main" val="3688005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1BB32-A261-451D-9300-E45045AC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recorded unit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BA90CC-8A24-4ED8-89EE-9E8FC13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0B105-723A-413A-A20B-FE586233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7528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5647B-E0AF-49BD-8B53-AE0688B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52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tests passed in the</a:t>
            </a:r>
          </a:p>
          <a:p xmlns:a="http://schemas.openxmlformats.org/drawingml/2006/main">
            <a:pPr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recorded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9D8FF-6A58-4875-8C2D-71F4DBE5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0 failures or errors</a:t>
            </a:r>
          </a:p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8 October 2026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A2D96-C277-456C-8171-7380EC8CD9A2}"/>
              </a:ext>
            </a:extLst>
          </p:cNvPr>
          <p:cNvGraphicFramePr/>
          <p:nvPr/>
        </p:nvGraphicFramePr>
        <p:xfrm>
          <a:off xmlns:a="http://schemas.openxmlformats.org/drawingml/2006/main" x="4810125" y="1857375"/>
          <a:ext xmlns:a="http://schemas.openxmlformats.org/drawingml/2006/main" cx="6696075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62550"/>
                <a:gridCol w="1533525"/>
              </a:tblGrid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suite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 marL="91440" marR="91440" marT="45720" marB="45720">
                    <a:solidFill>
                      <a:srgbClr val="6740B3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Student ViewModel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Budget 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Cart and meal helpers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Theme preferences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Menu item model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0EBFA"/>
                    </a:solidFill>
                  </a:tcPr>
                </a:tc>
              </a:tr>
              <a:tr h="5470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Template arithmetic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12121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DE933-36A7-41E4-950D-E3931BE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Local logic has test evidence. System testing and UAT remain the next milestones.</a:t>
            </a:r>
          </a:p>
        </p:txBody>
      </p:sp>
    </p:spTree>
    <p:extLst>
      <p:ext uri="{BB962C8B-B14F-4D97-AF65-F5344CB8AC3E}">
        <p14:creationId xmlns:p14="http://schemas.microsoft.com/office/powerpoint/2010/main" val="489012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C16A7-A8C2-4E64-A395-C74F6AF3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Results: remaining work and hostel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053CF-C621-4068-AB9C-1189D6C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D6F66-5B96-4ACB-86AC-05CCDB03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Complete commitments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C7AD2-C2B7-4FDF-A2F1-FDF45A52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2405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Add offline QR caching, safe reordering and remaining history/receipt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E5EA8-CBAB-4AB9-8209-CD23104D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Validate transactions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21B5-6680-4563-A030-E4C3843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0512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Test session recovery, meal/outlet mapping and payment/collection exceptions.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0D4C1-18BB-4FCD-A3AA-F1937861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Evaluate with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F5F0-3A18-4984-91E1-68EF867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Run Foodpark UAT and a supervised hostel pilot with agreed metrics.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92347-53C3-40C6-9FF7-9F8A444D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Prepare wider 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2C71B-5383-4895-B648-4E53647F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67275"/>
            <a:ext cx="7429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Approve a signed release, support ownership and vendor capacity before expansion.</a:t>
            </a:r>
          </a:p>
        </p:txBody>
      </p:sp>
    </p:spTree>
    <p:extLst>
      <p:ext uri="{BB962C8B-B14F-4D97-AF65-F5344CB8AC3E}">
        <p14:creationId xmlns:p14="http://schemas.microsoft.com/office/powerpoint/2010/main" val="1230382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4C780-4BF4-4DD3-9A8E-B6092FC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D78F3-81BD-4BA5-885B-E0D074EF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674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E83F4-A9C1-4D4F-A213-3908F9DF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Project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7090C-7FBB-4900-95B3-EB1E8AA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VITeats Software Engineering Project: Review-1 Report</a:t>
            </a:r>
          </a:p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Hrishikesh D. Nayak and Hardik Lalla. Project-Review1-1.pdf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3B6D0-DC76-4DC0-A093-9D59A3E2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6740B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740B3"/>
                </a:solidFill>
                <a:latin typeface="Arial"/>
                <a:ea typeface="Arial"/>
                <a:cs typeface="Arial"/>
              </a:rPr>
              <a:t>Academic extension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17308-68A0-48C8-B429-FED1EDA8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[1] Noordin and Mohd Zain (2023). Campus cafeteria ordering app</a:t>
            </a:r>
          </a:p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REMACS 5.0, pp. 225-226. ir.uitm.edu.my/id/eprint/100569/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606EC-415E-4245-9890-0A65B44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[2] Kambli, Sinha and Srinivas (2020). Campus dining capacity and queues</a:t>
            </a:r>
          </a:p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Journal of Hospitality and Tourism Management. DOI: 10.1016/j.jhtm.2020.02.008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87D94-9094-4A7D-876B-37A5052D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[3] Yu et al. (2023). FoodWise. COMPASS 2023</a:t>
            </a:r>
          </a:p>
          <a:p xmlns:a="http://schemas.openxmlformats.org/drawingml/2006/main">
            <a:pPr>
              <a:defRPr sz="1725" b="0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212"/>
                </a:solidFill>
                <a:latin typeface="Arial"/>
                <a:ea typeface="Arial"/>
                <a:cs typeface="Arial"/>
              </a:rPr>
              <a:t>DOI: 10.1145/3588001.3609364. arxiv.org/abs/2307.12882</a:t>
            </a:r>
          </a:p>
        </p:txBody>
      </p:sp>
    </p:spTree>
    <p:extLst>
      <p:ext uri="{BB962C8B-B14F-4D97-AF65-F5344CB8AC3E}">
        <p14:creationId xmlns:p14="http://schemas.microsoft.com/office/powerpoint/2010/main" val="706906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2026-10-08T15:36:33.2710000Z</dcterms:created>
  <dcterms:modified xsi:type="dcterms:W3CDTF">2026-10-08T15:36:33.2710000Z</dcterms:modified>
</coreProperties>
</file>